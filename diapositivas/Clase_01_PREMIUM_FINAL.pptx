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Trading es comprar y vender activos financieros con el objetivo de obtener ganancias a partir de los movimientos de precio.</a:t>
            </a:r>
          </a:p>
          <a:p/>
          <a:p>
            <a:r>
              <a:t>Aclaraciones importantes:</a:t>
            </a:r>
          </a:p>
          <a:p>
            <a:r>
              <a:t>- No se trata de adivinar, sino de analizar probabilidades.</a:t>
            </a:r>
          </a:p>
          <a:p>
            <a:r>
              <a:t>- No es hacerse rico rápido; es un negocio con riesgo real.</a:t>
            </a:r>
          </a:p>
          <a:p>
            <a:r>
              <a:t>- El apalancamiento amplifica tanto ganancias como pérdidas.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Abre un gráfico (Vol 75 o EURUSD). 'Cada vela representa cómo se mueve el precio. Si compro abajo y sube, gano. Si compro y baja, pierdo.'</a:t>
            </a:r>
          </a:p>
          <a:p>
            <a:r>
              <a:t>'El trading se trata de saber hacia dónde va el mercado, pero también de saber qué hacer si va o no va donde esperas.'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 activos virtuales que imitan la volatilidad del mercado real sin depender de una economía real.</a:t>
            </a:r>
          </a:p>
          <a:p>
            <a:r>
              <a:t>CLAVE: Lo constante es la volatilidad, NO la dirección. El precio sigue siendo aleatorio.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Boom = spike hacia arriba. Crash = spike hacia abajo.</a:t>
            </a:r>
          </a:p>
          <a:p>
            <a:r>
              <a:t>Volatility Index: cuanto más alto el número, más violento.</a:t>
            </a:r>
          </a:p>
          <a:p>
            <a:r>
              <a:t>Step: suave. Jump: por saltos bruscos.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lugar de bancos o gobiernos, se mueven siguiendo un modelo matemático constante. Eso NO es manipulación; es estabilidad de volatilidad.</a:t>
            </a:r>
          </a:p>
          <a:p>
            <a:r>
              <a:t>'El mercado sintético es tan real como cualquier mercado digital. La diferencia es que sigue un modelo matemático estable.'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Forex = Foreign Exchange. Mercado donde se intercambian monedas.</a:t>
            </a:r>
          </a:p>
          <a:p>
            <a:r>
              <a:t>Ejemplo: EUR/USD → si sube, el euro se fortalece.</a:t>
            </a:r>
          </a:p>
          <a:p>
            <a:r>
              <a:t>'En Forex estás comprando una moneda y vendiendo otra al mismo tiempo. Siempre operas pares.'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Participan bancos, gobiernos, empresas y fondos. Ellos mueven el precio.</a:t>
            </a:r>
          </a:p>
          <a:p>
            <a:r>
              <a:t>'Los traders profesionales no adivinan; leen cómo el precio se mueve según lo que hacen esas instituciones.'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Diferencias clave: Sintéticos = algoritmo, 24/7, sin noticias. Forex = real, L-V, influido por economía e instituciones.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Nosotros no nos conectamos directamente. El bróker es el intermediario.</a:t>
            </a:r>
          </a:p>
          <a:p>
            <a:r>
              <a:t>Gana por spread y comisiones, no por tu pérdida.</a:t>
            </a:r>
          </a:p>
          <a:p>
            <a:r>
              <a:t>'El broker no pierde porque tú ganes. Ganan por volumen.'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MT5 es el 'campo de trabajo' del trader. Aquí analizamos, planificamos y ejecutamos.</a:t>
            </a:r>
          </a:p>
          <a:p>
            <a:r>
              <a:t>Puedes ver gráficos, indicadores, colocar órdenes, gestionar posiciones y revisar historial.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MT5: ejecución + análisis (la principal).</a:t>
            </a:r>
          </a:p>
          <a:p>
            <a:r>
              <a:t>TradingView: análisis gráfico especialmente para Forex.</a:t>
            </a:r>
          </a:p>
          <a:p>
            <a:r>
              <a:t>Deriv: bróker para índices sintéticos.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mayoría pierde por emociones: miedo, ansiedad, euforia o ganas de recuperar rápido.</a:t>
            </a:r>
          </a:p>
          <a:p>
            <a:r>
              <a:t>Cuando te dejas llevar: entras sin señal, aumentas lotaje, mueves el SL, cierras antes o no paras.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Miedo: cerrar muy pronto o no entrar.</a:t>
            </a:r>
          </a:p>
          <a:p>
            <a:r>
              <a:t>Codicia: creer que no puedes perder → rompes reglas.</a:t>
            </a:r>
          </a:p>
          <a:p>
            <a:r>
              <a:t>FOMO: entrar tarde y sin señal.</a:t>
            </a:r>
          </a:p>
          <a:p>
            <a:r>
              <a:t>Revenge trading: entrar para 'recuperar' → pierdes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revenge trading es el error #1. Después de perder, quieres entrar de inmediato para recuperarte, y casi siempre pierdes más.</a:t>
            </a:r>
          </a:p>
          <a:p>
            <a:r>
              <a:t>'El trader profesional es el que sigue su plan sin que las emociones lo desvíen.'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Resumen: 'Hoy entendimos qué es el trading, los dos mercados principales, cómo gana un trader, qué es el riesgo y qué herramientas usaremos.'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Tarea:</a:t>
            </a:r>
          </a:p>
          <a:p>
            <a:r>
              <a:t>1. Repasar lo visto hoy.</a:t>
            </a:r>
          </a:p>
          <a:p>
            <a:r>
              <a:t>2. Abrir MT5/Deriv y explorar la interfaz (sin operar).</a:t>
            </a:r>
          </a:p>
          <a:p>
            <a:r>
              <a:t>3. Escuchar audiolibro asignado.</a:t>
            </a:r>
          </a:p>
          <a:p/>
          <a:p>
            <a:r>
              <a:t>Mañana veremos teoría más avanzada.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" y="0"/>
            <a:ext cx="12188952" cy="457200"/>
          </a:xfrm>
          <a:prstGeom prst="rect">
            <a:avLst/>
          </a:prstGeom>
          <a:solidFill>
            <a:srgbClr val="06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2745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B932"/>
                </a:solidFill>
                <a:latin typeface="Calibri"/>
              </a:rPr>
              <a:t>MÓDULO 1  ·  FUNDAMENTOS DEL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6858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Introducción</a:t>
            </a:r>
          </a:p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al Trading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108960"/>
            <a:ext cx="4114800" cy="3657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CCD6E8"/>
                </a:solidFill>
                <a:latin typeface="Calibri"/>
              </a:rPr>
              <a:t>Clase 01  ·  Índices Sintéticos &amp; Forex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45A75"/>
                </a:solidFill>
                <a:latin typeface="Calibri"/>
              </a:rPr>
              <a:t>Qué es el trading · Los dos mercados · Cómo se gana</a:t>
            </a:r>
          </a:p>
          <a:p>
            <a:pPr algn="l"/>
            <a:r>
              <a:rPr sz="1300" b="0" i="0">
                <a:solidFill>
                  <a:srgbClr val="445A75"/>
                </a:solidFill>
                <a:latin typeface="Calibri"/>
              </a:rPr>
              <a:t>Bróker · Plataformas · Mentalidad del trader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914400"/>
            <a:ext cx="4206240" cy="438912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914400"/>
            <a:ext cx="4206240" cy="4389120"/>
          </a:xfrm>
          <a:prstGeom prst="rect">
            <a:avLst/>
          </a:prstGeom>
          <a:noFill/>
          <a:ln w="12700">
            <a:solidFill>
              <a:srgbClr val="1E3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772400" y="1792224"/>
            <a:ext cx="3840480" cy="0"/>
          </a:xfrm>
          <a:prstGeom prst="line">
            <a:avLst/>
          </a:prstGeom>
          <a:ln w="6350">
            <a:solidFill>
              <a:srgbClr val="1A2C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2670048"/>
            <a:ext cx="3840480" cy="0"/>
          </a:xfrm>
          <a:prstGeom prst="line">
            <a:avLst/>
          </a:prstGeom>
          <a:ln w="6350">
            <a:solidFill>
              <a:srgbClr val="1A2C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547872"/>
            <a:ext cx="3840480" cy="0"/>
          </a:xfrm>
          <a:prstGeom prst="line">
            <a:avLst/>
          </a:prstGeom>
          <a:ln w="6350">
            <a:solidFill>
              <a:srgbClr val="1A2C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72400" y="4425696"/>
            <a:ext cx="3840480" cy="0"/>
          </a:xfrm>
          <a:prstGeom prst="line">
            <a:avLst/>
          </a:prstGeom>
          <a:ln w="6350">
            <a:solidFill>
              <a:srgbClr val="1A2C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000999" y="2962656"/>
            <a:ext cx="0" cy="5486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955279" y="3017520"/>
            <a:ext cx="91440" cy="13716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000999" y="3154680"/>
            <a:ext cx="0" cy="45720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75320" y="3419856"/>
            <a:ext cx="0" cy="54864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8229600" y="3474720"/>
            <a:ext cx="91440" cy="13716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75320" y="3611880"/>
            <a:ext cx="0" cy="45720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549640" y="2596896"/>
            <a:ext cx="0" cy="5486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503920" y="2651760"/>
            <a:ext cx="91440" cy="13716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549640" y="2788920"/>
            <a:ext cx="0" cy="45720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823960" y="3145536"/>
            <a:ext cx="0" cy="54864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8778240" y="3200400"/>
            <a:ext cx="91440" cy="13716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823960" y="3337560"/>
            <a:ext cx="0" cy="45720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98280" y="2414016"/>
            <a:ext cx="0" cy="5486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9052560" y="2468880"/>
            <a:ext cx="91440" cy="13716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9098280" y="2606040"/>
            <a:ext cx="0" cy="45720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372600" y="2139696"/>
            <a:ext cx="0" cy="5486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326880" y="2194560"/>
            <a:ext cx="91440" cy="13716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9372600" y="2331720"/>
            <a:ext cx="0" cy="45720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646920" y="2779776"/>
            <a:ext cx="0" cy="54864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601200" y="2834640"/>
            <a:ext cx="91440" cy="13716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9646920" y="2971800"/>
            <a:ext cx="0" cy="45720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921240" y="1956816"/>
            <a:ext cx="0" cy="5486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875520" y="2011680"/>
            <a:ext cx="91440" cy="13716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9921240" y="2148840"/>
            <a:ext cx="0" cy="45720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195560" y="2231136"/>
            <a:ext cx="0" cy="5486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10149840" y="2286000"/>
            <a:ext cx="91440" cy="13716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10195560" y="2423160"/>
            <a:ext cx="0" cy="45720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469880" y="2596896"/>
            <a:ext cx="0" cy="54864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0424160" y="2651760"/>
            <a:ext cx="91440" cy="13716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0469880" y="2788920"/>
            <a:ext cx="0" cy="45720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744200" y="1865376"/>
            <a:ext cx="0" cy="5486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10698480" y="1920240"/>
            <a:ext cx="91440" cy="13716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744200" y="2057400"/>
            <a:ext cx="0" cy="45720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955279" y="2103120"/>
            <a:ext cx="2926081" cy="1371600"/>
          </a:xfrm>
          <a:prstGeom prst="line">
            <a:avLst/>
          </a:prstGeom>
          <a:ln w="19050">
            <a:solidFill>
              <a:srgbClr val="F0B9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863840" y="411480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6A69A"/>
                </a:solidFill>
                <a:latin typeface="Calibri"/>
              </a:rPr>
              <a:t>SOPORTE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0" y="4297680"/>
            <a:ext cx="3840480" cy="27432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04164" y="5687569"/>
            <a:ext cx="0" cy="64007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365760" y="5751576"/>
            <a:ext cx="76809" cy="192024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404164" y="5943600"/>
            <a:ext cx="0" cy="51206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19378" y="5777181"/>
            <a:ext cx="0" cy="38404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480974" y="5815585"/>
            <a:ext cx="76809" cy="128015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19378" y="5943600"/>
            <a:ext cx="0" cy="76809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34592" y="5642764"/>
            <a:ext cx="0" cy="76809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596188" y="5719573"/>
            <a:ext cx="76809" cy="224027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634592" y="5943600"/>
            <a:ext cx="0" cy="44805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49807" y="5815585"/>
            <a:ext cx="0" cy="32003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711403" y="5847588"/>
            <a:ext cx="76809" cy="96012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749807" y="5943600"/>
            <a:ext cx="0" cy="64007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865021" y="5597958"/>
            <a:ext cx="0" cy="89611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826617" y="5687569"/>
            <a:ext cx="76809" cy="256031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>
            <a:off x="865021" y="5943600"/>
            <a:ext cx="0" cy="3840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80236" y="5732374"/>
            <a:ext cx="0" cy="51206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941832" y="5783580"/>
            <a:ext cx="76809" cy="16002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80236" y="5943600"/>
            <a:ext cx="0" cy="57607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95450" y="5783581"/>
            <a:ext cx="0" cy="44805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1057046" y="5828386"/>
            <a:ext cx="76809" cy="115214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095450" y="5943600"/>
            <a:ext cx="0" cy="83210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0" y="6812280"/>
            <a:ext cx="529954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6000" b="1" i="0">
                <a:solidFill>
                  <a:srgbClr val="0F1C2E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B932"/>
                </a:solidFill>
                <a:latin typeface="Calibri"/>
              </a:rPr>
              <a:t>SECCIÓN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743200" cy="3657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¿Qué es el Trading?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D6E8"/>
                </a:solidFill>
                <a:latin typeface="Calibri"/>
              </a:rPr>
              <a:t>Concepto, cómo se gana y mentalidad correcta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495" y="6199632"/>
            <a:ext cx="0" cy="50292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74320" y="6249924"/>
            <a:ext cx="60350" cy="15087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04495" y="6400800"/>
            <a:ext cx="0" cy="40233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95020" y="6270041"/>
            <a:ext cx="0" cy="30175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4845" y="6300216"/>
            <a:ext cx="60350" cy="100584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95020" y="6400800"/>
            <a:ext cx="0" cy="60350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" y="6164428"/>
            <a:ext cx="0" cy="60350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55371" y="6224778"/>
            <a:ext cx="60350" cy="176022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485546" y="6400800"/>
            <a:ext cx="0" cy="3520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6071" y="6300216"/>
            <a:ext cx="0" cy="25146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45896" y="6325362"/>
            <a:ext cx="60350" cy="7543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76071" y="6400800"/>
            <a:ext cx="0" cy="50292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6597" y="6129224"/>
            <a:ext cx="0" cy="70408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36422" y="6199632"/>
            <a:ext cx="60350" cy="201168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66597" y="6400800"/>
            <a:ext cx="0" cy="30175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7123" y="6234837"/>
            <a:ext cx="0" cy="40233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26948" y="6275070"/>
            <a:ext cx="60350" cy="12573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57123" y="6400800"/>
            <a:ext cx="0" cy="45262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47648" y="6275071"/>
            <a:ext cx="0" cy="35204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17473" y="6310275"/>
            <a:ext cx="60350" cy="90525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47648" y="6400800"/>
            <a:ext cx="0" cy="65379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812280"/>
            <a:ext cx="1059908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¿Qué es el Trading?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2286000" cy="32004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99032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Comprar y vender activos financieros para obtener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ganancias con los movimientos de precio.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32888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9816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809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No es adivinar → es analizar probabilidades.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66744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No es hacerse rico rápido → es un negocio con riesgo real.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33672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El apalancamiento amplifica ganancias… y pérdidas.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812280"/>
            <a:ext cx="1589863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03 / 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¿Cómo se Gana en Trading?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2286000" cy="32004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99032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Si COMPRAS y el precio SUBE → ganas.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Si VENDES y el precio BAJA → ganas.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32888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Simple en concepto, con mucha estrategia detrás.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9816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809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66744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"El trading se trata de saber qué hacer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33672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  si va o no va donde esperas."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812280"/>
            <a:ext cx="2119817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04 / 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6000" b="1" i="0">
                <a:solidFill>
                  <a:srgbClr val="0F1C2E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B932"/>
                </a:solidFill>
                <a:latin typeface="Calibri"/>
              </a:rPr>
              <a:t>SECCIÓN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743200" cy="3657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Los Dos Mercados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D6E8"/>
                </a:solidFill>
                <a:latin typeface="Calibri"/>
              </a:rPr>
              <a:t>Índices Sintéticos y Forex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495" y="6199632"/>
            <a:ext cx="0" cy="50292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74320" y="6249924"/>
            <a:ext cx="60350" cy="15087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04495" y="6400800"/>
            <a:ext cx="0" cy="40233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95020" y="6270041"/>
            <a:ext cx="0" cy="30175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4845" y="6300216"/>
            <a:ext cx="60350" cy="100584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95020" y="6400800"/>
            <a:ext cx="0" cy="60350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" y="6164428"/>
            <a:ext cx="0" cy="60350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55371" y="6224778"/>
            <a:ext cx="60350" cy="176022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485546" y="6400800"/>
            <a:ext cx="0" cy="3520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6071" y="6300216"/>
            <a:ext cx="0" cy="25146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45896" y="6325362"/>
            <a:ext cx="60350" cy="7543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76071" y="6400800"/>
            <a:ext cx="0" cy="50292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6597" y="6129224"/>
            <a:ext cx="0" cy="70408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36422" y="6199632"/>
            <a:ext cx="60350" cy="201168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66597" y="6400800"/>
            <a:ext cx="0" cy="30175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7123" y="6234837"/>
            <a:ext cx="0" cy="40233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26948" y="6275070"/>
            <a:ext cx="60350" cy="12573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57123" y="6400800"/>
            <a:ext cx="0" cy="45262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47648" y="6275071"/>
            <a:ext cx="0" cy="35204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17473" y="6310275"/>
            <a:ext cx="60350" cy="90525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47648" y="6400800"/>
            <a:ext cx="0" cy="65379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812280"/>
            <a:ext cx="2649772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Índices Sintéticos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2286000" cy="32004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99032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Mercados virtuales que imitan el movimiento real.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NO dependen de noticias, gobiernos ni bancos centrales.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32888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Se mueven 24/7 por un algoritmo matemático.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9816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809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La volatilidad es constante; la dirección NO es predecible.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66744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Perfectos para análisis técnico puro.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812280"/>
            <a:ext cx="3179726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06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Tipos de Índices Sintéticos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828800" cy="27432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3474720" cy="4572000"/>
          </a:xfrm>
          <a:prstGeom prst="rect">
            <a:avLst/>
          </a:prstGeom>
          <a:solidFill>
            <a:srgbClr val="05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3474720" cy="4572000"/>
          </a:xfrm>
          <a:prstGeom prst="rect">
            <a:avLst/>
          </a:prstGeom>
          <a:solidFill>
            <a:srgbClr val="111C2E"/>
          </a:solidFill>
          <a:ln w="15240">
            <a:solidFill>
              <a:srgbClr val="26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3474720" cy="4572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6A69A"/>
                </a:solidFill>
                <a:latin typeface="Calibri"/>
              </a:rPr>
              <a:t>BOOM &amp; CRASH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31089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BOOM: baja despacio y explota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HACIA ARRIBA (spike alcista).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CRASH: sube despacio y se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desploma HACIA ABAJO (spike bajista).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Ideales para contratendencia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y scalping controlado.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097280"/>
            <a:ext cx="3474720" cy="4572000"/>
          </a:xfrm>
          <a:prstGeom prst="rect">
            <a:avLst/>
          </a:prstGeom>
          <a:solidFill>
            <a:srgbClr val="05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9080" y="1051560"/>
            <a:ext cx="3474720" cy="4572000"/>
          </a:xfrm>
          <a:prstGeom prst="rect">
            <a:avLst/>
          </a:prstGeom>
          <a:solidFill>
            <a:srgbClr val="111C2E"/>
          </a:solidFill>
          <a:ln w="1524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9080" y="1051560"/>
            <a:ext cx="3474720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234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B932"/>
                </a:solidFill>
                <a:latin typeface="Calibri"/>
              </a:rPr>
              <a:t>VOLATILITY 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645920"/>
            <a:ext cx="31089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Simulan niveles de volatilidad: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V10, V25, V50, V75, V100.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Más alto el número = más rápido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y violento el movimiento.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V75 y V100: traders expertos.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V10, V25: principiantes.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1097280"/>
            <a:ext cx="3474720" cy="4572000"/>
          </a:xfrm>
          <a:prstGeom prst="rect">
            <a:avLst/>
          </a:prstGeom>
          <a:solidFill>
            <a:srgbClr val="05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1051560"/>
            <a:ext cx="3474720" cy="4572000"/>
          </a:xfrm>
          <a:prstGeom prst="rect">
            <a:avLst/>
          </a:prstGeom>
          <a:solidFill>
            <a:srgbClr val="111C2E"/>
          </a:solidFill>
          <a:ln w="1524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1051560"/>
            <a:ext cx="3474720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0" y="1234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4DFF"/>
                </a:solidFill>
                <a:latin typeface="Calibri"/>
              </a:rPr>
              <a:t>STEP &amp; JUMP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1645920"/>
            <a:ext cx="31089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STEP: movimiento suave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y parejo. Ideal para practicar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estructura y gestión.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JUMP: movimientos por saltos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bruscos. Alta volatilidad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por impulsos.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812280"/>
            <a:ext cx="3709681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07 / 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¿Qué Mueve los Índices Sintéticos?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2286000" cy="32004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99032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Un algoritmo matemático transparente y verificable.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NO están manipulados por noticias ni por personas.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32888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Mantienen un nivel de volatilidad constante.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9816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809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Beneficio: no hay movimientos inesperados por noticias.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66744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Comportamiento técnico limpio para el trader.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812280"/>
            <a:ext cx="4239635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08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Mercado Forex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2286000" cy="32004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99032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Mercado global de intercambio de divisas.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Se compra una moneda y se vende otra simultáneamente.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32888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Más de 6 billones de USD diarios de volumen.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9816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809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Opera 24h de lunes a viernes (Asia, Londres, NY).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66744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Ejemplo: EUR/USD → compras euros, vendes dólares.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812280"/>
            <a:ext cx="4769589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09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¿Qué Mueve al Forex?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2286000" cy="32004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99032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Bancos centrales y política monetaria.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Fondos de inversión y bancos comerciales.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32888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Noticias económicas (NFP, CPI, FOMC).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9816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809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Sentimiento del mercado (miedo → refugio, confianza → riesgo).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66744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Nosotros seguimos la huella de las instituciones.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812280"/>
            <a:ext cx="5299544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10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Sintéticos vs Forex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828800" cy="27432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5394960" cy="5029200"/>
          </a:xfrm>
          <a:prstGeom prst="rect">
            <a:avLst/>
          </a:prstGeom>
          <a:solidFill>
            <a:srgbClr val="05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5394960" cy="5029200"/>
          </a:xfrm>
          <a:prstGeom prst="rect">
            <a:avLst/>
          </a:prstGeom>
          <a:solidFill>
            <a:srgbClr val="111C2E"/>
          </a:solidFill>
          <a:ln w="15240">
            <a:solidFill>
              <a:srgbClr val="26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5394960" cy="4572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6A69A"/>
                </a:solidFill>
                <a:latin typeface="Calibri"/>
              </a:rPr>
              <a:t>ÍNDICES SINTÉTICOS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Calibri"/>
              </a:rPr>
              <a:t>•  Mercado algorítmico (24/7)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Calibri"/>
              </a:rPr>
              <a:t>•  NO depende de noticias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Calibri"/>
              </a:rPr>
              <a:t>•  Volatilidad constante por diseño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Calibri"/>
              </a:rPr>
              <a:t>•  Análisis técnico puro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Calibri"/>
              </a:rPr>
              <a:t>•  Ideal para practicar estructura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Calibri"/>
              </a:rPr>
              <a:t>•  Bróker: Deriv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1097280"/>
            <a:ext cx="5394960" cy="5029200"/>
          </a:xfrm>
          <a:prstGeom prst="rect">
            <a:avLst/>
          </a:prstGeom>
          <a:solidFill>
            <a:srgbClr val="05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35040" y="1051560"/>
            <a:ext cx="5394960" cy="5029200"/>
          </a:xfrm>
          <a:prstGeom prst="rect">
            <a:avLst/>
          </a:prstGeom>
          <a:solidFill>
            <a:srgbClr val="111C2E"/>
          </a:solidFill>
          <a:ln w="1524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051560"/>
            <a:ext cx="5394960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2344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0B932"/>
                </a:solidFill>
                <a:latin typeface="Calibri"/>
              </a:rPr>
              <a:t>FOREX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6916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Calibri"/>
              </a:rPr>
              <a:t>•  Mercado real de divisas (L-V)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1945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Calibri"/>
              </a:rPr>
              <a:t>•  Se mueve por noticias y bancos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697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Calibri"/>
              </a:rPr>
              <a:t>•  Volatilidad variable por sesión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2004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Calibri"/>
              </a:rPr>
              <a:t>•  Análisis técnico + fundamental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033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Calibri"/>
              </a:rPr>
              <a:t>•  Movimientos institucionales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2062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D6E8"/>
                </a:solidFill>
                <a:latin typeface="Calibri"/>
              </a:rPr>
              <a:t>•  Brókers: Exness, IC Markets, etc.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812280"/>
            <a:ext cx="5829498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11 / 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6000" b="1" i="0">
                <a:solidFill>
                  <a:srgbClr val="0F1C2E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B932"/>
                </a:solidFill>
                <a:latin typeface="Calibri"/>
              </a:rPr>
              <a:t>SECCIÓN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743200" cy="3657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Herramientas del Trader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D6E8"/>
                </a:solidFill>
                <a:latin typeface="Calibri"/>
              </a:rPr>
              <a:t>Bróker, plataformas y ejecución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495" y="6199632"/>
            <a:ext cx="0" cy="50292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74320" y="6249924"/>
            <a:ext cx="60350" cy="15087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04495" y="6400800"/>
            <a:ext cx="0" cy="40233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95020" y="6270041"/>
            <a:ext cx="0" cy="30175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4845" y="6300216"/>
            <a:ext cx="60350" cy="100584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95020" y="6400800"/>
            <a:ext cx="0" cy="60350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" y="6164428"/>
            <a:ext cx="0" cy="60350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55371" y="6224778"/>
            <a:ext cx="60350" cy="176022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485546" y="6400800"/>
            <a:ext cx="0" cy="3520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6071" y="6300216"/>
            <a:ext cx="0" cy="25146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45896" y="6325362"/>
            <a:ext cx="60350" cy="7543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76071" y="6400800"/>
            <a:ext cx="0" cy="50292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6597" y="6129224"/>
            <a:ext cx="0" cy="70408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36422" y="6199632"/>
            <a:ext cx="60350" cy="201168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66597" y="6400800"/>
            <a:ext cx="0" cy="30175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7123" y="6234837"/>
            <a:ext cx="0" cy="40233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26948" y="6275070"/>
            <a:ext cx="60350" cy="12573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57123" y="6400800"/>
            <a:ext cx="0" cy="45262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47648" y="6275071"/>
            <a:ext cx="0" cy="35204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17473" y="6310275"/>
            <a:ext cx="60350" cy="90525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47648" y="6400800"/>
            <a:ext cx="0" cy="65379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812280"/>
            <a:ext cx="6359453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¿Qué es un Bróker?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2286000" cy="32004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99032"/>
            <a:ext cx="82296" cy="8229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Intermediario que nos conecta al mercado.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82296" cy="8229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Nos permite abrir cuenta, depositar, operar y retirar.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32888"/>
            <a:ext cx="82296" cy="8229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El bróker gana por spread y comisiones, no por tu pérdida.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9816"/>
            <a:ext cx="82296" cy="8229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809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Sintéticos → Deriv  |  Forex → Exness, IC Markets, etc.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66744"/>
            <a:ext cx="82296" cy="8229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"El bróker es la puerta que nos conecta al mercado."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812280"/>
            <a:ext cx="6889407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13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MetaTrader 5 (MT5)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2286000" cy="32004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99032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Plataforma profesional de análisis y ejecución.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Ves gráficos, indicadores, historial y estadísticas.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32888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Colocas Buy, Sell, Stop Loss y Take Profit.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9816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809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No es un bróker: es tu campo de trabajo.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66744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"MT5 será nuestra casa durante todo el proceso."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812280"/>
            <a:ext cx="7419362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14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Plataformas que Usaremos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828800" cy="27432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3474720" cy="4572000"/>
          </a:xfrm>
          <a:prstGeom prst="rect">
            <a:avLst/>
          </a:prstGeom>
          <a:solidFill>
            <a:srgbClr val="05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3474720" cy="4572000"/>
          </a:xfrm>
          <a:prstGeom prst="rect">
            <a:avLst/>
          </a:prstGeom>
          <a:solidFill>
            <a:srgbClr val="111C2E"/>
          </a:solidFill>
          <a:ln w="15240">
            <a:solidFill>
              <a:srgbClr val="26A6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3474720" cy="4572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6A69A"/>
                </a:solidFill>
                <a:latin typeface="Calibri"/>
              </a:rPr>
              <a:t>METATRADER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31089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Ejecución de operaciones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Análisis técnico avanzado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Historial y estadísticas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Sintéticos + Forex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Nuestra plataforma principal.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097280"/>
            <a:ext cx="3474720" cy="4572000"/>
          </a:xfrm>
          <a:prstGeom prst="rect">
            <a:avLst/>
          </a:prstGeom>
          <a:solidFill>
            <a:srgbClr val="05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9080" y="1051560"/>
            <a:ext cx="3474720" cy="4572000"/>
          </a:xfrm>
          <a:prstGeom prst="rect">
            <a:avLst/>
          </a:prstGeom>
          <a:solidFill>
            <a:srgbClr val="111C2E"/>
          </a:solidFill>
          <a:ln w="1524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9080" y="1051560"/>
            <a:ext cx="3474720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234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B932"/>
                </a:solidFill>
                <a:latin typeface="Calibri"/>
              </a:rPr>
              <a:t>TRADINGVIEW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645920"/>
            <a:ext cx="31089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Análisis gráfico (Forex)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Herramientas de dibujo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Multi-timeframe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Backtesting con Replay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Ideal para marcar zonas.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1097280"/>
            <a:ext cx="3474720" cy="4572000"/>
          </a:xfrm>
          <a:prstGeom prst="rect">
            <a:avLst/>
          </a:prstGeom>
          <a:solidFill>
            <a:srgbClr val="05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1051560"/>
            <a:ext cx="3474720" cy="4572000"/>
          </a:xfrm>
          <a:prstGeom prst="rect">
            <a:avLst/>
          </a:prstGeom>
          <a:solidFill>
            <a:srgbClr val="111C2E"/>
          </a:solidFill>
          <a:ln w="1524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1051560"/>
            <a:ext cx="3474720" cy="45720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0" y="1234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4DFF"/>
                </a:solidFill>
                <a:latin typeface="Calibri"/>
              </a:rPr>
              <a:t>DERIV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1645920"/>
            <a:ext cx="31089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Bróker para sintéticos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Cuenta demo y real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Acceso 24/7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Interfaz web y app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Donde abrimos la cuenta.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812280"/>
            <a:ext cx="7949316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15 / 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6000" b="1" i="0">
                <a:solidFill>
                  <a:srgbClr val="0F1C2E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B932"/>
                </a:solidFill>
                <a:latin typeface="Calibri"/>
              </a:rPr>
              <a:t>SECCIÓN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743200" cy="3657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Mentalidad del Trader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D6E8"/>
                </a:solidFill>
                <a:latin typeface="Calibri"/>
              </a:rPr>
              <a:t>Emociones, disciplina y expectativas reales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495" y="6199632"/>
            <a:ext cx="0" cy="50292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74320" y="6249924"/>
            <a:ext cx="60350" cy="15087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04495" y="6400800"/>
            <a:ext cx="0" cy="40233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95020" y="6270041"/>
            <a:ext cx="0" cy="30175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4845" y="6300216"/>
            <a:ext cx="60350" cy="100584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95020" y="6400800"/>
            <a:ext cx="0" cy="60350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" y="6164428"/>
            <a:ext cx="0" cy="60350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55371" y="6224778"/>
            <a:ext cx="60350" cy="176022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485546" y="6400800"/>
            <a:ext cx="0" cy="3520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6071" y="6300216"/>
            <a:ext cx="0" cy="25146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45896" y="6325362"/>
            <a:ext cx="60350" cy="7543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76071" y="6400800"/>
            <a:ext cx="0" cy="50292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6597" y="6129224"/>
            <a:ext cx="0" cy="70408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36422" y="6199632"/>
            <a:ext cx="60350" cy="201168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66597" y="6400800"/>
            <a:ext cx="0" cy="30175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7123" y="6234837"/>
            <a:ext cx="0" cy="40233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26948" y="6275070"/>
            <a:ext cx="60350" cy="12573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57123" y="6400800"/>
            <a:ext cx="0" cy="45262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47648" y="6275071"/>
            <a:ext cx="0" cy="35204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17473" y="6310275"/>
            <a:ext cx="60350" cy="90525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47648" y="6400800"/>
            <a:ext cx="0" cy="65379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812280"/>
            <a:ext cx="8479270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La Mente del Trader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2286000" cy="32004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99032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La mayoría pierde no por falta de técnica,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sino por emociones mal manejadas.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32888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9816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809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Las emociones te hacen cometer errores: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66744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entrar sin señal, aumentar lotaje, mover el SL,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33672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cerrar antes de tiempo o no parar de operar.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812280"/>
            <a:ext cx="9009225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17 / 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Las Emociones del Trader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828800" cy="27432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97280"/>
            <a:ext cx="3474720" cy="4572000"/>
          </a:xfrm>
          <a:prstGeom prst="rect">
            <a:avLst/>
          </a:prstGeom>
          <a:solidFill>
            <a:srgbClr val="05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3474720" cy="4572000"/>
          </a:xfrm>
          <a:prstGeom prst="rect">
            <a:avLst/>
          </a:prstGeom>
          <a:solidFill>
            <a:srgbClr val="111C2E"/>
          </a:solidFill>
          <a:ln w="15240">
            <a:solidFill>
              <a:srgbClr val="42A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3474720" cy="4572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2A5F5"/>
                </a:solidFill>
                <a:latin typeface="Calibri"/>
              </a:rPr>
              <a:t>MIEDO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31089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Te hace cerrar ganancias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muy pronto o evita que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entres en una operación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válida.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Solución: confía en tu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097280"/>
            <a:ext cx="3474720" cy="4572000"/>
          </a:xfrm>
          <a:prstGeom prst="rect">
            <a:avLst/>
          </a:prstGeom>
          <a:solidFill>
            <a:srgbClr val="05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9080" y="1051560"/>
            <a:ext cx="3474720" cy="4572000"/>
          </a:xfrm>
          <a:prstGeom prst="rect">
            <a:avLst/>
          </a:prstGeom>
          <a:solidFill>
            <a:srgbClr val="111C2E"/>
          </a:solidFill>
          <a:ln w="1524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69080" y="1051560"/>
            <a:ext cx="3474720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234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0B932"/>
                </a:solidFill>
                <a:latin typeface="Calibri"/>
              </a:rPr>
              <a:t>CODICIA / EUFORIA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645920"/>
            <a:ext cx="31089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Después de ganar, crees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que no puedes perder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y arriesgas más de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lo debido.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Solución: mismas reglas siempre.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1097280"/>
            <a:ext cx="3474720" cy="4572000"/>
          </a:xfrm>
          <a:prstGeom prst="rect">
            <a:avLst/>
          </a:prstGeom>
          <a:solidFill>
            <a:srgbClr val="05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1051560"/>
            <a:ext cx="3474720" cy="4572000"/>
          </a:xfrm>
          <a:prstGeom prst="rect">
            <a:avLst/>
          </a:prstGeom>
          <a:solidFill>
            <a:srgbClr val="111C2E"/>
          </a:solidFill>
          <a:ln w="15240"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1051560"/>
            <a:ext cx="3474720" cy="4572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0" y="12344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F5350"/>
                </a:solidFill>
                <a:latin typeface="Calibri"/>
              </a:rPr>
              <a:t>FOMO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1645920"/>
            <a:ext cx="31089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Miedo a quedarse afuera.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Entras tarde, sin análisis,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solo porque 'el mercado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se mueve'.</a:t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CCD6E8"/>
                </a:solidFill>
                <a:latin typeface="Calibri"/>
              </a:rPr>
              <a:t>Solución: habrá otra oportunidad.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812280"/>
            <a:ext cx="9539179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18 / 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Revenge Trading: El Peor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2286000" cy="32004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99032"/>
            <a:ext cx="82296" cy="8229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Después de perder → entras de inmediato para recuperar.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82296" cy="8229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Casi siempre terminas perdiendo AÚN MÁS.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32888"/>
            <a:ext cx="82296" cy="8229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9816"/>
            <a:ext cx="82296" cy="8229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809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El trader profesional NO es el que gana una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66744"/>
            <a:ext cx="82296" cy="8229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operación grande, es el que puede seguir su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33672"/>
            <a:ext cx="82296" cy="8229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sin que las emociones lo desvíen.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812280"/>
            <a:ext cx="10069134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19 / 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828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1" i="0">
                <a:solidFill>
                  <a:srgbClr val="15253C"/>
                </a:solidFill>
                <a:latin typeface="Calibri"/>
              </a:rPr>
              <a:t>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1">
                <a:solidFill>
                  <a:srgbClr val="FFFFFF"/>
                </a:solidFill>
                <a:latin typeface="Calibri"/>
              </a:rPr>
              <a:t>El trader profesional no es el que</a:t>
            </a:r>
          </a:p>
          <a:p>
            <a:pPr algn="ctr"/>
            <a:r>
              <a:rPr sz="3000" b="0" i="1">
                <a:solidFill>
                  <a:srgbClr val="FFFFFF"/>
                </a:solidFill>
                <a:latin typeface="Calibri"/>
              </a:rPr>
              <a:t>gana una operación grande.</a:t>
            </a:r>
          </a:p>
          <a:p>
            <a:pPr algn="ctr"/>
            <a:r>
              <a:rPr sz="3000" b="0" i="1">
                <a:solidFill>
                  <a:srgbClr val="FFFFFF"/>
                </a:solidFill>
                <a:latin typeface="Calibri"/>
              </a:rPr>
              <a:t/>
            </a:r>
          </a:p>
          <a:p>
            <a:pPr algn="ctr"/>
            <a:r>
              <a:rPr sz="3000" b="0" i="1">
                <a:solidFill>
                  <a:srgbClr val="FFFFFF"/>
                </a:solidFill>
                <a:latin typeface="Calibri"/>
              </a:rPr>
              <a:t>Es el que puede seguir su plan sin</a:t>
            </a:r>
          </a:p>
          <a:p>
            <a:pPr algn="ctr"/>
            <a:r>
              <a:rPr sz="3000" b="0" i="1">
                <a:solidFill>
                  <a:srgbClr val="FFFFFF"/>
                </a:solidFill>
                <a:latin typeface="Calibri"/>
              </a:rPr>
              <a:t>que las emociones lo desvíen.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47718" y="5541264"/>
            <a:ext cx="0" cy="5486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114800" y="5596128"/>
            <a:ext cx="65836" cy="164592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147718" y="5760720"/>
            <a:ext cx="0" cy="43891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46473" y="5618074"/>
            <a:ext cx="0" cy="32918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4213555" y="5650992"/>
            <a:ext cx="65836" cy="10972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4246473" y="5760720"/>
            <a:ext cx="0" cy="65836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345228" y="5502860"/>
            <a:ext cx="0" cy="65836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312310" y="5568696"/>
            <a:ext cx="65836" cy="192024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345228" y="5760720"/>
            <a:ext cx="0" cy="3840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443983" y="5650992"/>
            <a:ext cx="0" cy="27432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411065" y="5678424"/>
            <a:ext cx="65836" cy="8229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4443983" y="5760720"/>
            <a:ext cx="0" cy="54864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42738" y="5464455"/>
            <a:ext cx="0" cy="76809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509820" y="5541264"/>
            <a:ext cx="65836" cy="21945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4542738" y="5760720"/>
            <a:ext cx="0" cy="32918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641494" y="5579669"/>
            <a:ext cx="0" cy="43891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608576" y="5623560"/>
            <a:ext cx="65836" cy="13716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641494" y="5760720"/>
            <a:ext cx="0" cy="49377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740249" y="5623561"/>
            <a:ext cx="0" cy="38404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707331" y="5661965"/>
            <a:ext cx="65836" cy="98755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4740249" y="5760720"/>
            <a:ext cx="0" cy="71323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812280"/>
            <a:ext cx="10599088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6000" b="1" i="0">
                <a:solidFill>
                  <a:srgbClr val="0F1C2E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B932"/>
                </a:solidFill>
                <a:latin typeface="Calibri"/>
              </a:rPr>
              <a:t>SECCIÓN 05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743200" cy="3657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Resumen y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Próximos Pasos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CD6E8"/>
                </a:solidFill>
                <a:latin typeface="Calibri"/>
              </a:rPr>
              <a:t>Lo que aprendimos hoy + tarea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4495" y="6199632"/>
            <a:ext cx="0" cy="50292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74320" y="6249924"/>
            <a:ext cx="60350" cy="15087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04495" y="6400800"/>
            <a:ext cx="0" cy="40233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95020" y="6270041"/>
            <a:ext cx="0" cy="30175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64845" y="6300216"/>
            <a:ext cx="60350" cy="100584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95020" y="6400800"/>
            <a:ext cx="0" cy="60350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" y="6164428"/>
            <a:ext cx="0" cy="60350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55371" y="6224778"/>
            <a:ext cx="60350" cy="176022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485546" y="6400800"/>
            <a:ext cx="0" cy="35204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6071" y="6300216"/>
            <a:ext cx="0" cy="25146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45896" y="6325362"/>
            <a:ext cx="60350" cy="75438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76071" y="6400800"/>
            <a:ext cx="0" cy="50292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6597" y="6129224"/>
            <a:ext cx="0" cy="70408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36422" y="6199632"/>
            <a:ext cx="60350" cy="201168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66597" y="6400800"/>
            <a:ext cx="0" cy="30175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7123" y="6234837"/>
            <a:ext cx="0" cy="40233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26948" y="6275070"/>
            <a:ext cx="60350" cy="125730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57123" y="6400800"/>
            <a:ext cx="0" cy="45262"/>
          </a:xfrm>
          <a:prstGeom prst="line">
            <a:avLst/>
          </a:prstGeom>
          <a:ln w="19050">
            <a:solidFill>
              <a:srgbClr val="26A6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47648" y="6275071"/>
            <a:ext cx="0" cy="35204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17473" y="6310275"/>
            <a:ext cx="60350" cy="90525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47648" y="6400800"/>
            <a:ext cx="0" cy="65379"/>
          </a:xfrm>
          <a:prstGeom prst="line">
            <a:avLst/>
          </a:prstGeom>
          <a:ln w="19050">
            <a:solidFill>
              <a:srgbClr val="EF53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812280"/>
            <a:ext cx="11129043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Resumen de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2286000" cy="32004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99032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✓  Qué es el trading y cómo se gana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✓  Los dos mercados: Sintéticos y Forex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32888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✓  Qué mueve cada mercado (algoritmo vs. instituciones)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9816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809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✓  Qué es un bróker y las plataformas (MT5, TradingView, Deriv)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66744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✓  Las emociones que debes controlar desde el día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33672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00600"/>
            <a:ext cx="82296" cy="82296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8172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→  Mañana: teoría más avanzada para pasar al gráfico.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812280"/>
            <a:ext cx="11658997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22 / 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Tarea para Mañana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2286000" cy="32004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99032"/>
            <a:ext cx="82296" cy="8229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1.  Repasar lo visto hoy (tener claros los conceptos).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82296" cy="8229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2.  Abrir MT5 / Deriv y familiarizarse con la interfaz.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32888"/>
            <a:ext cx="82296" cy="8229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14016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3.  Escuchar el audiolibro asignado.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9816"/>
            <a:ext cx="82296" cy="8229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980944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66744"/>
            <a:ext cx="82296" cy="8229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4787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Recuerda: no se trata de memorizar, sino de entender.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33672"/>
            <a:ext cx="82296" cy="82296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CD6E8"/>
                </a:solidFill>
                <a:latin typeface="Calibri"/>
              </a:rPr>
              <a:t>Las preguntas son bienvenidas siempre.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0B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solidFill>
            <a:srgbClr val="1A283E"/>
          </a:solidFill>
          <a:ln w="12700">
            <a:solidFill>
              <a:srgbClr val="F0B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91672" y="91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0B932"/>
                </a:solidFill>
                <a:latin typeface="Calibri"/>
              </a:rPr>
              <a:t>23 / 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10528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5A75"/>
                </a:solidFill>
                <a:latin typeface="Calibri"/>
              </a:rPr>
              <a:t>Curso de Trading · Índices Sintéticos &amp; Forex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
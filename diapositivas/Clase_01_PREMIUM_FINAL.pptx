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Trading es una actividad en la que compramos y vendemos activos financieros con el objetivo de obtener ganancias a partir de los movimientos de precio.</a:t>
            </a:r>
          </a:p>
          <a:p/>
          <a:p>
            <a:r>
              <a:t>Aclaraciones importantes:</a:t>
            </a:r>
          </a:p>
          <a:p>
            <a:r>
              <a:t>- No se trata de adivinar, sino de analizar probabilidades.</a:t>
            </a:r>
          </a:p>
          <a:p>
            <a:r>
              <a:t>- No es hacerse rico rápido; es un negocio con riesgo real.</a:t>
            </a:r>
          </a:p>
          <a:p>
            <a:r>
              <a:t>- El trader busca aprovechar variaciones de precio, pero con apalancamiento esas variaciones se amplifican.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Abre un gráfico cualquiera (Vol 75 o EURUSD) y muestra cómo el precio sube y baja constantemente.</a:t>
            </a:r>
          </a:p>
          <a:p>
            <a:r>
              <a:t>'Cada vela representa cómo se mueve el precio. Si compro abajo y sube, gano. Si compro y baja, pierdo.'</a:t>
            </a:r>
          </a:p>
          <a:p>
            <a:r>
              <a:t>'El trading se trata de saber hacia dónde va el mercado, pero también de saber qué hacer si va o no va donde esperas.'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 activos financieros virtuales que imitan la volatilidad del mercado real. Fueron creados para simular el comportamiento sin depender de una economía real.</a:t>
            </a:r>
          </a:p>
          <a:p>
            <a:r>
              <a:t>CLAVE: Lo constante es la volatilidad, NO la dirección. El precio sigue siendo aleatorio; por eso analizamos estructura y probabilidades, no certezas.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Boom &amp; Crash: muestran movimientos bruscos (spikes).</a:t>
            </a:r>
          </a:p>
          <a:p>
            <a:r>
              <a:t>- BOOM sube con spike, baja despacio.</a:t>
            </a:r>
          </a:p>
          <a:p>
            <a:r>
              <a:t>- CRASH baja con spike, sube despacio.</a:t>
            </a:r>
          </a:p>
          <a:p>
            <a:r>
              <a:t>Volatility Index: simulan distintos niveles (10,25,50,75,100).</a:t>
            </a:r>
          </a:p>
          <a:p>
            <a:r>
              <a:t>Step Index: más suave y constante.</a:t>
            </a:r>
          </a:p>
          <a:p>
            <a:r>
              <a:t>Jump: movimientos por saltos.</a:t>
            </a:r>
          </a:p>
          <a:p>
            <a:r>
              <a:t>Lo que cambia es la velocidad del movimiento del precio.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Explicación simple: en lugar de bancos o gobiernos, los sintéticos se mueven siguiendo un modelo matemático constante.</a:t>
            </a:r>
          </a:p>
          <a:p>
            <a:r>
              <a:t>ESO NO significa que sea manipulado. Significa que su volatilidad es estable y no cambia por emociones, noticias o decisiones políticas.</a:t>
            </a:r>
          </a:p>
          <a:p>
            <a:r>
              <a:t>'El mercado sintético es tan real como cualquier mercado digital. La diferencia es que sigue un modelo matemático estable.'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Forex = Foreign Exchange. Es el mercado donde se intercambian monedas de todo el mundo.</a:t>
            </a:r>
          </a:p>
          <a:p>
            <a:r>
              <a:t>Ejemplo: EUR/USD → si sube, el euro se fortalece frente al dólar.</a:t>
            </a:r>
          </a:p>
          <a:p>
            <a:r>
              <a:t>Es el mercado más grande del mundo, +6 billones USD diarios.</a:t>
            </a:r>
          </a:p>
          <a:p>
            <a:r>
              <a:t>'En Forex estás comprando una moneda y vendiendo otra al mismo tiempo. Siempre operas pares.'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Participan bancos, gobiernos, empresas internacionales y fondos.</a:t>
            </a:r>
          </a:p>
          <a:p>
            <a:r>
              <a:t>Ellos tienen el volumen para mover el precio. Nosotros lo aprovechamos.</a:t>
            </a:r>
          </a:p>
          <a:p>
            <a:r>
              <a:t>Puntos clave:</a:t>
            </a:r>
          </a:p>
          <a:p>
            <a:r>
              <a:t>- Mercado global y transparente.</a:t>
            </a:r>
          </a:p>
          <a:p>
            <a:r>
              <a:t>- Gran liquidez = movimientos fiables.</a:t>
            </a:r>
          </a:p>
          <a:p>
            <a:r>
              <a:t>- Los traders profesionales no adivinan; leen cómo se mueve el precio según lo que hacen las instituciones.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Diferencias clave:</a:t>
            </a:r>
          </a:p>
          <a:p>
            <a:r>
              <a:t>- Sintéticos = algoritmo constante, 24/7, sin noticias.</a:t>
            </a:r>
          </a:p>
          <a:p>
            <a:r>
              <a:t>- Forex = real, L-V, influido por economía e instituciones.</a:t>
            </a:r>
          </a:p>
          <a:p>
            <a:r>
              <a:t>Ambos son mercados válidos y rentables para el trader.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Nosotros no nos conectamos directamente al mercado. Necesitamos un intermediario: el bróker.</a:t>
            </a:r>
          </a:p>
          <a:p>
            <a:r>
              <a:t>Cómo gana dinero un broker:</a:t>
            </a:r>
          </a:p>
          <a:p>
            <a:r>
              <a:t>- Spread: diferencia entre precio de compra y venta.</a:t>
            </a:r>
          </a:p>
          <a:p>
            <a:r>
              <a:t>- Comisiones: pequeña tarifa por operación.</a:t>
            </a:r>
          </a:p>
          <a:p>
            <a:r>
              <a:t>'El broker no pierde porque tú ganes o pierdas. Ellos ganan por volumen, no por tu resultado.'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MT5 es como el 'campo de trabajo' del trader. Aquí ves gráficos, indicadores, herramientas de análisis, historial y estadísticas.</a:t>
            </a:r>
          </a:p>
          <a:p>
            <a:r>
              <a:t>Lo que puedes hacer:</a:t>
            </a:r>
          </a:p>
          <a:p>
            <a:r>
              <a:t>- Ver el gráfico del precio</a:t>
            </a:r>
          </a:p>
          <a:p>
            <a:r>
              <a:t>- Analizar con líneas, zonas, indicadores</a:t>
            </a:r>
          </a:p>
          <a:p>
            <a:r>
              <a:t>- Colocar Buy, Sell, SL y TP</a:t>
            </a:r>
          </a:p>
          <a:p>
            <a:r>
              <a:t>- Gestionar operaciones abiertas</a:t>
            </a:r>
          </a:p>
          <a:p>
            <a:r>
              <a:t>- Revisar historial y estadísticas</a:t>
            </a:r>
          </a:p>
          <a:p/>
          <a:p>
            <a:r>
              <a:t>'MT5 será nuestra casa: aquí analizamos, planificamos y ejecutamos.'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3 plataformas principales:</a:t>
            </a:r>
          </a:p>
          <a:p>
            <a:r>
              <a:t>- MT5: ejecución + análisis (la principal)</a:t>
            </a:r>
          </a:p>
          <a:p>
            <a:r>
              <a:t>- TradingView: análisis gráfico especialmente Forex</a:t>
            </a:r>
          </a:p>
          <a:p>
            <a:r>
              <a:t>- Deriv: bróker para índices sintéticos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mayoría de personas pierde en trading no por falta de conocimientos, sino por emociones mal manejadas: miedo, ansiedad, euforia o ganas de recuperar rápido.</a:t>
            </a:r>
          </a:p>
          <a:p>
            <a:r>
              <a:t>Cuando te dejas llevar por emociones: entras sin señal, aumentas el lotaje, mueves el stop loss, cierras antes de tiempo o sigues operando cuando no debes.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Miedo: cerrar muy pronto o no entrar.</a:t>
            </a:r>
          </a:p>
          <a:p>
            <a:r>
              <a:t>Ansiedad: operar demasiado por presión.</a:t>
            </a:r>
          </a:p>
          <a:p>
            <a:r>
              <a:t>Euforia: creer que no puedes perder → rompes reglas.</a:t>
            </a:r>
          </a:p>
          <a:p>
            <a:r>
              <a:t>FOMO: entrar tarde y sin señal.</a:t>
            </a:r>
          </a:p>
          <a:p>
            <a:r>
              <a:t>Revenge trading: entrar para 'recuperar' → pierdes 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'El trader profesional no es el que gana una operación grande; es el que puede seguir su plan sin que las emociones lo desvíen.'</a:t>
            </a:r>
          </a:p>
          <a:p/>
          <a:p>
            <a:r>
              <a:t>El revenge trading es el error #1 de principiantes. Después de una pérdida, quieres entrar de inmediato para recuperarte, y casi siempre pierdes aún 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Resumen: 'Hoy entendimos qué es el trading, los dos mercados principales, cómo gana un trader, qué es el riesgo y qué herramientas usaremos.'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Tarea:</a:t>
            </a:r>
          </a:p>
          <a:p>
            <a:r>
              <a:t>1. Repasar lo visto hoy.</a:t>
            </a:r>
          </a:p>
          <a:p>
            <a:r>
              <a:t>2. Abrir MT5/Deriv y explorar la interfaz (sin operar).</a:t>
            </a:r>
          </a:p>
          <a:p>
            <a:r>
              <a:t>3. Escuchar audiolibro asignado.</a:t>
            </a:r>
          </a:p>
          <a:p/>
          <a:p>
            <a:r>
              <a:t>Mañana veremos teoría más avanzada para prepararnos al gráfico.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88952" cy="502920"/>
          </a:xfrm>
          <a:prstGeom prst="rect">
            <a:avLst/>
          </a:prstGeom>
          <a:solidFill>
            <a:srgbClr val="06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B932"/>
                </a:solidFill>
                <a:latin typeface="Calibri"/>
              </a:rPr>
              <a:t>MÓDULO 1  ·  FUNDAMENTOS DEL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6858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Introducción
al Trading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46120"/>
            <a:ext cx="4114800" cy="4572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8"/>
                </a:solidFill>
                <a:latin typeface="Calibri"/>
              </a:rPr>
              <a:t>Clase 01  ·  Índices Sintéticos &amp; Forex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39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80A0"/>
                </a:solidFill>
                <a:latin typeface="Calibri"/>
              </a:rPr>
              <a:t>Qué es el trading · Los dos mercados · Cómo se gana
Bróker · Plataformas · Mentalidad del trader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188720"/>
            <a:ext cx="4114800" cy="411480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188720"/>
            <a:ext cx="4114800" cy="4114800"/>
          </a:xfrm>
          <a:prstGeom prst="rect">
            <a:avLst/>
          </a:prstGeom>
          <a:noFill/>
          <a:ln w="12700">
            <a:solidFill>
              <a:srgbClr val="1E3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863840" y="2011680"/>
            <a:ext cx="3931920" cy="0"/>
          </a:xfrm>
          <a:prstGeom prst="line">
            <a:avLst/>
          </a:prstGeom>
          <a:ln w="6350">
            <a:solidFill>
              <a:srgbClr val="1A2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63840" y="2834640"/>
            <a:ext cx="3931920" cy="0"/>
          </a:xfrm>
          <a:prstGeom prst="line">
            <a:avLst/>
          </a:prstGeom>
          <a:ln w="6350">
            <a:solidFill>
              <a:srgbClr val="1A2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63840" y="3657600"/>
            <a:ext cx="3931920" cy="0"/>
          </a:xfrm>
          <a:prstGeom prst="line">
            <a:avLst/>
          </a:prstGeom>
          <a:ln w="6350">
            <a:solidFill>
              <a:srgbClr val="1A2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63840" y="4480560"/>
            <a:ext cx="3931920" cy="0"/>
          </a:xfrm>
          <a:prstGeom prst="line">
            <a:avLst/>
          </a:prstGeom>
          <a:ln w="6350">
            <a:solidFill>
              <a:srgbClr val="1A2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18120" y="43434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5A75"/>
                </a:solidFill>
                <a:latin typeface="Calibri"/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5204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5A75"/>
                </a:solidFill>
                <a:latin typeface="Calibri"/>
              </a:rPr>
              <a:t>110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6974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5A75"/>
                </a:solidFill>
                <a:latin typeface="Calibri"/>
              </a:rPr>
              <a:t>120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874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5A75"/>
                </a:solidFill>
                <a:latin typeface="Calibri"/>
              </a:rPr>
              <a:t>130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657600"/>
            <a:ext cx="3566160" cy="36576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0" y="34564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6A69A"/>
                </a:solidFill>
                <a:latin typeface="Calibri"/>
              </a:rPr>
              <a:t>SOPORTE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16468.0" y="3419628.0"/>
            <a:ext cx="0.0" cy="21945.0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75320" y="3441573"/>
            <a:ext cx="82296" cy="109728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316468.0" y="3551301.0"/>
            <a:ext cx="0.0" cy="16459.0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53628.0" y="3651428.0"/>
            <a:ext cx="0.0" cy="16459.0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412480" y="3667887"/>
            <a:ext cx="82296" cy="82296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8453628.0" y="3750183.0"/>
            <a:ext cx="0.0" cy="24688.0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90788.0" y="3527298.0"/>
            <a:ext cx="0.0" cy="27432.0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549640" y="3554730"/>
            <a:ext cx="82296" cy="109728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8590788.0" y="3664458.0"/>
            <a:ext cx="0.0" cy="13716.0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727948.0" y="3812591.0"/>
            <a:ext cx="0.0" cy="13716.0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686800" y="3826307"/>
            <a:ext cx="82296" cy="82296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8727948.0" y="3908603.0"/>
            <a:ext cx="0.0" cy="21945.0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865108.0" y="3416885.0"/>
            <a:ext cx="0.0" cy="24688.0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8823960" y="3441573"/>
            <a:ext cx="82296" cy="109728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8865108.0" y="3551301.0"/>
            <a:ext cx="0.0" cy="16459.0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002268.0" y="3263952.0"/>
            <a:ext cx="0.0" cy="19202.0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8961120" y="3283154"/>
            <a:ext cx="82296" cy="109728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9002268.0" y="3392882.0"/>
            <a:ext cx="0.0" cy="10972.0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139428.0" y="3569818.0"/>
            <a:ext cx="0.0" cy="30175.0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9098280" y="3599993"/>
            <a:ext cx="82296" cy="82296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9139428.0" y="3682289.0"/>
            <a:ext cx="0.0" cy="19202.0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276588.0" y="3077414.0"/>
            <a:ext cx="0.0" cy="24688.0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235440" y="3102102"/>
            <a:ext cx="82296" cy="109728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9276588.0" y="3211830.0"/>
            <a:ext cx="0.0" cy="13716.0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275320" y="2988945.0"/>
            <a:ext cx="1097280" cy="678942.0"/>
          </a:xfrm>
          <a:prstGeom prst="line">
            <a:avLst/>
          </a:prstGeom>
          <a:ln w="19050">
            <a:solidFill>
              <a:srgbClr val="F0B9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686800" y="2732913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0B932"/>
                </a:solidFill>
                <a:latin typeface="Calibri"/>
              </a:rPr>
              <a:t>↗ TENDENCIA ALCISTA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1777.0" y="5760721"/>
            <a:ext cx="0.0" cy="68580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457200" y="5829301"/>
            <a:ext cx="89154" cy="205739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01777.0" y="6035040"/>
            <a:ext cx="0.0" cy="54864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25221.0" y="5856732"/>
            <a:ext cx="0.0" cy="41148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580644" y="5897880"/>
            <a:ext cx="89154" cy="13716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625221.0" y="6035040"/>
            <a:ext cx="0.0" cy="82296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48665.0" y="5712715"/>
            <a:ext cx="0.0" cy="82296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704088" y="5795011"/>
            <a:ext cx="89154" cy="240029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748665.0" y="6035040"/>
            <a:ext cx="0.0" cy="48006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72109.0" y="5897881"/>
            <a:ext cx="0.0" cy="34290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827532" y="5932171"/>
            <a:ext cx="89154" cy="102869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872109.0" y="6035040"/>
            <a:ext cx="0.0" cy="68580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95553.0" y="5664708"/>
            <a:ext cx="0.0" cy="96012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950976" y="5760720"/>
            <a:ext cx="89154" cy="27432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995553.0" y="6035040"/>
            <a:ext cx="0.0" cy="41148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118997.0" y="5808726"/>
            <a:ext cx="0.0" cy="54864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1074420" y="5863590"/>
            <a:ext cx="89154" cy="17145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1118997.0" y="6035040"/>
            <a:ext cx="0.0" cy="61722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242441.0" y="5863590"/>
            <a:ext cx="0.0" cy="48006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1197864" y="5911596"/>
            <a:ext cx="89154" cy="123444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242441.0" y="6035040"/>
            <a:ext cx="0.0" cy="89154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6807708"/>
            <a:ext cx="529954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4572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0" b="1" i="0">
                <a:solidFill>
                  <a:srgbClr val="0F1C2E"/>
                </a:solidFill>
                <a:latin typeface="Calibri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834640"/>
            <a:ext cx="2743200" cy="4572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B932"/>
                </a:solidFill>
                <a:latin typeface="Calibri"/>
              </a:rPr>
              <a:t>SECCIÓN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¿Qué es el Trading?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  <a:latin typeface="Calibri"/>
              </a:rPr>
              <a:t>Concepto, cómo se gana y mentalidad correcta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9981.5" y="6272784"/>
            <a:ext cx="0.0" cy="54864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74320" y="6327648"/>
            <a:ext cx="71323" cy="16459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09981.5" y="6492240"/>
            <a:ext cx="0.0" cy="43891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8736.5" y="6349594"/>
            <a:ext cx="0.0" cy="32918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73075" y="6382512"/>
            <a:ext cx="71323" cy="10972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08736.5" y="6492240"/>
            <a:ext cx="0.0" cy="65836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7491.5" y="6234380"/>
            <a:ext cx="0.0" cy="65836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1830" y="6300216"/>
            <a:ext cx="71323" cy="19202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07491.5" y="6492240"/>
            <a:ext cx="0.0" cy="38404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6246.5" y="6382512"/>
            <a:ext cx="0.0" cy="27432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70585" y="6409944"/>
            <a:ext cx="71323" cy="82296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06246.5" y="6492240"/>
            <a:ext cx="0.0" cy="54864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5001.5" y="6195975"/>
            <a:ext cx="0.0" cy="76809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69340" y="6272784"/>
            <a:ext cx="71323" cy="219456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05001.5" y="6492240"/>
            <a:ext cx="0.0" cy="32918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3757.5" y="6311189"/>
            <a:ext cx="0.0" cy="43891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68096" y="6355080"/>
            <a:ext cx="71323" cy="13716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03757.5" y="6492240"/>
            <a:ext cx="0.0" cy="49377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02512.5" y="6355081"/>
            <a:ext cx="0.0" cy="38404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66851" y="6393485"/>
            <a:ext cx="71323" cy="98755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902512.5" y="6492240"/>
            <a:ext cx="0.0" cy="71323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807708"/>
            <a:ext cx="1059908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594360"/>
            <a:ext cx="83127" cy="13716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1455" y="502920"/>
            <a:ext cx="83127" cy="2286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870" y="411480"/>
            <a:ext cx="83127" cy="3200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285" y="274320"/>
            <a:ext cx="83127" cy="4572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¿Qué es el Trading?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2286000" cy="32004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8132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Comprar y vender activos financieros para obtener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7568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65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ganancias con los movimientos de precio.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67004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26440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54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No es adivinar → es analizar probabilidades.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85876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49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No es hacerse rico rápido → es un negocio con riesgo real.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45312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343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El apalancamiento amplifica ganancias… y pérdidas.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807708"/>
            <a:ext cx="1589863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solidFill>
            <a:srgbClr val="1A283E"/>
          </a:solidFill>
          <a:ln w="1270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B932"/>
                </a:solidFill>
                <a:latin typeface="Calibri"/>
              </a:rPr>
              <a:t>03 / 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¿Cómo se Gana en Trading?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2286000" cy="32004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8132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Si COMPRAS y el precio SUBE → ganas.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07568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Si VENDES y el precio BAJA → ganas.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67004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Simple en concepto, con mucha estrategia detrás.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26440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54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85876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49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"El trading se trata de saber qué hacer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45312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343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  si va o no va donde esperas."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807708"/>
            <a:ext cx="2119817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solidFill>
            <a:srgbClr val="1A283E"/>
          </a:solidFill>
          <a:ln w="1270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B932"/>
                </a:solidFill>
                <a:latin typeface="Calibri"/>
              </a:rPr>
              <a:t>04 / 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4572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0" b="1" i="0">
                <a:solidFill>
                  <a:srgbClr val="0F1C2E"/>
                </a:solidFill>
                <a:latin typeface="Calibri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834640"/>
            <a:ext cx="2743200" cy="4572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B932"/>
                </a:solidFill>
                <a:latin typeface="Calibri"/>
              </a:rPr>
              <a:t>SECCIÓN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Los Dos Mercados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  <a:latin typeface="Calibri"/>
              </a:rPr>
              <a:t>Índices Sintéticos y Forex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9981.5" y="6272784"/>
            <a:ext cx="0.0" cy="54864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74320" y="6327648"/>
            <a:ext cx="71323" cy="16459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09981.5" y="6492240"/>
            <a:ext cx="0.0" cy="43891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8736.5" y="6349594"/>
            <a:ext cx="0.0" cy="32918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73075" y="6382512"/>
            <a:ext cx="71323" cy="10972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08736.5" y="6492240"/>
            <a:ext cx="0.0" cy="65836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7491.5" y="6234380"/>
            <a:ext cx="0.0" cy="65836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1830" y="6300216"/>
            <a:ext cx="71323" cy="19202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07491.5" y="6492240"/>
            <a:ext cx="0.0" cy="38404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6246.5" y="6382512"/>
            <a:ext cx="0.0" cy="27432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70585" y="6409944"/>
            <a:ext cx="71323" cy="82296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06246.5" y="6492240"/>
            <a:ext cx="0.0" cy="54864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5001.5" y="6195975"/>
            <a:ext cx="0.0" cy="76809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69340" y="6272784"/>
            <a:ext cx="71323" cy="219456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05001.5" y="6492240"/>
            <a:ext cx="0.0" cy="32918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3757.5" y="6311189"/>
            <a:ext cx="0.0" cy="43891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68096" y="6355080"/>
            <a:ext cx="71323" cy="13716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03757.5" y="6492240"/>
            <a:ext cx="0.0" cy="49377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02512.5" y="6355081"/>
            <a:ext cx="0.0" cy="38404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66851" y="6393485"/>
            <a:ext cx="71323" cy="98755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902512.5" y="6492240"/>
            <a:ext cx="0.0" cy="71323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807708"/>
            <a:ext cx="2649772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Índices Sintéticos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2286000" cy="32004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8132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Mercados virtuales que imitan el movimiento real.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07568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NO dependen de noticias, gobiernos ni bancos centrales.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67004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Se mueven 24/7 por un algoritmo matemático.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26440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54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La volatilidad es constante; la dirección NO es predecible.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85876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49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Perfectos para análisis técnico puro.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807708"/>
            <a:ext cx="3179726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solidFill>
            <a:srgbClr val="1A283E"/>
          </a:solidFill>
          <a:ln w="1270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B932"/>
                </a:solidFill>
                <a:latin typeface="Calibri"/>
              </a:rPr>
              <a:t>06 / 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Tipos de Índices Sintéticos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828800" cy="32004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" y="1243584"/>
            <a:ext cx="3383280" cy="3657600"/>
          </a:xfrm>
          <a:prstGeom prst="rect">
            <a:avLst/>
          </a:prstGeom>
          <a:solidFill>
            <a:srgbClr val="05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383280" cy="3657600"/>
          </a:xfrm>
          <a:prstGeom prst="rect">
            <a:avLst/>
          </a:prstGeom>
          <a:solidFill>
            <a:srgbClr val="111C2E"/>
          </a:solidFill>
          <a:ln w="1905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38328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6A69A"/>
                </a:solidFill>
                <a:latin typeface="Calibri"/>
              </a:rPr>
              <a:t>Boom &amp; Crash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BOOM: el precio baja despacio
y explota HACIA ARRIBA (spike).
CRASH: el precio sube despacio
y se desploma HACIA ABAJO.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9664" y="1243584"/>
            <a:ext cx="3383280" cy="3657600"/>
          </a:xfrm>
          <a:prstGeom prst="rect">
            <a:avLst/>
          </a:prstGeom>
          <a:solidFill>
            <a:srgbClr val="05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1188720"/>
            <a:ext cx="3383280" cy="3657600"/>
          </a:xfrm>
          <a:prstGeom prst="rect">
            <a:avLst/>
          </a:prstGeom>
          <a:solidFill>
            <a:srgbClr val="111C2E"/>
          </a:solidFill>
          <a:ln w="1905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1188720"/>
            <a:ext cx="3383280" cy="54864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417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B932"/>
                </a:solidFill>
                <a:latin typeface="Calibri"/>
              </a:rPr>
              <a:t>Volatility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8745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Simulan niveles de volatilidad:
V10, V25, V50, V75, V100.
Más alto el número =
más rápido y violento el movimiento.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27264" y="1243584"/>
            <a:ext cx="3383280" cy="3657600"/>
          </a:xfrm>
          <a:prstGeom prst="rect">
            <a:avLst/>
          </a:prstGeom>
          <a:solidFill>
            <a:srgbClr val="05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1188720"/>
            <a:ext cx="3383280" cy="3657600"/>
          </a:xfrm>
          <a:prstGeom prst="rect">
            <a:avLst/>
          </a:prstGeom>
          <a:solidFill>
            <a:srgbClr val="111C2E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188720"/>
            <a:ext cx="3383280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417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4DFF"/>
                </a:solidFill>
                <a:latin typeface="Calibri"/>
              </a:rPr>
              <a:t>Step &amp; Jump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18745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Step: movimiento suave y parejo.
Ideal para practicar.
Jump: movimientos por saltos
bruscos, alta volatilidad.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807708"/>
            <a:ext cx="3709681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solidFill>
            <a:srgbClr val="1A283E"/>
          </a:solidFill>
          <a:ln w="1270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B932"/>
                </a:solidFill>
                <a:latin typeface="Calibri"/>
              </a:rPr>
              <a:t>07 / 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594360"/>
            <a:ext cx="83127" cy="13716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1455" y="502920"/>
            <a:ext cx="83127" cy="2286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870" y="411480"/>
            <a:ext cx="83127" cy="3200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285" y="274320"/>
            <a:ext cx="83127" cy="4572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¿Qué Mueve los Índices Sintéticos?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2286000" cy="32004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8132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Un algoritmo matemático transparente y verificable.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7568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65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NO están manipulados por noticias ni por personas.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67004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Mantienen un nivel de volatilidad constante.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26440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54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Beneficio: no hay movimientos inesperados por noticias.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85876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49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Comportamiento técnico limpio para el trader.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807708"/>
            <a:ext cx="4239635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solidFill>
            <a:srgbClr val="1A283E"/>
          </a:solidFill>
          <a:ln w="1270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B932"/>
                </a:solidFill>
                <a:latin typeface="Calibri"/>
              </a:rPr>
              <a:t>08 / 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57200" cy="54864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4" y="374904"/>
            <a:ext cx="82296" cy="22860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" y="374904"/>
            <a:ext cx="82296" cy="22860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374904"/>
            <a:ext cx="82296" cy="22860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03504"/>
            <a:ext cx="457200" cy="54864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Mercado Forex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51560"/>
            <a:ext cx="2286000" cy="32004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8132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Mercado global de intercambio de divisas.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07568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Se compra una moneda y se vende otra simultáneamente.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7004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Más de 6 billones de USD diarios de volumen.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26440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54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Opera 24h de lunes a viernes (sesiones de Asia, Londres, NY).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5876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Ejemplo: EUR/USD → compras euros, vendes dólares.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807708"/>
            <a:ext cx="4769589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solidFill>
            <a:srgbClr val="1A283E"/>
          </a:solidFill>
          <a:ln w="1270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B932"/>
                </a:solidFill>
                <a:latin typeface="Calibri"/>
              </a:rPr>
              <a:t>09 / 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57200" cy="54864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4" y="374904"/>
            <a:ext cx="82296" cy="22860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" y="374904"/>
            <a:ext cx="82296" cy="22860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374904"/>
            <a:ext cx="82296" cy="22860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03504"/>
            <a:ext cx="457200" cy="54864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¿Qué Mueve al Forex?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51560"/>
            <a:ext cx="2286000" cy="32004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8132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Bancos centrales y política monetaria.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07568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Fondos de inversión y bancos comerciales.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7004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Noticias económicas (NFP, CPI, FOMC).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26440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54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Sentimiento del mercado (miedo → refugio, confianza → riesgo).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5876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Nosotros seguimos la huella de las instituciones.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807708"/>
            <a:ext cx="5299544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solidFill>
            <a:srgbClr val="1A283E"/>
          </a:solidFill>
          <a:ln w="1270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B932"/>
                </a:solidFill>
                <a:latin typeface="Calibri"/>
              </a:rPr>
              <a:t>10 / 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Sintéticos vs Forex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68680"/>
            <a:ext cx="1828800" cy="32004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" y="1243584"/>
            <a:ext cx="5303520" cy="4846320"/>
          </a:xfrm>
          <a:prstGeom prst="rect">
            <a:avLst/>
          </a:prstGeom>
          <a:solidFill>
            <a:srgbClr val="05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03520" cy="4846320"/>
          </a:xfrm>
          <a:prstGeom prst="rect">
            <a:avLst/>
          </a:prstGeom>
          <a:solidFill>
            <a:srgbClr val="111C2E"/>
          </a:solidFill>
          <a:ln w="1905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30352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6A69A"/>
                </a:solidFill>
                <a:latin typeface="Calibri"/>
              </a:rPr>
              <a:t>ÍNDICES SINTÉTICOS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  <a:latin typeface="Calibri"/>
              </a:rPr>
              <a:t>•  Mercado algorítmico (24/7)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  <a:latin typeface="Calibri"/>
              </a:rPr>
              <a:t>•  NO depende de noticias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  <a:latin typeface="Calibri"/>
              </a:rPr>
              <a:t>•  Volatilidad constante por diseño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  <a:latin typeface="Calibri"/>
              </a:rPr>
              <a:t>•  Análisis técnico puro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  <a:latin typeface="Calibri"/>
              </a:rPr>
              <a:t>•  Ideal para practicar estructura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091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  <a:latin typeface="Calibri"/>
              </a:rPr>
              <a:t>•  Bróker: Deriv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243584"/>
            <a:ext cx="5303520" cy="4846320"/>
          </a:xfrm>
          <a:prstGeom prst="rect">
            <a:avLst/>
          </a:prstGeom>
          <a:solidFill>
            <a:srgbClr val="05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188720"/>
            <a:ext cx="5303520" cy="4846320"/>
          </a:xfrm>
          <a:prstGeom prst="rect">
            <a:avLst/>
          </a:prstGeom>
          <a:solidFill>
            <a:srgbClr val="111C2E"/>
          </a:solidFill>
          <a:ln w="1905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5303520" cy="54864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B932"/>
                </a:solidFill>
                <a:latin typeface="Calibri"/>
              </a:rPr>
              <a:t>FOREX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  <a:latin typeface="Calibri"/>
              </a:rPr>
              <a:t>•  Mercado real de divisas (L-V)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146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  <a:latin typeface="Calibri"/>
              </a:rPr>
              <a:t>•  Se mueve por noticias y bancos centrales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632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  <a:latin typeface="Calibri"/>
              </a:rPr>
              <a:t>•  Volatilidad variable por sesión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118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  <a:latin typeface="Calibri"/>
              </a:rPr>
              <a:t>•  Análisis técnico + fundamental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60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  <a:latin typeface="Calibri"/>
              </a:rPr>
              <a:t>•  Movimientos más institucionales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091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8"/>
                </a:solidFill>
                <a:latin typeface="Calibri"/>
              </a:rPr>
              <a:t>•  Brókers: Exness, IC Markets, etc.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807708"/>
            <a:ext cx="5829498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solidFill>
            <a:srgbClr val="1A283E"/>
          </a:solidFill>
          <a:ln w="1270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B932"/>
                </a:solidFill>
                <a:latin typeface="Calibri"/>
              </a:rPr>
              <a:t>11 / 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4572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0" b="1" i="0">
                <a:solidFill>
                  <a:srgbClr val="0F1C2E"/>
                </a:solidFill>
                <a:latin typeface="Calibri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834640"/>
            <a:ext cx="2743200" cy="4572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B932"/>
                </a:solidFill>
                <a:latin typeface="Calibri"/>
              </a:rPr>
              <a:t>SECCIÓN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Herramientas del Trader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  <a:latin typeface="Calibri"/>
              </a:rPr>
              <a:t>Bróker, plataformas y ejecución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9981.5" y="6272784"/>
            <a:ext cx="0.0" cy="54864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74320" y="6327648"/>
            <a:ext cx="71323" cy="16459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09981.5" y="6492240"/>
            <a:ext cx="0.0" cy="43891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8736.5" y="6349594"/>
            <a:ext cx="0.0" cy="32918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73075" y="6382512"/>
            <a:ext cx="71323" cy="10972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08736.5" y="6492240"/>
            <a:ext cx="0.0" cy="65836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7491.5" y="6234380"/>
            <a:ext cx="0.0" cy="65836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1830" y="6300216"/>
            <a:ext cx="71323" cy="19202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07491.5" y="6492240"/>
            <a:ext cx="0.0" cy="38404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6246.5" y="6382512"/>
            <a:ext cx="0.0" cy="27432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70585" y="6409944"/>
            <a:ext cx="71323" cy="82296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06246.5" y="6492240"/>
            <a:ext cx="0.0" cy="54864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5001.5" y="6195975"/>
            <a:ext cx="0.0" cy="76809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69340" y="6272784"/>
            <a:ext cx="71323" cy="219456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05001.5" y="6492240"/>
            <a:ext cx="0.0" cy="32918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3757.5" y="6311189"/>
            <a:ext cx="0.0" cy="43891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68096" y="6355080"/>
            <a:ext cx="71323" cy="13716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03757.5" y="6492240"/>
            <a:ext cx="0.0" cy="49377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02512.5" y="6355081"/>
            <a:ext cx="0.0" cy="38404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66851" y="6393485"/>
            <a:ext cx="71323" cy="98755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902512.5" y="6492240"/>
            <a:ext cx="0.0" cy="71323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807708"/>
            <a:ext cx="6359453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57200" cy="54864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4" y="374904"/>
            <a:ext cx="82296" cy="22860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" y="374904"/>
            <a:ext cx="82296" cy="22860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374904"/>
            <a:ext cx="82296" cy="22860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603504"/>
            <a:ext cx="457200" cy="54864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¿Qué es un Bróker?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51560"/>
            <a:ext cx="2286000" cy="3200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81328"/>
            <a:ext cx="91440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Intermediario que nos conecta al mercado.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075688"/>
            <a:ext cx="91440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Nos permite abrir cuenta, depositar, operar y retirar.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70048"/>
            <a:ext cx="91440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El bróker gana por spread y comisiones, no por tu pérdida.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264408"/>
            <a:ext cx="91440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54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Sintéticos → Deriv  |  Forex → Exness, IC Markets, etc.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58768"/>
            <a:ext cx="91440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"El bróker es la puerta que nos conecta al mercado."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807708"/>
            <a:ext cx="6889407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solidFill>
            <a:srgbClr val="1A283E"/>
          </a:solidFill>
          <a:ln w="1270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B932"/>
                </a:solidFill>
                <a:latin typeface="Calibri"/>
              </a:rPr>
              <a:t>13 / 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274320"/>
            <a:ext cx="411480" cy="320040"/>
          </a:xfrm>
          <a:prstGeom prst="rect">
            <a:avLst/>
          </a:prstGeom>
          <a:noFill/>
          <a:ln w="2540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411480" y="388620"/>
            <a:ext cx="114300" cy="137160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25780" y="388620"/>
            <a:ext cx="137160" cy="68580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2920" y="594360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76656"/>
            <a:ext cx="274320" cy="4572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MetaTrader 5 (MT5)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51560"/>
            <a:ext cx="2286000" cy="32004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8132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Plataforma profesional de análisis y ejecución.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07568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Ves gráficos, indicadores, historial y estadísticas.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7004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Colocas Buy, Sell, Stop Loss y Take Profit.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26440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54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No es un bróker: es tu campo de trabajo.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5876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"MT5 será nuestra casa durante todo el proceso."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807708"/>
            <a:ext cx="7419362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solidFill>
            <a:srgbClr val="1A283E"/>
          </a:solidFill>
          <a:ln w="1270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B932"/>
                </a:solidFill>
                <a:latin typeface="Calibri"/>
              </a:rPr>
              <a:t>14 / 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Plataformas que Usaremos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828800" cy="32004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" y="1243584"/>
            <a:ext cx="3383280" cy="3657600"/>
          </a:xfrm>
          <a:prstGeom prst="rect">
            <a:avLst/>
          </a:prstGeom>
          <a:solidFill>
            <a:srgbClr val="05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383280" cy="3657600"/>
          </a:xfrm>
          <a:prstGeom prst="rect">
            <a:avLst/>
          </a:prstGeom>
          <a:solidFill>
            <a:srgbClr val="111C2E"/>
          </a:solidFill>
          <a:ln w="1905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38328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6A69A"/>
                </a:solidFill>
                <a:latin typeface="Calibri"/>
              </a:rPr>
              <a:t>MetaTrader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Ejecución de operaciones
Análisis técnico avanzado
Historial y estadísticas
Sintéticos + Forex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9664" y="1243584"/>
            <a:ext cx="3383280" cy="3657600"/>
          </a:xfrm>
          <a:prstGeom prst="rect">
            <a:avLst/>
          </a:prstGeom>
          <a:solidFill>
            <a:srgbClr val="05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1188720"/>
            <a:ext cx="3383280" cy="3657600"/>
          </a:xfrm>
          <a:prstGeom prst="rect">
            <a:avLst/>
          </a:prstGeom>
          <a:solidFill>
            <a:srgbClr val="111C2E"/>
          </a:solidFill>
          <a:ln w="1905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1188720"/>
            <a:ext cx="3383280" cy="54864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417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B932"/>
                </a:solidFill>
                <a:latin typeface="Calibri"/>
              </a:rPr>
              <a:t>TradingView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8745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Análisis de gráficos Forex
Herramientas de dibujo
Multi-timeframe
Backtesting con Replay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27264" y="1243584"/>
            <a:ext cx="3383280" cy="3657600"/>
          </a:xfrm>
          <a:prstGeom prst="rect">
            <a:avLst/>
          </a:prstGeom>
          <a:solidFill>
            <a:srgbClr val="05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1188720"/>
            <a:ext cx="3383280" cy="3657600"/>
          </a:xfrm>
          <a:prstGeom prst="rect">
            <a:avLst/>
          </a:prstGeom>
          <a:solidFill>
            <a:srgbClr val="111C2E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188720"/>
            <a:ext cx="3383280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417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4DFF"/>
                </a:solidFill>
                <a:latin typeface="Calibri"/>
              </a:rPr>
              <a:t>Deriv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18745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Bróker para sintéticos
Cuenta demo y real
Acceso 24/7
Interfaz propia web/app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807708"/>
            <a:ext cx="7949316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solidFill>
            <a:srgbClr val="1A283E"/>
          </a:solidFill>
          <a:ln w="1270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B932"/>
                </a:solidFill>
                <a:latin typeface="Calibri"/>
              </a:rPr>
              <a:t>15 / 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4572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0" b="1" i="0">
                <a:solidFill>
                  <a:srgbClr val="0F1C2E"/>
                </a:solidFill>
                <a:latin typeface="Calibri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834640"/>
            <a:ext cx="2743200" cy="4572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B932"/>
                </a:solidFill>
                <a:latin typeface="Calibri"/>
              </a:rPr>
              <a:t>SECCIÓN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Mentalidad del Trader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  <a:latin typeface="Calibri"/>
              </a:rPr>
              <a:t>Emociones, disciplina y expectativas reales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9981.5" y="6272784"/>
            <a:ext cx="0.0" cy="54864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74320" y="6327648"/>
            <a:ext cx="71323" cy="16459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09981.5" y="6492240"/>
            <a:ext cx="0.0" cy="43891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8736.5" y="6349594"/>
            <a:ext cx="0.0" cy="32918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73075" y="6382512"/>
            <a:ext cx="71323" cy="10972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08736.5" y="6492240"/>
            <a:ext cx="0.0" cy="65836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7491.5" y="6234380"/>
            <a:ext cx="0.0" cy="65836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1830" y="6300216"/>
            <a:ext cx="71323" cy="19202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07491.5" y="6492240"/>
            <a:ext cx="0.0" cy="38404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6246.5" y="6382512"/>
            <a:ext cx="0.0" cy="27432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70585" y="6409944"/>
            <a:ext cx="71323" cy="82296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06246.5" y="6492240"/>
            <a:ext cx="0.0" cy="54864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5001.5" y="6195975"/>
            <a:ext cx="0.0" cy="76809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69340" y="6272784"/>
            <a:ext cx="71323" cy="219456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05001.5" y="6492240"/>
            <a:ext cx="0.0" cy="32918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3757.5" y="6311189"/>
            <a:ext cx="0.0" cy="43891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68096" y="6355080"/>
            <a:ext cx="71323" cy="13716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03757.5" y="6492240"/>
            <a:ext cx="0.0" cy="49377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02512.5" y="6355081"/>
            <a:ext cx="0.0" cy="38404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66851" y="6393485"/>
            <a:ext cx="71323" cy="98755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902512.5" y="6492240"/>
            <a:ext cx="0.0" cy="71323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807708"/>
            <a:ext cx="8479270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97180"/>
            <a:ext cx="320040" cy="320040"/>
          </a:xfrm>
          <a:prstGeom prst="rect">
            <a:avLst/>
          </a:prstGeom>
          <a:noFill/>
          <a:ln w="2540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7180"/>
            <a:ext cx="320040" cy="320040"/>
          </a:xfrm>
          <a:prstGeom prst="rect">
            <a:avLst/>
          </a:prstGeom>
          <a:noFill/>
          <a:ln w="2540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320040"/>
            <a:ext cx="0" cy="365760"/>
          </a:xfrm>
          <a:prstGeom prst="line">
            <a:avLst/>
          </a:prstGeom>
          <a:ln w="19050">
            <a:solidFill>
              <a:srgbClr val="F0B9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La Mente del Trader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2286000" cy="32004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8132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La mayoría pierde no por falta de técnica,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07568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sino por emociones mal manejadas.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67004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26440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54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Las emociones te hacen cometer errores: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85876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49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entrar sin señal, aumentar lotaje, mover el SL,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45312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43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cerrar antes de tiempo o no parar de operar.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807708"/>
            <a:ext cx="9009225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solidFill>
            <a:srgbClr val="1A283E"/>
          </a:solidFill>
          <a:ln w="1270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B932"/>
                </a:solidFill>
                <a:latin typeface="Calibri"/>
              </a:rPr>
              <a:t>17 / 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Las 4 Emociones del Trader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828800" cy="32004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" y="1243584"/>
            <a:ext cx="3383280" cy="3657600"/>
          </a:xfrm>
          <a:prstGeom prst="rect">
            <a:avLst/>
          </a:prstGeom>
          <a:solidFill>
            <a:srgbClr val="05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383280" cy="3657600"/>
          </a:xfrm>
          <a:prstGeom prst="rect">
            <a:avLst/>
          </a:prstGeom>
          <a:solidFill>
            <a:srgbClr val="111C2E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383280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2A5F5"/>
                </a:solidFill>
                <a:latin typeface="Calibri"/>
              </a:rPr>
              <a:t>MIEDO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Te hace cerrar ganancias
muy pronto o evita que
entres en una operación
válida.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9664" y="1243584"/>
            <a:ext cx="3383280" cy="3657600"/>
          </a:xfrm>
          <a:prstGeom prst="rect">
            <a:avLst/>
          </a:prstGeom>
          <a:solidFill>
            <a:srgbClr val="05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1188720"/>
            <a:ext cx="3383280" cy="3657600"/>
          </a:xfrm>
          <a:prstGeom prst="rect">
            <a:avLst/>
          </a:prstGeom>
          <a:solidFill>
            <a:srgbClr val="111C2E"/>
          </a:solidFill>
          <a:ln w="1905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1188720"/>
            <a:ext cx="3383280" cy="54864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417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B932"/>
                </a:solidFill>
                <a:latin typeface="Calibri"/>
              </a:rPr>
              <a:t>CODICIA / EUFORIA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8745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Después de ganar, crees
que no puedes perder
y arriesgas más de
lo debido.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27264" y="1243584"/>
            <a:ext cx="3383280" cy="3657600"/>
          </a:xfrm>
          <a:prstGeom prst="rect">
            <a:avLst/>
          </a:prstGeom>
          <a:solidFill>
            <a:srgbClr val="05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1188720"/>
            <a:ext cx="3383280" cy="3657600"/>
          </a:xfrm>
          <a:prstGeom prst="rect">
            <a:avLst/>
          </a:prstGeom>
          <a:solidFill>
            <a:srgbClr val="111C2E"/>
          </a:solidFill>
          <a:ln w="1905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188720"/>
            <a:ext cx="3383280" cy="54864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417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5350"/>
                </a:solidFill>
                <a:latin typeface="Calibri"/>
              </a:rPr>
              <a:t>FOMO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18745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Miedo a quedarse afuera.
Entras tarde, sin análisis,
solo porque 'el mercado
se mueve'.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807708"/>
            <a:ext cx="9539179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solidFill>
            <a:srgbClr val="1A283E"/>
          </a:solidFill>
          <a:ln w="1270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B932"/>
                </a:solidFill>
                <a:latin typeface="Calibri"/>
              </a:rPr>
              <a:t>18 / 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7190" y="274320"/>
            <a:ext cx="342900" cy="411480"/>
          </a:xfrm>
          <a:prstGeom prst="rect">
            <a:avLst/>
          </a:prstGeom>
          <a:noFill/>
          <a:ln w="3175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0060" y="418338"/>
            <a:ext cx="137160" cy="144018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Revenge Trading: El Peor Error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286000" cy="32004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81328"/>
            <a:ext cx="91440" cy="914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Después de perder → entras de inmediato para recuperar.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075688"/>
            <a:ext cx="91440" cy="914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Casi siempre terminas perdiendo AÚN MÁS.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670048"/>
            <a:ext cx="91440" cy="914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264408"/>
            <a:ext cx="91440" cy="914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154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El trader profesional NO es el que gana una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858768"/>
            <a:ext cx="91440" cy="914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49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operación grande, es el que puede seguir su plan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453128"/>
            <a:ext cx="91440" cy="914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343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sin que las emociones lo desvíen.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807708"/>
            <a:ext cx="10069134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solidFill>
            <a:srgbClr val="1A283E"/>
          </a:solidFill>
          <a:ln w="1270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B932"/>
                </a:solidFill>
                <a:latin typeface="Calibri"/>
              </a:rPr>
              <a:t>19 / 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15253C"/>
                </a:solidFill>
                <a:latin typeface="Calibri"/>
              </a:rP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1">
                <a:solidFill>
                  <a:srgbClr val="FFFFFF"/>
                </a:solidFill>
                <a:latin typeface="Calibri"/>
              </a:rPr>
              <a:t>El trader profesional no es el que
gana una operación grande.
Es el que puede seguir su plan sin
que las emociones lo desvíen.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50461.5" y="5632704"/>
            <a:ext cx="0.0" cy="54864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14800" y="5687568"/>
            <a:ext cx="71323" cy="16459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150461.5" y="5852160"/>
            <a:ext cx="0.0" cy="43891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49216.5" y="5709514"/>
            <a:ext cx="0.0" cy="32918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213555" y="5742432"/>
            <a:ext cx="71323" cy="10972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249216.5" y="5852160"/>
            <a:ext cx="0.0" cy="65836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47971.5" y="5594300"/>
            <a:ext cx="0.0" cy="65836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312310" y="5660136"/>
            <a:ext cx="71323" cy="19202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347971.5" y="5852160"/>
            <a:ext cx="0.0" cy="38404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46726.5" y="5742432"/>
            <a:ext cx="0.0" cy="27432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411065" y="5769864"/>
            <a:ext cx="71323" cy="82296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4446726.5" y="5852160"/>
            <a:ext cx="0.0" cy="54864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45481.5" y="5555895"/>
            <a:ext cx="0.0" cy="76809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509820" y="5632704"/>
            <a:ext cx="71323" cy="219456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4545481.5" y="5852160"/>
            <a:ext cx="0.0" cy="32918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44237.5" y="5671109"/>
            <a:ext cx="0.0" cy="43891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608576" y="5715000"/>
            <a:ext cx="71323" cy="13716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644237.5" y="5852160"/>
            <a:ext cx="0.0" cy="49377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42992.5" y="5715001"/>
            <a:ext cx="0.0" cy="38404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707331" y="5753405"/>
            <a:ext cx="71323" cy="98755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742992.5" y="5852160"/>
            <a:ext cx="0.0" cy="71323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807708"/>
            <a:ext cx="10599088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4572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0" b="1" i="0">
                <a:solidFill>
                  <a:srgbClr val="0F1C2E"/>
                </a:solidFill>
                <a:latin typeface="Calibri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834640"/>
            <a:ext cx="2743200" cy="4572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B932"/>
                </a:solidFill>
                <a:latin typeface="Calibri"/>
              </a:rPr>
              <a:t>SECCIÓN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Resumen y
Próximos Pasos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  <a:latin typeface="Calibri"/>
              </a:rPr>
              <a:t>Lo que aprendimos hoy + tarea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9981.5" y="6272784"/>
            <a:ext cx="0.0" cy="54864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74320" y="6327648"/>
            <a:ext cx="71323" cy="16459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09981.5" y="6492240"/>
            <a:ext cx="0.0" cy="43891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8736.5" y="6349594"/>
            <a:ext cx="0.0" cy="32918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73075" y="6382512"/>
            <a:ext cx="71323" cy="10972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08736.5" y="6492240"/>
            <a:ext cx="0.0" cy="65836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7491.5" y="6234380"/>
            <a:ext cx="0.0" cy="65836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1830" y="6300216"/>
            <a:ext cx="71323" cy="19202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07491.5" y="6492240"/>
            <a:ext cx="0.0" cy="38404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6246.5" y="6382512"/>
            <a:ext cx="0.0" cy="27432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70585" y="6409944"/>
            <a:ext cx="71323" cy="82296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06246.5" y="6492240"/>
            <a:ext cx="0.0" cy="54864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5001.5" y="6195975"/>
            <a:ext cx="0.0" cy="76809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69340" y="6272784"/>
            <a:ext cx="71323" cy="219456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05001.5" y="6492240"/>
            <a:ext cx="0.0" cy="32918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3757.5" y="6311189"/>
            <a:ext cx="0.0" cy="43891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68096" y="6355080"/>
            <a:ext cx="71323" cy="13716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03757.5" y="6492240"/>
            <a:ext cx="0.0" cy="49377"/>
          </a:xfrm>
          <a:prstGeom prst="line">
            <a:avLst/>
          </a:prstGeom>
          <a:ln w="1905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02512.5" y="6355081"/>
            <a:ext cx="0.0" cy="38404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66851" y="6393485"/>
            <a:ext cx="71323" cy="98755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902512.5" y="6492240"/>
            <a:ext cx="0.0" cy="71323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807708"/>
            <a:ext cx="11129043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594360"/>
            <a:ext cx="83127" cy="13716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1455" y="502920"/>
            <a:ext cx="83127" cy="2286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870" y="411480"/>
            <a:ext cx="83127" cy="3200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285" y="274320"/>
            <a:ext cx="83127" cy="4572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Resumen de Hoy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2286000" cy="32004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8132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✓  Qué es el trading y cómo se gana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7568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65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✓  Los dos mercados: Sintéticos y Forex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67004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✓  Qué mueve cada mercado (algoritmo vs. instituciones)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26440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54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✓  Qué es un bróker y las plataformas (MT5, TradingView, Deriv)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85876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49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✓  Las emociones que debes controlar desde el día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45312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343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047488"/>
            <a:ext cx="91440" cy="9144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→  Mañana: teoría más avanzada para pasar al gráfico.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807708"/>
            <a:ext cx="11658997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solidFill>
            <a:srgbClr val="1A283E"/>
          </a:solidFill>
          <a:ln w="1270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B932"/>
                </a:solidFill>
                <a:latin typeface="Calibri"/>
              </a:rPr>
              <a:t>22 / 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7190" y="274320"/>
            <a:ext cx="342900" cy="411480"/>
          </a:xfrm>
          <a:prstGeom prst="rect">
            <a:avLst/>
          </a:prstGeom>
          <a:noFill/>
          <a:ln w="3175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0060" y="418338"/>
            <a:ext cx="137160" cy="144018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Tarea para Mañana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286000" cy="3200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81328"/>
            <a:ext cx="91440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1.  Repasar lo visto hoy (tener claros los conceptos).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075688"/>
            <a:ext cx="91440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2.  Abrir MT5 / Deriv y familiarizarse con la interfaz.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670048"/>
            <a:ext cx="91440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3.  Escuchar el audiolibro asignado.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264408"/>
            <a:ext cx="91440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154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858768"/>
            <a:ext cx="91440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49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Recuerda: no se trata de memorizar, sino de entender.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453128"/>
            <a:ext cx="91440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343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6E8"/>
                </a:solidFill>
                <a:latin typeface="Calibri"/>
              </a:rPr>
              <a:t>Las preguntas son bienvenidas siempre.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1A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F0B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solidFill>
            <a:srgbClr val="1A283E"/>
          </a:solidFill>
          <a:ln w="12700">
            <a:solidFill>
              <a:srgbClr val="F0B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45952" y="1097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B932"/>
                </a:solidFill>
                <a:latin typeface="Calibri"/>
              </a:rPr>
              <a:t>23 / 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5333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A75"/>
                </a:solidFill>
                <a:latin typeface="Calibri"/>
              </a:rPr>
              <a:t>Curso de Trading · Índices Sintéticos &amp; Forex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
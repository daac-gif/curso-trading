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Leer el precio es como leer un lenguaje: las velas nos cuentan una historia. Cada movimiento, cada rechazo o rompimiento tiene una intención del mercado.</a:t>
            </a:r>
          </a:p>
          <a:p/>
          <a:p>
            <a:r>
              <a:t>Muestra un gráfico (Volatility 75) y di: Vean cómo el precio va dejando huellas. Cada impulso y cada retroceso forman parte de una estructura.</a:t>
            </a:r>
          </a:p>
          <a:p/>
          <a:p>
            <a:r>
              <a:t>Énfasis: El precio no se mueve al azar, respeta zonas clave. Lo importante no es adivinar, sino entender la secuencia del precio.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soportes y resistencias son zonas donde el precio ha reaccionado varias veces. Yo no opero al primer toque. Espero testeos de confirmación; el último es el operativo.</a:t>
            </a:r>
          </a:p>
          <a:p/>
          <a:p>
            <a:r>
              <a:t>Concepto clave: No se entra al primer toque. Se espera validación.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Desglosa:</a:t>
            </a:r>
          </a:p>
          <a:p>
            <a:r>
              <a:t>• 1er toque: el precio 'descubre' la zona.</a:t>
            </a:r>
          </a:p>
          <a:p>
            <a:r>
              <a:t>• 2do toque: confirma que el área tiene fuerza y valida.</a:t>
            </a:r>
          </a:p>
          <a:p>
            <a:r>
              <a:t>• 3er toque: ahí busco mi entrada si coincide con estructura, hora y confirmación.</a:t>
            </a:r>
          </a:p>
          <a:p/>
          <a:p>
            <a:r>
              <a:t>Importante: cada herramienta (S/R, líneas de tendencia) puede tener su propio criterio de toques.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patrones de velas no se operan solos. Los uso como confirmación cuando están en una zona importante y en una hora relevante.</a:t>
            </a:r>
          </a:p>
          <a:p/>
          <a:p>
            <a:r>
              <a:t>Patrones como los vistos ayer tienen sentido solo si aparecen en zonas clave.</a:t>
            </a:r>
          </a:p>
          <a:p>
            <a:r>
              <a:t>La hora también importa: debemos ver cómo cierra la vela de M5.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Siempre hay que esperar ver cómo termina la vela de M5 antes de decidir si entrar o no.</a:t>
            </a:r>
          </a:p>
          <a:p>
            <a:r>
              <a:t>A veces parece que el precio va a romper un nivel, pero al cierre la vela cambia completamente y deja una mecha.</a:t>
            </a:r>
          </a:p>
          <a:p/>
          <a:p>
            <a:r>
              <a:t>El cierre es lo que realmente confirma si hay intención o solo fue una trampa.</a:t>
            </a:r>
          </a:p>
          <a:p/>
          <a:p>
            <a:r>
              <a:t>• Si cierra con fuerza y cuerpo completo → confirma movimiento.</a:t>
            </a:r>
          </a:p>
          <a:p>
            <a:r>
              <a:t>• Si cierra con mecha o cambio de color → muestra rechazo.</a:t>
            </a:r>
          </a:p>
          <a:p/>
          <a:p>
            <a:r>
              <a:t>La decisión de entrada se toma SOLO después del cierre.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Explica tu método paso a paso:</a:t>
            </a:r>
          </a:p>
          <a:p/>
          <a:p>
            <a:r>
              <a:t>1. H1 – Estructura y tendencia:</a:t>
            </a:r>
          </a:p>
          <a:p>
            <a:r>
              <a:t>   'Aquí defino si el mercado está en impulso o retroceso. Identifico la dirección principal.'</a:t>
            </a:r>
          </a:p>
          <a:p/>
          <a:p>
            <a:r>
              <a:t>2. M15 – Ajuste y contexto:</a:t>
            </a:r>
          </a:p>
          <a:p>
            <a:r>
              <a:t>   'Busco cómo se comporta el precio dentro de esa estructura. ¿Está alineado o en corrección?'</a:t>
            </a:r>
          </a:p>
          <a:p/>
          <a:p>
            <a:r>
              <a:t>3. M1 – Precisión de entrada:</a:t>
            </a:r>
          </a:p>
          <a:p>
            <a:r>
              <a:t>   'Aquí marco la línea exacta donde quiero entrar. Solo ejecuto si todo coincide.'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línea de tendencia se dibuja uniendo mínimos crecientes cuando el mercado está al alza, o máximos decrecientes cuando está a la baja.</a:t>
            </a:r>
          </a:p>
          <a:p/>
          <a:p>
            <a:r>
              <a:t>Sirve para marcar la dirección dominante del precio. Es la que seguimos para operar a favor de la estructura general.</a:t>
            </a:r>
          </a:p>
          <a:p/>
          <a:p>
            <a:r>
              <a:t>'Si el precio cada vez hace pisos más altos, trazamos una línea por debajo —esa es la línea de tendencia alcista. Si hace techos más bajos, trazamos una línea por encima —esa es la línea de tendencia bajista.'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Cuando el precio rompe su línea de tendencia, no significa automáticamente que cambió la dirección del mercado; muchas veces, lo que está haciendo es crear una contratendencia para luego volver a testear la línea rota desde el otro lado.</a:t>
            </a:r>
          </a:p>
          <a:p/>
          <a:p>
            <a:r>
              <a:t>Ese testeo es clave: si el precio respeta esa línea rota, ahora desde el lado contrario, suele marcar el momento donde la tendencia principal puede continuar o confirmarse el cambio estructural.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Resumen:</a:t>
            </a:r>
          </a:p>
          <a:p>
            <a:r>
              <a:t>Hoy aprendimos a leer el precio (estructura HH/HL), identificar zonas clave (soportes/resistencias con método de testeos), confirmar con velas y el cierre M5, usar las temporalidades H1→M15→M1, y trazar líneas de tendencia con su rompimiento y retesteo.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Tarea para mañana:</a:t>
            </a:r>
          </a:p>
          <a:p>
            <a:r>
              <a:t>1. Abrir un gráfico y marcar S/R, estructura y línea de tendencia.</a:t>
            </a:r>
          </a:p>
          <a:p>
            <a:r>
              <a:t>2. Buscar ejemplos de cierre M5 que confirma vs. que rechaza.</a:t>
            </a:r>
          </a:p>
          <a:p>
            <a:r>
              <a:t>3. Identificar temporalidades.</a:t>
            </a:r>
          </a:p>
          <a:p>
            <a:r>
              <a:t>4. Repasar lo visto hoy.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A2E"/>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5486400" cy="457200"/>
          </a:xfrm>
          <a:prstGeom prst="rect">
            <a:avLst/>
          </a:prstGeom>
          <a:noFill/>
        </p:spPr>
        <p:txBody>
          <a:bodyPr wrap="square">
            <a:spAutoFit/>
          </a:bodyPr>
          <a:lstStyle/>
          <a:p>
            <a:pPr algn="l">
              <a:defRPr sz="1400" b="1">
                <a:solidFill>
                  <a:srgbClr val="D4A537"/>
                </a:solidFill>
                <a:latin typeface="Arial"/>
              </a:defRPr>
            </a:pPr>
            <a:r>
              <a:t>MÓDULO 1 · ANÁLISIS TÉCNICO</a:t>
            </a:r>
          </a:p>
        </p:txBody>
      </p:sp>
      <p:sp>
        <p:nvSpPr>
          <p:cNvPr id="4" name="TextBox 3"/>
          <p:cNvSpPr txBox="1"/>
          <p:nvPr/>
        </p:nvSpPr>
        <p:spPr>
          <a:xfrm>
            <a:off x="1097280" y="2286000"/>
            <a:ext cx="7315200" cy="1371600"/>
          </a:xfrm>
          <a:prstGeom prst="rect">
            <a:avLst/>
          </a:prstGeom>
          <a:noFill/>
        </p:spPr>
        <p:txBody>
          <a:bodyPr wrap="square">
            <a:spAutoFit/>
          </a:bodyPr>
          <a:lstStyle/>
          <a:p>
            <a:pPr algn="l">
              <a:defRPr sz="4800" b="1">
                <a:solidFill>
                  <a:srgbClr val="FFFFFF"/>
                </a:solidFill>
                <a:latin typeface="Arial"/>
              </a:defRPr>
            </a:pPr>
            <a:r>
              <a:t>Lectura del Precio</a:t>
            </a:r>
            <a:br/>
            <a:r>
              <a:t>y Zonas Clave</a:t>
            </a:r>
          </a:p>
        </p:txBody>
      </p:sp>
      <p:sp>
        <p:nvSpPr>
          <p:cNvPr id="5" name="TextBox 4"/>
          <p:cNvSpPr txBox="1"/>
          <p:nvPr/>
        </p:nvSpPr>
        <p:spPr>
          <a:xfrm>
            <a:off x="1097280" y="4114800"/>
            <a:ext cx="5486400" cy="548640"/>
          </a:xfrm>
          <a:prstGeom prst="rect">
            <a:avLst/>
          </a:prstGeom>
          <a:noFill/>
        </p:spPr>
        <p:txBody>
          <a:bodyPr wrap="square">
            <a:spAutoFit/>
          </a:bodyPr>
          <a:lstStyle/>
          <a:p>
            <a:pPr algn="l">
              <a:defRPr sz="1800" b="0">
                <a:solidFill>
                  <a:srgbClr val="00C9A7"/>
                </a:solidFill>
                <a:latin typeface="Arial"/>
              </a:defRPr>
            </a:pPr>
            <a:r>
              <a:t>Clase 3 · Índices Sintéticos y Forex</a:t>
            </a:r>
          </a:p>
        </p:txBody>
      </p:sp>
      <p:sp>
        <p:nvSpPr>
          <p:cNvPr id="6" name="TextBox 5"/>
          <p:cNvSpPr txBox="1"/>
          <p:nvPr/>
        </p:nvSpPr>
        <p:spPr>
          <a:xfrm>
            <a:off x="1097280" y="5669280"/>
            <a:ext cx="5486400" cy="457200"/>
          </a:xfrm>
          <a:prstGeom prst="rect">
            <a:avLst/>
          </a:prstGeom>
          <a:noFill/>
        </p:spPr>
        <p:txBody>
          <a:bodyPr wrap="square">
            <a:spAutoFit/>
          </a:bodyPr>
          <a:lstStyle/>
          <a:p>
            <a:pPr algn="l">
              <a:defRPr sz="1200" b="0">
                <a:solidFill>
                  <a:srgbClr val="6B7B8D"/>
                </a:solidFill>
                <a:latin typeface="Arial"/>
              </a:defRPr>
            </a:pPr>
            <a:r>
              <a:t>Curso de Trading desde cero</a:t>
            </a:r>
          </a:p>
        </p:txBody>
      </p:sp>
      <p:sp>
        <p:nvSpPr>
          <p:cNvPr id="7" name="Rectangle 6"/>
          <p:cNvSpPr/>
          <p:nvPr/>
        </p:nvSpPr>
        <p:spPr>
          <a:xfrm>
            <a:off x="7772400" y="2560320"/>
            <a:ext cx="137160" cy="54864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27264" y="2423160"/>
            <a:ext cx="27432" cy="82296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0" y="2560320"/>
            <a:ext cx="137160" cy="411480"/>
          </a:xfrm>
          <a:prstGeom prst="rect">
            <a:avLst/>
          </a:prstGeom>
          <a:solidFill>
            <a:srgbClr val="E8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84464" y="2423160"/>
            <a:ext cx="27432" cy="685800"/>
          </a:xfrm>
          <a:prstGeom prst="rect">
            <a:avLst/>
          </a:prstGeom>
          <a:solidFill>
            <a:srgbClr val="E8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0" y="2560320"/>
            <a:ext cx="137160"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741664" y="2423160"/>
            <a:ext cx="27432" cy="9144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0" y="2560320"/>
            <a:ext cx="137160" cy="4572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198864" y="2423160"/>
            <a:ext cx="27432" cy="7315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601200" y="2560320"/>
            <a:ext cx="137160" cy="502920"/>
          </a:xfrm>
          <a:prstGeom prst="rect">
            <a:avLst/>
          </a:prstGeom>
          <a:solidFill>
            <a:srgbClr val="E8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56064" y="2423160"/>
            <a:ext cx="27432" cy="777240"/>
          </a:xfrm>
          <a:prstGeom prst="rect">
            <a:avLst/>
          </a:prstGeom>
          <a:solidFill>
            <a:srgbClr val="E8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58400" y="2560320"/>
            <a:ext cx="137160" cy="7315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113264" y="2423160"/>
            <a:ext cx="27432" cy="100584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515600" y="2560320"/>
            <a:ext cx="137160" cy="365760"/>
          </a:xfrm>
          <a:prstGeom prst="rect">
            <a:avLst/>
          </a:prstGeom>
          <a:solidFill>
            <a:srgbClr val="E8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570464" y="2423160"/>
            <a:ext cx="27432" cy="640080"/>
          </a:xfrm>
          <a:prstGeom prst="rect">
            <a:avLst/>
          </a:prstGeom>
          <a:solidFill>
            <a:srgbClr val="E8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972800" y="2560320"/>
            <a:ext cx="137160" cy="59436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1027664" y="2423160"/>
            <a:ext cx="27432" cy="8686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A2E"/>
        </a:solidFill>
        <a:effectLst/>
      </p:bgPr>
    </p:bg>
    <p:spTree>
      <p:nvGrpSpPr>
        <p:cNvPr id="1" name=""/>
        <p:cNvGrpSpPr/>
        <p:nvPr/>
      </p:nvGrpSpPr>
      <p:grpSpPr/>
      <p:sp>
        <p:nvSpPr>
          <p:cNvPr id="2" name="TextBox 1"/>
          <p:cNvSpPr txBox="1"/>
          <p:nvPr/>
        </p:nvSpPr>
        <p:spPr>
          <a:xfrm>
            <a:off x="914400" y="1371600"/>
            <a:ext cx="2743200" cy="2743200"/>
          </a:xfrm>
          <a:prstGeom prst="rect">
            <a:avLst/>
          </a:prstGeom>
          <a:noFill/>
        </p:spPr>
        <p:txBody>
          <a:bodyPr wrap="square">
            <a:spAutoFit/>
          </a:bodyPr>
          <a:lstStyle/>
          <a:p>
            <a:pPr algn="l">
              <a:defRPr sz="12000" b="1">
                <a:solidFill>
                  <a:srgbClr val="1E3A5F"/>
                </a:solidFill>
                <a:latin typeface="Arial"/>
              </a:defRPr>
            </a:pPr>
            <a:r>
              <a:t>01</a:t>
            </a:r>
          </a:p>
        </p:txBody>
      </p:sp>
      <p:sp>
        <p:nvSpPr>
          <p:cNvPr id="3" name="Rectangle 2"/>
          <p:cNvSpPr/>
          <p:nvPr/>
        </p:nvSpPr>
        <p:spPr>
          <a:xfrm>
            <a:off x="914400" y="3840480"/>
            <a:ext cx="2743200" cy="54864"/>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114800"/>
            <a:ext cx="7315200" cy="1097280"/>
          </a:xfrm>
          <a:prstGeom prst="rect">
            <a:avLst/>
          </a:prstGeom>
          <a:noFill/>
        </p:spPr>
        <p:txBody>
          <a:bodyPr wrap="square">
            <a:spAutoFit/>
          </a:bodyPr>
          <a:lstStyle/>
          <a:p>
            <a:pPr algn="l">
              <a:defRPr sz="3200" b="1">
                <a:solidFill>
                  <a:srgbClr val="FFFFFF"/>
                </a:solidFill>
                <a:latin typeface="Arial"/>
              </a:defRPr>
            </a:pPr>
            <a:r>
              <a:t>Lectura del Precio</a:t>
            </a:r>
          </a:p>
        </p:txBody>
      </p:sp>
      <p:sp>
        <p:nvSpPr>
          <p:cNvPr id="5" name="Rectangle 4"/>
          <p:cNvSpPr/>
          <p:nvPr/>
        </p:nvSpPr>
        <p:spPr>
          <a:xfrm>
            <a:off x="7772400" y="2286000"/>
            <a:ext cx="137160" cy="54864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827264" y="2148840"/>
            <a:ext cx="27432" cy="82296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0" y="2286000"/>
            <a:ext cx="137160" cy="411480"/>
          </a:xfrm>
          <a:prstGeom prst="rect">
            <a:avLst/>
          </a:prstGeom>
          <a:solidFill>
            <a:srgbClr val="E8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84464" y="2148840"/>
            <a:ext cx="27432" cy="685800"/>
          </a:xfrm>
          <a:prstGeom prst="rect">
            <a:avLst/>
          </a:prstGeom>
          <a:solidFill>
            <a:srgbClr val="E8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86800" y="2286000"/>
            <a:ext cx="137160"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741664" y="2148840"/>
            <a:ext cx="27432" cy="9144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4000" y="2286000"/>
            <a:ext cx="137160" cy="4572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98864" y="2148840"/>
            <a:ext cx="27432" cy="7315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601200" y="2286000"/>
            <a:ext cx="137160" cy="502920"/>
          </a:xfrm>
          <a:prstGeom prst="rect">
            <a:avLst/>
          </a:prstGeom>
          <a:solidFill>
            <a:srgbClr val="E8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656064" y="2148840"/>
            <a:ext cx="27432" cy="777240"/>
          </a:xfrm>
          <a:prstGeom prst="rect">
            <a:avLst/>
          </a:prstGeom>
          <a:solidFill>
            <a:srgbClr val="E8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058400" y="2286000"/>
            <a:ext cx="137160" cy="7315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113264" y="2148840"/>
            <a:ext cx="27432" cy="100584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A2E"/>
        </a:solidFill>
        <a:effectLst/>
      </p:bgPr>
    </p:bg>
    <p:spTree>
      <p:nvGrpSpPr>
        <p:cNvPr id="1" name=""/>
        <p:cNvGrpSpPr/>
        <p:nvPr/>
      </p:nvGrpSpPr>
      <p:grpSpPr/>
      <p:sp>
        <p:nvSpPr>
          <p:cNvPr id="2" name="TextBox 1"/>
          <p:cNvSpPr txBox="1"/>
          <p:nvPr/>
        </p:nvSpPr>
        <p:spPr>
          <a:xfrm>
            <a:off x="457200" y="6400800"/>
            <a:ext cx="1371600" cy="365760"/>
          </a:xfrm>
          <a:prstGeom prst="rect">
            <a:avLst/>
          </a:prstGeom>
          <a:noFill/>
        </p:spPr>
        <p:txBody>
          <a:bodyPr wrap="square">
            <a:spAutoFit/>
          </a:bodyPr>
          <a:lstStyle/>
          <a:p>
            <a:pPr algn="l">
              <a:defRPr sz="1000" b="0">
                <a:solidFill>
                  <a:srgbClr val="6B7B8D"/>
                </a:solidFill>
                <a:latin typeface="Arial"/>
              </a:defRPr>
            </a:pPr>
            <a:r>
              <a:t>03 / 17</a:t>
            </a:r>
          </a:p>
        </p:txBody>
      </p:sp>
      <p:sp>
        <p:nvSpPr>
          <p:cNvPr id="3" name="TextBox 2"/>
          <p:cNvSpPr txBox="1"/>
          <p:nvPr/>
        </p:nvSpPr>
        <p:spPr>
          <a:xfrm>
            <a:off x="8534095" y="6400800"/>
            <a:ext cx="3200400" cy="365760"/>
          </a:xfrm>
          <a:prstGeom prst="rect">
            <a:avLst/>
          </a:prstGeom>
          <a:noFill/>
        </p:spPr>
        <p:txBody>
          <a:bodyPr wrap="square">
            <a:spAutoFit/>
          </a:bodyPr>
          <a:lstStyle/>
          <a:p>
            <a:pPr algn="r">
              <a:defRPr sz="1000" b="0">
                <a:solidFill>
                  <a:srgbClr val="6B7B8D"/>
                </a:solidFill>
                <a:latin typeface="Arial"/>
              </a:defRPr>
            </a:pPr>
            <a:r>
              <a:t>Curso de Trading · Índices Sintéticos y Forex</a:t>
            </a:r>
          </a:p>
        </p:txBody>
      </p:sp>
      <p:sp>
        <p:nvSpPr>
          <p:cNvPr id="4" name="TextBox 3"/>
          <p:cNvSpPr txBox="1"/>
          <p:nvPr/>
        </p:nvSpPr>
        <p:spPr>
          <a:xfrm>
            <a:off x="731520" y="457200"/>
            <a:ext cx="9144000" cy="548640"/>
          </a:xfrm>
          <a:prstGeom prst="rect">
            <a:avLst/>
          </a:prstGeom>
          <a:noFill/>
        </p:spPr>
        <p:txBody>
          <a:bodyPr wrap="square">
            <a:spAutoFit/>
          </a:bodyPr>
          <a:lstStyle/>
          <a:p>
            <a:pPr algn="l">
              <a:defRPr sz="3200" b="1">
                <a:solidFill>
                  <a:srgbClr val="FFFFFF"/>
                </a:solidFill>
                <a:latin typeface="Arial"/>
              </a:defRPr>
            </a:pPr>
            <a:r>
              <a:t>El precio habla un lenguaje</a:t>
            </a:r>
          </a:p>
        </p:txBody>
      </p:sp>
      <p:sp>
        <p:nvSpPr>
          <p:cNvPr id="5" name="Rounded Rectangle 4"/>
          <p:cNvSpPr/>
          <p:nvPr/>
        </p:nvSpPr>
        <p:spPr>
          <a:xfrm>
            <a:off x="731520" y="1280160"/>
            <a:ext cx="10058400" cy="1371600"/>
          </a:xfrm>
          <a:prstGeom prst="roundRect">
            <a:avLst/>
          </a:prstGeom>
          <a:solidFill>
            <a:srgbClr val="152D4A"/>
          </a:solidFill>
          <a:ln w="12700">
            <a:solidFill>
              <a:srgbClr val="D4A5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463040"/>
            <a:ext cx="9326880" cy="1188720"/>
          </a:xfrm>
          <a:prstGeom prst="rect">
            <a:avLst/>
          </a:prstGeom>
          <a:noFill/>
        </p:spPr>
        <p:txBody>
          <a:bodyPr wrap="square">
            <a:spAutoFit/>
          </a:bodyPr>
          <a:lstStyle/>
          <a:p>
            <a:pPr algn="l">
              <a:defRPr sz="1600" b="0">
                <a:solidFill>
                  <a:srgbClr val="F0C856"/>
                </a:solidFill>
                <a:latin typeface="Arial"/>
              </a:defRPr>
            </a:pPr>
            <a:r>
              <a:t>"Leer el precio es como leer un lenguaje: las velas nos cuentan una historia.</a:t>
            </a:r>
            <a:br/>
            <a:r>
              <a:t>Cada movimiento, cada rechazo o rompimiento tiene una intención del mercado."</a:t>
            </a:r>
          </a:p>
        </p:txBody>
      </p:sp>
      <p:sp>
        <p:nvSpPr>
          <p:cNvPr id="7" name="TextBox 6"/>
          <p:cNvSpPr txBox="1"/>
          <p:nvPr/>
        </p:nvSpPr>
        <p:spPr>
          <a:xfrm>
            <a:off x="731520" y="3017520"/>
            <a:ext cx="10058400" cy="3200400"/>
          </a:xfrm>
          <a:prstGeom prst="rect">
            <a:avLst/>
          </a:prstGeom>
          <a:noFill/>
        </p:spPr>
        <p:txBody>
          <a:bodyPr wrap="square">
            <a:spAutoFit/>
          </a:bodyPr>
          <a:lstStyle/>
          <a:p>
            <a:pPr>
              <a:spcAft>
                <a:spcPts val="1080"/>
              </a:spcAft>
              <a:defRPr sz="1800">
                <a:solidFill>
                  <a:srgbClr val="FFFFFF"/>
                </a:solidFill>
                <a:latin typeface="Arial"/>
              </a:defRPr>
            </a:pPr>
            <a:r>
              <a:t>▪  HH (Higher High) + HL (Higher Low) = Tendencia ALCISTA</a:t>
            </a:r>
          </a:p>
          <a:p>
            <a:pPr>
              <a:spcAft>
                <a:spcPts val="1080"/>
              </a:spcAft>
              <a:defRPr sz="1800">
                <a:solidFill>
                  <a:srgbClr val="FFFFFF"/>
                </a:solidFill>
                <a:latin typeface="Arial"/>
              </a:defRPr>
            </a:pPr>
            <a:r>
              <a:t>▪  LH (Lower High) + LL (Lower Low) = Tendencia BAJISTA</a:t>
            </a:r>
          </a:p>
          <a:p>
            <a:pPr>
              <a:spcAft>
                <a:spcPts val="1080"/>
              </a:spcAft>
              <a:defRPr sz="1800">
                <a:solidFill>
                  <a:srgbClr val="FFFFFF"/>
                </a:solidFill>
                <a:latin typeface="Arial"/>
              </a:defRPr>
            </a:pPr>
          </a:p>
          <a:p>
            <a:pPr>
              <a:spcAft>
                <a:spcPts val="1080"/>
              </a:spcAft>
              <a:defRPr sz="1800">
                <a:solidFill>
                  <a:srgbClr val="FFFFFF"/>
                </a:solidFill>
                <a:latin typeface="Arial"/>
              </a:defRPr>
            </a:pPr>
            <a:r>
              <a:t>▪  El precio NO se mueve al azar → respeta zonas clave</a:t>
            </a:r>
          </a:p>
          <a:p>
            <a:pPr>
              <a:spcAft>
                <a:spcPts val="1080"/>
              </a:spcAft>
              <a:defRPr sz="1800">
                <a:solidFill>
                  <a:srgbClr val="FFFFFF"/>
                </a:solidFill>
                <a:latin typeface="Arial"/>
              </a:defRPr>
            </a:pPr>
            <a:r>
              <a:t>▪  Lo importante no es adivinar, sino entender la secuencia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A2E"/>
        </a:solidFill>
        <a:effectLst/>
      </p:bgPr>
    </p:bg>
    <p:spTree>
      <p:nvGrpSpPr>
        <p:cNvPr id="1" name=""/>
        <p:cNvGrpSpPr/>
        <p:nvPr/>
      </p:nvGrpSpPr>
      <p:grpSpPr/>
      <p:sp>
        <p:nvSpPr>
          <p:cNvPr id="2" name="TextBox 1"/>
          <p:cNvSpPr txBox="1"/>
          <p:nvPr/>
        </p:nvSpPr>
        <p:spPr>
          <a:xfrm>
            <a:off x="914400" y="1371600"/>
            <a:ext cx="2743200" cy="2743200"/>
          </a:xfrm>
          <a:prstGeom prst="rect">
            <a:avLst/>
          </a:prstGeom>
          <a:noFill/>
        </p:spPr>
        <p:txBody>
          <a:bodyPr wrap="square">
            <a:spAutoFit/>
          </a:bodyPr>
          <a:lstStyle/>
          <a:p>
            <a:pPr algn="l">
              <a:defRPr sz="12000" b="1">
                <a:solidFill>
                  <a:srgbClr val="1E3A5F"/>
                </a:solidFill>
                <a:latin typeface="Arial"/>
              </a:defRPr>
            </a:pPr>
            <a:r>
              <a:t>02</a:t>
            </a:r>
          </a:p>
        </p:txBody>
      </p:sp>
      <p:sp>
        <p:nvSpPr>
          <p:cNvPr id="3" name="Rectangle 2"/>
          <p:cNvSpPr/>
          <p:nvPr/>
        </p:nvSpPr>
        <p:spPr>
          <a:xfrm>
            <a:off x="914400" y="3840480"/>
            <a:ext cx="2743200" cy="54864"/>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114800"/>
            <a:ext cx="7315200" cy="1097280"/>
          </a:xfrm>
          <a:prstGeom prst="rect">
            <a:avLst/>
          </a:prstGeom>
          <a:noFill/>
        </p:spPr>
        <p:txBody>
          <a:bodyPr wrap="square">
            <a:spAutoFit/>
          </a:bodyPr>
          <a:lstStyle/>
          <a:p>
            <a:pPr algn="l">
              <a:defRPr sz="3200" b="1">
                <a:solidFill>
                  <a:srgbClr val="FFFFFF"/>
                </a:solidFill>
                <a:latin typeface="Arial"/>
              </a:defRPr>
            </a:pPr>
            <a:r>
              <a:t>Soportes y Resistencias</a:t>
            </a:r>
          </a:p>
        </p:txBody>
      </p:sp>
      <p:sp>
        <p:nvSpPr>
          <p:cNvPr id="5" name="Rectangle 4"/>
          <p:cNvSpPr/>
          <p:nvPr/>
        </p:nvSpPr>
        <p:spPr>
          <a:xfrm>
            <a:off x="7772400" y="2286000"/>
            <a:ext cx="137160" cy="54864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827264" y="2148840"/>
            <a:ext cx="27432" cy="82296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0" y="2286000"/>
            <a:ext cx="137160" cy="411480"/>
          </a:xfrm>
          <a:prstGeom prst="rect">
            <a:avLst/>
          </a:prstGeom>
          <a:solidFill>
            <a:srgbClr val="E8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84464" y="2148840"/>
            <a:ext cx="27432" cy="685800"/>
          </a:xfrm>
          <a:prstGeom prst="rect">
            <a:avLst/>
          </a:prstGeom>
          <a:solidFill>
            <a:srgbClr val="E8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86800" y="2286000"/>
            <a:ext cx="137160"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741664" y="2148840"/>
            <a:ext cx="27432" cy="9144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4000" y="2286000"/>
            <a:ext cx="137160" cy="4572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98864" y="2148840"/>
            <a:ext cx="27432" cy="7315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601200" y="2286000"/>
            <a:ext cx="137160" cy="502920"/>
          </a:xfrm>
          <a:prstGeom prst="rect">
            <a:avLst/>
          </a:prstGeom>
          <a:solidFill>
            <a:srgbClr val="E8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656064" y="2148840"/>
            <a:ext cx="27432" cy="777240"/>
          </a:xfrm>
          <a:prstGeom prst="rect">
            <a:avLst/>
          </a:prstGeom>
          <a:solidFill>
            <a:srgbClr val="E8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058400" y="2286000"/>
            <a:ext cx="137160" cy="7315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113264" y="2148840"/>
            <a:ext cx="27432" cy="100584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A2E"/>
        </a:solidFill>
        <a:effectLst/>
      </p:bgPr>
    </p:bg>
    <p:spTree>
      <p:nvGrpSpPr>
        <p:cNvPr id="1" name=""/>
        <p:cNvGrpSpPr/>
        <p:nvPr/>
      </p:nvGrpSpPr>
      <p:grpSpPr/>
      <p:sp>
        <p:nvSpPr>
          <p:cNvPr id="2" name="TextBox 1"/>
          <p:cNvSpPr txBox="1"/>
          <p:nvPr/>
        </p:nvSpPr>
        <p:spPr>
          <a:xfrm>
            <a:off x="457200" y="6400800"/>
            <a:ext cx="1371600" cy="365760"/>
          </a:xfrm>
          <a:prstGeom prst="rect">
            <a:avLst/>
          </a:prstGeom>
          <a:noFill/>
        </p:spPr>
        <p:txBody>
          <a:bodyPr wrap="square">
            <a:spAutoFit/>
          </a:bodyPr>
          <a:lstStyle/>
          <a:p>
            <a:pPr algn="l">
              <a:defRPr sz="1000" b="0">
                <a:solidFill>
                  <a:srgbClr val="6B7B8D"/>
                </a:solidFill>
                <a:latin typeface="Arial"/>
              </a:defRPr>
            </a:pPr>
            <a:r>
              <a:t>05 / 17</a:t>
            </a:r>
          </a:p>
        </p:txBody>
      </p:sp>
      <p:sp>
        <p:nvSpPr>
          <p:cNvPr id="3" name="TextBox 2"/>
          <p:cNvSpPr txBox="1"/>
          <p:nvPr/>
        </p:nvSpPr>
        <p:spPr>
          <a:xfrm>
            <a:off x="8534095" y="6400800"/>
            <a:ext cx="3200400" cy="365760"/>
          </a:xfrm>
          <a:prstGeom prst="rect">
            <a:avLst/>
          </a:prstGeom>
          <a:noFill/>
        </p:spPr>
        <p:txBody>
          <a:bodyPr wrap="square">
            <a:spAutoFit/>
          </a:bodyPr>
          <a:lstStyle/>
          <a:p>
            <a:pPr algn="r">
              <a:defRPr sz="1000" b="0">
                <a:solidFill>
                  <a:srgbClr val="6B7B8D"/>
                </a:solidFill>
                <a:latin typeface="Arial"/>
              </a:defRPr>
            </a:pPr>
            <a:r>
              <a:t>Curso de Trading · Índices Sintéticos y Forex</a:t>
            </a:r>
          </a:p>
        </p:txBody>
      </p:sp>
      <p:sp>
        <p:nvSpPr>
          <p:cNvPr id="4" name="TextBox 3"/>
          <p:cNvSpPr txBox="1"/>
          <p:nvPr/>
        </p:nvSpPr>
        <p:spPr>
          <a:xfrm>
            <a:off x="731520" y="457200"/>
            <a:ext cx="9144000" cy="548640"/>
          </a:xfrm>
          <a:prstGeom prst="rect">
            <a:avLst/>
          </a:prstGeom>
          <a:noFill/>
        </p:spPr>
        <p:txBody>
          <a:bodyPr wrap="square">
            <a:spAutoFit/>
          </a:bodyPr>
          <a:lstStyle/>
          <a:p>
            <a:pPr algn="l">
              <a:defRPr sz="3200" b="1">
                <a:solidFill>
                  <a:srgbClr val="FFFFFF"/>
                </a:solidFill>
                <a:latin typeface="Arial"/>
              </a:defRPr>
            </a:pPr>
            <a:r>
              <a:t>Soportes y Resistencias</a:t>
            </a:r>
          </a:p>
        </p:txBody>
      </p:sp>
      <p:sp>
        <p:nvSpPr>
          <p:cNvPr id="5" name="TextBox 4"/>
          <p:cNvSpPr txBox="1"/>
          <p:nvPr/>
        </p:nvSpPr>
        <p:spPr>
          <a:xfrm>
            <a:off x="731520" y="1188720"/>
            <a:ext cx="10058400" cy="731520"/>
          </a:xfrm>
          <a:prstGeom prst="rect">
            <a:avLst/>
          </a:prstGeom>
          <a:noFill/>
        </p:spPr>
        <p:txBody>
          <a:bodyPr wrap="square">
            <a:spAutoFit/>
          </a:bodyPr>
          <a:lstStyle/>
          <a:p>
            <a:pPr algn="l">
              <a:defRPr sz="1800" b="0">
                <a:solidFill>
                  <a:srgbClr val="B0B8C4"/>
                </a:solidFill>
                <a:latin typeface="Arial"/>
              </a:defRPr>
            </a:pPr>
            <a:r>
              <a:t>Zonas donde el precio ha reaccionado varias veces.</a:t>
            </a:r>
            <a:br/>
            <a:r>
              <a:t>No opero al primer toque.</a:t>
            </a:r>
          </a:p>
        </p:txBody>
      </p:sp>
      <p:sp>
        <p:nvSpPr>
          <p:cNvPr id="6" name="Rounded Rectangle 5"/>
          <p:cNvSpPr/>
          <p:nvPr/>
        </p:nvSpPr>
        <p:spPr>
          <a:xfrm>
            <a:off x="731520" y="2103120"/>
            <a:ext cx="10058400" cy="914400"/>
          </a:xfrm>
          <a:prstGeom prst="roundRect">
            <a:avLst/>
          </a:prstGeom>
          <a:solidFill>
            <a:srgbClr val="152D4A"/>
          </a:solidFill>
          <a:ln w="12700">
            <a:solidFill>
              <a:srgbClr val="00C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40280"/>
            <a:ext cx="9326880" cy="731520"/>
          </a:xfrm>
          <a:prstGeom prst="rect">
            <a:avLst/>
          </a:prstGeom>
          <a:noFill/>
        </p:spPr>
        <p:txBody>
          <a:bodyPr wrap="square">
            <a:spAutoFit/>
          </a:bodyPr>
          <a:lstStyle/>
          <a:p>
            <a:pPr algn="l">
              <a:defRPr sz="1700" b="1">
                <a:solidFill>
                  <a:srgbClr val="00C9A7"/>
                </a:solidFill>
                <a:latin typeface="Arial"/>
              </a:defRPr>
            </a:pPr>
            <a:r>
              <a:t>"Espero testeos de confirmación. El último es el operativo."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A2E"/>
        </a:solidFill>
        <a:effectLst/>
      </p:bgPr>
    </p:bg>
    <p:spTree>
      <p:nvGrpSpPr>
        <p:cNvPr id="1" name=""/>
        <p:cNvGrpSpPr/>
        <p:nvPr/>
      </p:nvGrpSpPr>
      <p:grpSpPr/>
      <p:sp>
        <p:nvSpPr>
          <p:cNvPr id="2" name="TextBox 1"/>
          <p:cNvSpPr txBox="1"/>
          <p:nvPr/>
        </p:nvSpPr>
        <p:spPr>
          <a:xfrm>
            <a:off x="457200" y="6400800"/>
            <a:ext cx="1371600" cy="365760"/>
          </a:xfrm>
          <a:prstGeom prst="rect">
            <a:avLst/>
          </a:prstGeom>
          <a:noFill/>
        </p:spPr>
        <p:txBody>
          <a:bodyPr wrap="square">
            <a:spAutoFit/>
          </a:bodyPr>
          <a:lstStyle/>
          <a:p>
            <a:pPr algn="l">
              <a:defRPr sz="1000" b="0">
                <a:solidFill>
                  <a:srgbClr val="6B7B8D"/>
                </a:solidFill>
                <a:latin typeface="Arial"/>
              </a:defRPr>
            </a:pPr>
            <a:r>
              <a:t>06 / 17</a:t>
            </a:r>
          </a:p>
        </p:txBody>
      </p:sp>
      <p:sp>
        <p:nvSpPr>
          <p:cNvPr id="3" name="TextBox 2"/>
          <p:cNvSpPr txBox="1"/>
          <p:nvPr/>
        </p:nvSpPr>
        <p:spPr>
          <a:xfrm>
            <a:off x="8534095" y="6400800"/>
            <a:ext cx="3200400" cy="365760"/>
          </a:xfrm>
          <a:prstGeom prst="rect">
            <a:avLst/>
          </a:prstGeom>
          <a:noFill/>
        </p:spPr>
        <p:txBody>
          <a:bodyPr wrap="square">
            <a:spAutoFit/>
          </a:bodyPr>
          <a:lstStyle/>
          <a:p>
            <a:pPr algn="r">
              <a:defRPr sz="1000" b="0">
                <a:solidFill>
                  <a:srgbClr val="6B7B8D"/>
                </a:solidFill>
                <a:latin typeface="Arial"/>
              </a:defRPr>
            </a:pPr>
            <a:r>
              <a:t>Curso de Trading · Índices Sintéticos y Forex</a:t>
            </a:r>
          </a:p>
        </p:txBody>
      </p:sp>
      <p:sp>
        <p:nvSpPr>
          <p:cNvPr id="4" name="TextBox 3"/>
          <p:cNvSpPr txBox="1"/>
          <p:nvPr/>
        </p:nvSpPr>
        <p:spPr>
          <a:xfrm>
            <a:off x="731520" y="457200"/>
            <a:ext cx="9144000" cy="548640"/>
          </a:xfrm>
          <a:prstGeom prst="rect">
            <a:avLst/>
          </a:prstGeom>
          <a:noFill/>
        </p:spPr>
        <p:txBody>
          <a:bodyPr wrap="square">
            <a:spAutoFit/>
          </a:bodyPr>
          <a:lstStyle/>
          <a:p>
            <a:pPr algn="l">
              <a:defRPr sz="3200" b="1">
                <a:solidFill>
                  <a:srgbClr val="FFFFFF"/>
                </a:solidFill>
                <a:latin typeface="Arial"/>
              </a:defRPr>
            </a:pPr>
            <a:r>
              <a:t>Método de los Testeos</a:t>
            </a:r>
          </a:p>
        </p:txBody>
      </p:sp>
      <p:sp>
        <p:nvSpPr>
          <p:cNvPr id="5" name="Rounded Rectangle 4"/>
          <p:cNvSpPr/>
          <p:nvPr/>
        </p:nvSpPr>
        <p:spPr>
          <a:xfrm>
            <a:off x="457200" y="1371600"/>
            <a:ext cx="3474720" cy="4114800"/>
          </a:xfrm>
          <a:prstGeom prst="roundRect">
            <a:avLst/>
          </a:prstGeom>
          <a:solidFill>
            <a:srgbClr val="152D4A"/>
          </a:solidFill>
          <a:ln w="19050">
            <a:solidFill>
              <a:srgbClr val="6B7B8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54480"/>
            <a:ext cx="2926080" cy="457200"/>
          </a:xfrm>
          <a:prstGeom prst="rect">
            <a:avLst/>
          </a:prstGeom>
          <a:noFill/>
        </p:spPr>
        <p:txBody>
          <a:bodyPr wrap="square">
            <a:spAutoFit/>
          </a:bodyPr>
          <a:lstStyle/>
          <a:p>
            <a:pPr algn="l">
              <a:defRPr sz="1800" b="1">
                <a:solidFill>
                  <a:srgbClr val="6B7B8D"/>
                </a:solidFill>
                <a:latin typeface="Arial"/>
              </a:defRPr>
            </a:pPr>
            <a:r>
              <a:t>1er TOQUE</a:t>
            </a:r>
          </a:p>
        </p:txBody>
      </p:sp>
      <p:sp>
        <p:nvSpPr>
          <p:cNvPr id="7" name="TextBox 6"/>
          <p:cNvSpPr txBox="1"/>
          <p:nvPr/>
        </p:nvSpPr>
        <p:spPr>
          <a:xfrm>
            <a:off x="731520" y="1965960"/>
            <a:ext cx="2926080" cy="3337560"/>
          </a:xfrm>
          <a:prstGeom prst="rect">
            <a:avLst/>
          </a:prstGeom>
          <a:noFill/>
        </p:spPr>
        <p:txBody>
          <a:bodyPr wrap="square">
            <a:spAutoFit/>
          </a:bodyPr>
          <a:lstStyle/>
          <a:p>
            <a:pPr>
              <a:spcAft>
                <a:spcPts val="900"/>
              </a:spcAft>
              <a:defRPr sz="1500">
                <a:solidFill>
                  <a:srgbClr val="B0B8C4"/>
                </a:solidFill>
                <a:latin typeface="Arial"/>
              </a:defRPr>
            </a:pPr>
            <a:r>
              <a:t>El precio 'descubre'</a:t>
            </a:r>
          </a:p>
          <a:p>
            <a:pPr>
              <a:spcAft>
                <a:spcPts val="900"/>
              </a:spcAft>
              <a:defRPr sz="1500">
                <a:solidFill>
                  <a:srgbClr val="B0B8C4"/>
                </a:solidFill>
                <a:latin typeface="Arial"/>
              </a:defRPr>
            </a:pPr>
            <a:r>
              <a:t>la zona.</a:t>
            </a:r>
          </a:p>
          <a:p>
            <a:pPr>
              <a:spcAft>
                <a:spcPts val="900"/>
              </a:spcAft>
              <a:defRPr sz="1500">
                <a:solidFill>
                  <a:srgbClr val="B0B8C4"/>
                </a:solidFill>
                <a:latin typeface="Arial"/>
              </a:defRPr>
            </a:pPr>
          </a:p>
          <a:p>
            <a:pPr>
              <a:spcAft>
                <a:spcPts val="900"/>
              </a:spcAft>
              <a:defRPr sz="1500">
                <a:solidFill>
                  <a:srgbClr val="B0B8C4"/>
                </a:solidFill>
                <a:latin typeface="Arial"/>
              </a:defRPr>
            </a:pPr>
            <a:r>
              <a:t>Primera reacción.</a:t>
            </a:r>
          </a:p>
          <a:p>
            <a:pPr>
              <a:spcAft>
                <a:spcPts val="900"/>
              </a:spcAft>
              <a:defRPr sz="1500">
                <a:solidFill>
                  <a:srgbClr val="B0B8C4"/>
                </a:solidFill>
                <a:latin typeface="Arial"/>
              </a:defRPr>
            </a:pPr>
            <a:r>
              <a:t>Aún no operamos.</a:t>
            </a:r>
          </a:p>
        </p:txBody>
      </p:sp>
      <p:sp>
        <p:nvSpPr>
          <p:cNvPr id="8" name="Rounded Rectangle 7"/>
          <p:cNvSpPr/>
          <p:nvPr/>
        </p:nvSpPr>
        <p:spPr>
          <a:xfrm>
            <a:off x="4297680" y="1371600"/>
            <a:ext cx="3474720" cy="4114800"/>
          </a:xfrm>
          <a:prstGeom prst="roundRect">
            <a:avLst/>
          </a:prstGeom>
          <a:solidFill>
            <a:srgbClr val="152D4A"/>
          </a:solidFill>
          <a:ln w="19050">
            <a:solidFill>
              <a:srgbClr val="D4A5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554480"/>
            <a:ext cx="2926080" cy="457200"/>
          </a:xfrm>
          <a:prstGeom prst="rect">
            <a:avLst/>
          </a:prstGeom>
          <a:noFill/>
        </p:spPr>
        <p:txBody>
          <a:bodyPr wrap="square">
            <a:spAutoFit/>
          </a:bodyPr>
          <a:lstStyle/>
          <a:p>
            <a:pPr algn="l">
              <a:defRPr sz="1800" b="1">
                <a:solidFill>
                  <a:srgbClr val="D4A537"/>
                </a:solidFill>
                <a:latin typeface="Arial"/>
              </a:defRPr>
            </a:pPr>
            <a:r>
              <a:t>2do TOQUE</a:t>
            </a:r>
          </a:p>
        </p:txBody>
      </p:sp>
      <p:sp>
        <p:nvSpPr>
          <p:cNvPr id="10" name="TextBox 9"/>
          <p:cNvSpPr txBox="1"/>
          <p:nvPr/>
        </p:nvSpPr>
        <p:spPr>
          <a:xfrm>
            <a:off x="4572000" y="1965960"/>
            <a:ext cx="2926080" cy="3337560"/>
          </a:xfrm>
          <a:prstGeom prst="rect">
            <a:avLst/>
          </a:prstGeom>
          <a:noFill/>
        </p:spPr>
        <p:txBody>
          <a:bodyPr wrap="square">
            <a:spAutoFit/>
          </a:bodyPr>
          <a:lstStyle/>
          <a:p>
            <a:pPr>
              <a:spcAft>
                <a:spcPts val="900"/>
              </a:spcAft>
              <a:defRPr sz="1500">
                <a:solidFill>
                  <a:srgbClr val="B0B8C4"/>
                </a:solidFill>
                <a:latin typeface="Arial"/>
              </a:defRPr>
            </a:pPr>
            <a:r>
              <a:t>Confirma que el área</a:t>
            </a:r>
          </a:p>
          <a:p>
            <a:pPr>
              <a:spcAft>
                <a:spcPts val="900"/>
              </a:spcAft>
              <a:defRPr sz="1500">
                <a:solidFill>
                  <a:srgbClr val="B0B8C4"/>
                </a:solidFill>
                <a:latin typeface="Arial"/>
              </a:defRPr>
            </a:pPr>
            <a:r>
              <a:t>tiene fuerza.</a:t>
            </a:r>
          </a:p>
          <a:p>
            <a:pPr>
              <a:spcAft>
                <a:spcPts val="900"/>
              </a:spcAft>
              <a:defRPr sz="1500">
                <a:solidFill>
                  <a:srgbClr val="B0B8C4"/>
                </a:solidFill>
                <a:latin typeface="Arial"/>
              </a:defRPr>
            </a:pPr>
          </a:p>
          <a:p>
            <a:pPr>
              <a:spcAft>
                <a:spcPts val="900"/>
              </a:spcAft>
              <a:defRPr sz="1500">
                <a:solidFill>
                  <a:srgbClr val="B0B8C4"/>
                </a:solidFill>
                <a:latin typeface="Arial"/>
              </a:defRPr>
            </a:pPr>
            <a:r>
              <a:t>Valida la zona.</a:t>
            </a:r>
          </a:p>
          <a:p>
            <a:pPr>
              <a:spcAft>
                <a:spcPts val="900"/>
              </a:spcAft>
              <a:defRPr sz="1500">
                <a:solidFill>
                  <a:srgbClr val="B0B8C4"/>
                </a:solidFill>
                <a:latin typeface="Arial"/>
              </a:defRPr>
            </a:pPr>
            <a:r>
              <a:t>Aún no operamos.</a:t>
            </a:r>
          </a:p>
        </p:txBody>
      </p:sp>
      <p:sp>
        <p:nvSpPr>
          <p:cNvPr id="11" name="Rounded Rectangle 10"/>
          <p:cNvSpPr/>
          <p:nvPr/>
        </p:nvSpPr>
        <p:spPr>
          <a:xfrm>
            <a:off x="8138160" y="1371600"/>
            <a:ext cx="3474720" cy="4114800"/>
          </a:xfrm>
          <a:prstGeom prst="roundRect">
            <a:avLst/>
          </a:prstGeom>
          <a:solidFill>
            <a:srgbClr val="152D4A"/>
          </a:solidFill>
          <a:ln w="19050">
            <a:solidFill>
              <a:srgbClr val="00C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1554480"/>
            <a:ext cx="2926080" cy="457200"/>
          </a:xfrm>
          <a:prstGeom prst="rect">
            <a:avLst/>
          </a:prstGeom>
          <a:noFill/>
        </p:spPr>
        <p:txBody>
          <a:bodyPr wrap="square">
            <a:spAutoFit/>
          </a:bodyPr>
          <a:lstStyle/>
          <a:p>
            <a:pPr algn="l">
              <a:defRPr sz="1800" b="1">
                <a:solidFill>
                  <a:srgbClr val="00C9A7"/>
                </a:solidFill>
                <a:latin typeface="Arial"/>
              </a:defRPr>
            </a:pPr>
            <a:r>
              <a:t>3er TOQUE ✓</a:t>
            </a:r>
          </a:p>
        </p:txBody>
      </p:sp>
      <p:sp>
        <p:nvSpPr>
          <p:cNvPr id="13" name="TextBox 12"/>
          <p:cNvSpPr txBox="1"/>
          <p:nvPr/>
        </p:nvSpPr>
        <p:spPr>
          <a:xfrm>
            <a:off x="8412480" y="1965960"/>
            <a:ext cx="2926080" cy="3337560"/>
          </a:xfrm>
          <a:prstGeom prst="rect">
            <a:avLst/>
          </a:prstGeom>
          <a:noFill/>
        </p:spPr>
        <p:txBody>
          <a:bodyPr wrap="square">
            <a:spAutoFit/>
          </a:bodyPr>
          <a:lstStyle/>
          <a:p>
            <a:pPr>
              <a:spcAft>
                <a:spcPts val="900"/>
              </a:spcAft>
              <a:defRPr sz="1500">
                <a:solidFill>
                  <a:srgbClr val="B0B8C4"/>
                </a:solidFill>
                <a:latin typeface="Arial"/>
              </a:defRPr>
            </a:pPr>
            <a:r>
              <a:t>OPERATIVO</a:t>
            </a:r>
          </a:p>
          <a:p>
            <a:pPr>
              <a:spcAft>
                <a:spcPts val="900"/>
              </a:spcAft>
              <a:defRPr sz="1500">
                <a:solidFill>
                  <a:srgbClr val="B0B8C4"/>
                </a:solidFill>
                <a:latin typeface="Arial"/>
              </a:defRPr>
            </a:pPr>
          </a:p>
          <a:p>
            <a:pPr>
              <a:spcAft>
                <a:spcPts val="900"/>
              </a:spcAft>
              <a:defRPr sz="1500">
                <a:solidFill>
                  <a:srgbClr val="B0B8C4"/>
                </a:solidFill>
                <a:latin typeface="Arial"/>
              </a:defRPr>
            </a:pPr>
            <a:r>
              <a:t>Busco entrada si</a:t>
            </a:r>
          </a:p>
          <a:p>
            <a:pPr>
              <a:spcAft>
                <a:spcPts val="900"/>
              </a:spcAft>
              <a:defRPr sz="1500">
                <a:solidFill>
                  <a:srgbClr val="B0B8C4"/>
                </a:solidFill>
                <a:latin typeface="Arial"/>
              </a:defRPr>
            </a:pPr>
            <a:r>
              <a:t>coincide con:</a:t>
            </a:r>
          </a:p>
          <a:p>
            <a:pPr>
              <a:spcAft>
                <a:spcPts val="900"/>
              </a:spcAft>
              <a:defRPr sz="1500">
                <a:solidFill>
                  <a:srgbClr val="B0B8C4"/>
                </a:solidFill>
                <a:latin typeface="Arial"/>
              </a:defRPr>
            </a:pPr>
            <a:r>
              <a:t>• Estructura</a:t>
            </a:r>
          </a:p>
          <a:p>
            <a:pPr>
              <a:spcAft>
                <a:spcPts val="900"/>
              </a:spcAft>
              <a:defRPr sz="1500">
                <a:solidFill>
                  <a:srgbClr val="B0B8C4"/>
                </a:solidFill>
                <a:latin typeface="Arial"/>
              </a:defRPr>
            </a:pPr>
            <a:r>
              <a:t>• Hora</a:t>
            </a:r>
          </a:p>
          <a:p>
            <a:pPr>
              <a:spcAft>
                <a:spcPts val="900"/>
              </a:spcAft>
              <a:defRPr sz="1500">
                <a:solidFill>
                  <a:srgbClr val="B0B8C4"/>
                </a:solidFill>
                <a:latin typeface="Arial"/>
              </a:defRPr>
            </a:pPr>
            <a:r>
              <a:t>• Confirmación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A2E"/>
        </a:solidFill>
        <a:effectLst/>
      </p:bgPr>
    </p:bg>
    <p:spTree>
      <p:nvGrpSpPr>
        <p:cNvPr id="1" name=""/>
        <p:cNvGrpSpPr/>
        <p:nvPr/>
      </p:nvGrpSpPr>
      <p:grpSpPr/>
      <p:sp>
        <p:nvSpPr>
          <p:cNvPr id="2" name="TextBox 1"/>
          <p:cNvSpPr txBox="1"/>
          <p:nvPr/>
        </p:nvSpPr>
        <p:spPr>
          <a:xfrm>
            <a:off x="914400" y="1371600"/>
            <a:ext cx="2743200" cy="2743200"/>
          </a:xfrm>
          <a:prstGeom prst="rect">
            <a:avLst/>
          </a:prstGeom>
          <a:noFill/>
        </p:spPr>
        <p:txBody>
          <a:bodyPr wrap="square">
            <a:spAutoFit/>
          </a:bodyPr>
          <a:lstStyle/>
          <a:p>
            <a:pPr algn="l">
              <a:defRPr sz="12000" b="1">
                <a:solidFill>
                  <a:srgbClr val="1E3A5F"/>
                </a:solidFill>
                <a:latin typeface="Arial"/>
              </a:defRPr>
            </a:pPr>
            <a:r>
              <a:t>03</a:t>
            </a:r>
          </a:p>
        </p:txBody>
      </p:sp>
      <p:sp>
        <p:nvSpPr>
          <p:cNvPr id="3" name="Rectangle 2"/>
          <p:cNvSpPr/>
          <p:nvPr/>
        </p:nvSpPr>
        <p:spPr>
          <a:xfrm>
            <a:off x="914400" y="3840480"/>
            <a:ext cx="2743200" cy="54864"/>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114800"/>
            <a:ext cx="7315200" cy="1097280"/>
          </a:xfrm>
          <a:prstGeom prst="rect">
            <a:avLst/>
          </a:prstGeom>
          <a:noFill/>
        </p:spPr>
        <p:txBody>
          <a:bodyPr wrap="square">
            <a:spAutoFit/>
          </a:bodyPr>
          <a:lstStyle/>
          <a:p>
            <a:pPr algn="l">
              <a:defRPr sz="3200" b="1">
                <a:solidFill>
                  <a:srgbClr val="FFFFFF"/>
                </a:solidFill>
                <a:latin typeface="Arial"/>
              </a:defRPr>
            </a:pPr>
            <a:r>
              <a:t>Confirmación con Velas</a:t>
            </a:r>
          </a:p>
        </p:txBody>
      </p:sp>
      <p:sp>
        <p:nvSpPr>
          <p:cNvPr id="5" name="Rectangle 4"/>
          <p:cNvSpPr/>
          <p:nvPr/>
        </p:nvSpPr>
        <p:spPr>
          <a:xfrm>
            <a:off x="7772400" y="2286000"/>
            <a:ext cx="137160" cy="54864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827264" y="2148840"/>
            <a:ext cx="27432" cy="82296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0" y="2286000"/>
            <a:ext cx="137160" cy="411480"/>
          </a:xfrm>
          <a:prstGeom prst="rect">
            <a:avLst/>
          </a:prstGeom>
          <a:solidFill>
            <a:srgbClr val="E8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84464" y="2148840"/>
            <a:ext cx="27432" cy="685800"/>
          </a:xfrm>
          <a:prstGeom prst="rect">
            <a:avLst/>
          </a:prstGeom>
          <a:solidFill>
            <a:srgbClr val="E8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86800" y="2286000"/>
            <a:ext cx="137160"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741664" y="2148840"/>
            <a:ext cx="27432" cy="9144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4000" y="2286000"/>
            <a:ext cx="137160" cy="4572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98864" y="2148840"/>
            <a:ext cx="27432" cy="7315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601200" y="2286000"/>
            <a:ext cx="137160" cy="502920"/>
          </a:xfrm>
          <a:prstGeom prst="rect">
            <a:avLst/>
          </a:prstGeom>
          <a:solidFill>
            <a:srgbClr val="E8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656064" y="2148840"/>
            <a:ext cx="27432" cy="777240"/>
          </a:xfrm>
          <a:prstGeom prst="rect">
            <a:avLst/>
          </a:prstGeom>
          <a:solidFill>
            <a:srgbClr val="E8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058400" y="2286000"/>
            <a:ext cx="137160" cy="7315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113264" y="2148840"/>
            <a:ext cx="27432" cy="100584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A2E"/>
        </a:solidFill>
        <a:effectLst/>
      </p:bgPr>
    </p:bg>
    <p:spTree>
      <p:nvGrpSpPr>
        <p:cNvPr id="1" name=""/>
        <p:cNvGrpSpPr/>
        <p:nvPr/>
      </p:nvGrpSpPr>
      <p:grpSpPr/>
      <p:sp>
        <p:nvSpPr>
          <p:cNvPr id="2" name="TextBox 1"/>
          <p:cNvSpPr txBox="1"/>
          <p:nvPr/>
        </p:nvSpPr>
        <p:spPr>
          <a:xfrm>
            <a:off x="457200" y="6400800"/>
            <a:ext cx="1371600" cy="365760"/>
          </a:xfrm>
          <a:prstGeom prst="rect">
            <a:avLst/>
          </a:prstGeom>
          <a:noFill/>
        </p:spPr>
        <p:txBody>
          <a:bodyPr wrap="square">
            <a:spAutoFit/>
          </a:bodyPr>
          <a:lstStyle/>
          <a:p>
            <a:pPr algn="l">
              <a:defRPr sz="1000" b="0">
                <a:solidFill>
                  <a:srgbClr val="6B7B8D"/>
                </a:solidFill>
                <a:latin typeface="Arial"/>
              </a:defRPr>
            </a:pPr>
            <a:r>
              <a:t>08 / 17</a:t>
            </a:r>
          </a:p>
        </p:txBody>
      </p:sp>
      <p:sp>
        <p:nvSpPr>
          <p:cNvPr id="3" name="TextBox 2"/>
          <p:cNvSpPr txBox="1"/>
          <p:nvPr/>
        </p:nvSpPr>
        <p:spPr>
          <a:xfrm>
            <a:off x="8534095" y="6400800"/>
            <a:ext cx="3200400" cy="365760"/>
          </a:xfrm>
          <a:prstGeom prst="rect">
            <a:avLst/>
          </a:prstGeom>
          <a:noFill/>
        </p:spPr>
        <p:txBody>
          <a:bodyPr wrap="square">
            <a:spAutoFit/>
          </a:bodyPr>
          <a:lstStyle/>
          <a:p>
            <a:pPr algn="r">
              <a:defRPr sz="1000" b="0">
                <a:solidFill>
                  <a:srgbClr val="6B7B8D"/>
                </a:solidFill>
                <a:latin typeface="Arial"/>
              </a:defRPr>
            </a:pPr>
            <a:r>
              <a:t>Curso de Trading · Índices Sintéticos y Forex</a:t>
            </a:r>
          </a:p>
        </p:txBody>
      </p:sp>
      <p:sp>
        <p:nvSpPr>
          <p:cNvPr id="4" name="TextBox 3"/>
          <p:cNvSpPr txBox="1"/>
          <p:nvPr/>
        </p:nvSpPr>
        <p:spPr>
          <a:xfrm>
            <a:off x="731520" y="457200"/>
            <a:ext cx="9144000" cy="548640"/>
          </a:xfrm>
          <a:prstGeom prst="rect">
            <a:avLst/>
          </a:prstGeom>
          <a:noFill/>
        </p:spPr>
        <p:txBody>
          <a:bodyPr wrap="square">
            <a:spAutoFit/>
          </a:bodyPr>
          <a:lstStyle/>
          <a:p>
            <a:pPr algn="l">
              <a:defRPr sz="3200" b="1">
                <a:solidFill>
                  <a:srgbClr val="FFFFFF"/>
                </a:solidFill>
                <a:latin typeface="Arial"/>
              </a:defRPr>
            </a:pPr>
            <a:r>
              <a:t>Patrones de Vela como Confirmación</a:t>
            </a:r>
          </a:p>
        </p:txBody>
      </p:sp>
      <p:sp>
        <p:nvSpPr>
          <p:cNvPr id="5" name="TextBox 4"/>
          <p:cNvSpPr txBox="1"/>
          <p:nvPr/>
        </p:nvSpPr>
        <p:spPr>
          <a:xfrm>
            <a:off x="731520" y="1188720"/>
            <a:ext cx="10058400" cy="548640"/>
          </a:xfrm>
          <a:prstGeom prst="rect">
            <a:avLst/>
          </a:prstGeom>
          <a:noFill/>
        </p:spPr>
        <p:txBody>
          <a:bodyPr wrap="square">
            <a:spAutoFit/>
          </a:bodyPr>
          <a:lstStyle/>
          <a:p>
            <a:pPr algn="l">
              <a:defRPr sz="1800" b="0">
                <a:solidFill>
                  <a:srgbClr val="B0B8C4"/>
                </a:solidFill>
                <a:latin typeface="Arial"/>
              </a:defRPr>
            </a:pPr>
            <a:r>
              <a:t>Los patrones NO se operan solos. Son confirmación dentro de un contexto.</a:t>
            </a:r>
          </a:p>
        </p:txBody>
      </p:sp>
      <p:sp>
        <p:nvSpPr>
          <p:cNvPr id="6" name="Rounded Rectangle 5"/>
          <p:cNvSpPr/>
          <p:nvPr/>
        </p:nvSpPr>
        <p:spPr>
          <a:xfrm>
            <a:off x="457200" y="2103120"/>
            <a:ext cx="3474720" cy="3200400"/>
          </a:xfrm>
          <a:prstGeom prst="roundRect">
            <a:avLst/>
          </a:prstGeom>
          <a:solidFill>
            <a:srgbClr val="152D4A"/>
          </a:solidFill>
          <a:ln w="19050">
            <a:solidFill>
              <a:srgbClr val="D4A5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286000"/>
            <a:ext cx="2926080" cy="457200"/>
          </a:xfrm>
          <a:prstGeom prst="rect">
            <a:avLst/>
          </a:prstGeom>
          <a:noFill/>
        </p:spPr>
        <p:txBody>
          <a:bodyPr wrap="square">
            <a:spAutoFit/>
          </a:bodyPr>
          <a:lstStyle/>
          <a:p>
            <a:pPr algn="l">
              <a:defRPr sz="1600" b="1">
                <a:solidFill>
                  <a:srgbClr val="D4A537"/>
                </a:solidFill>
                <a:latin typeface="Arial"/>
              </a:defRPr>
            </a:pPr>
            <a:r>
              <a:t>ZONA CLAVE</a:t>
            </a:r>
          </a:p>
        </p:txBody>
      </p:sp>
      <p:sp>
        <p:nvSpPr>
          <p:cNvPr id="8" name="TextBox 7"/>
          <p:cNvSpPr txBox="1"/>
          <p:nvPr/>
        </p:nvSpPr>
        <p:spPr>
          <a:xfrm>
            <a:off x="731520" y="2697480"/>
            <a:ext cx="2926080" cy="2423160"/>
          </a:xfrm>
          <a:prstGeom prst="rect">
            <a:avLst/>
          </a:prstGeom>
          <a:noFill/>
        </p:spPr>
        <p:txBody>
          <a:bodyPr wrap="square">
            <a:spAutoFit/>
          </a:bodyPr>
          <a:lstStyle/>
          <a:p>
            <a:pPr>
              <a:spcAft>
                <a:spcPts val="840"/>
              </a:spcAft>
              <a:defRPr sz="1400">
                <a:solidFill>
                  <a:srgbClr val="B0B8C4"/>
                </a:solidFill>
                <a:latin typeface="Arial"/>
              </a:defRPr>
            </a:pPr>
            <a:r>
              <a:t>Soporte, resistencia</a:t>
            </a:r>
          </a:p>
          <a:p>
            <a:pPr>
              <a:spcAft>
                <a:spcPts val="840"/>
              </a:spcAft>
              <a:defRPr sz="1400">
                <a:solidFill>
                  <a:srgbClr val="B0B8C4"/>
                </a:solidFill>
                <a:latin typeface="Arial"/>
              </a:defRPr>
            </a:pPr>
            <a:r>
              <a:t>u otra zona relevante.</a:t>
            </a:r>
          </a:p>
          <a:p>
            <a:pPr>
              <a:spcAft>
                <a:spcPts val="840"/>
              </a:spcAft>
              <a:defRPr sz="1400">
                <a:solidFill>
                  <a:srgbClr val="B0B8C4"/>
                </a:solidFill>
                <a:latin typeface="Arial"/>
              </a:defRPr>
            </a:pPr>
          </a:p>
          <a:p>
            <a:pPr>
              <a:spcAft>
                <a:spcPts val="840"/>
              </a:spcAft>
              <a:defRPr sz="1400">
                <a:solidFill>
                  <a:srgbClr val="B0B8C4"/>
                </a:solidFill>
                <a:latin typeface="Arial"/>
              </a:defRPr>
            </a:pPr>
            <a:r>
              <a:t>Sin zona = sin trade.</a:t>
            </a:r>
          </a:p>
        </p:txBody>
      </p:sp>
      <p:sp>
        <p:nvSpPr>
          <p:cNvPr id="9" name="Rounded Rectangle 8"/>
          <p:cNvSpPr/>
          <p:nvPr/>
        </p:nvSpPr>
        <p:spPr>
          <a:xfrm>
            <a:off x="4297680" y="2103120"/>
            <a:ext cx="3474720" cy="3200400"/>
          </a:xfrm>
          <a:prstGeom prst="roundRect">
            <a:avLst/>
          </a:prstGeom>
          <a:solidFill>
            <a:srgbClr val="152D4A"/>
          </a:solidFill>
          <a:ln w="19050">
            <a:solidFill>
              <a:srgbClr val="00C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2286000"/>
            <a:ext cx="2926080" cy="457200"/>
          </a:xfrm>
          <a:prstGeom prst="rect">
            <a:avLst/>
          </a:prstGeom>
          <a:noFill/>
        </p:spPr>
        <p:txBody>
          <a:bodyPr wrap="square">
            <a:spAutoFit/>
          </a:bodyPr>
          <a:lstStyle/>
          <a:p>
            <a:pPr algn="l">
              <a:defRPr sz="1600" b="1">
                <a:solidFill>
                  <a:srgbClr val="00C9A7"/>
                </a:solidFill>
                <a:latin typeface="Arial"/>
              </a:defRPr>
            </a:pPr>
            <a:r>
              <a:t>HORA RELEVANTE</a:t>
            </a:r>
          </a:p>
        </p:txBody>
      </p:sp>
      <p:sp>
        <p:nvSpPr>
          <p:cNvPr id="11" name="TextBox 10"/>
          <p:cNvSpPr txBox="1"/>
          <p:nvPr/>
        </p:nvSpPr>
        <p:spPr>
          <a:xfrm>
            <a:off x="4572000" y="2697480"/>
            <a:ext cx="2926080" cy="2423160"/>
          </a:xfrm>
          <a:prstGeom prst="rect">
            <a:avLst/>
          </a:prstGeom>
          <a:noFill/>
        </p:spPr>
        <p:txBody>
          <a:bodyPr wrap="square">
            <a:spAutoFit/>
          </a:bodyPr>
          <a:lstStyle/>
          <a:p>
            <a:pPr>
              <a:spcAft>
                <a:spcPts val="840"/>
              </a:spcAft>
              <a:defRPr sz="1400">
                <a:solidFill>
                  <a:srgbClr val="B0B8C4"/>
                </a:solidFill>
                <a:latin typeface="Arial"/>
              </a:defRPr>
            </a:pPr>
            <a:r>
              <a:t>Esperar el cierre de</a:t>
            </a:r>
          </a:p>
          <a:p>
            <a:pPr>
              <a:spcAft>
                <a:spcPts val="840"/>
              </a:spcAft>
              <a:defRPr sz="1400">
                <a:solidFill>
                  <a:srgbClr val="B0B8C4"/>
                </a:solidFill>
                <a:latin typeface="Arial"/>
              </a:defRPr>
            </a:pPr>
            <a:r>
              <a:t>la vela M5.</a:t>
            </a:r>
          </a:p>
          <a:p>
            <a:pPr>
              <a:spcAft>
                <a:spcPts val="840"/>
              </a:spcAft>
              <a:defRPr sz="1400">
                <a:solidFill>
                  <a:srgbClr val="B0B8C4"/>
                </a:solidFill>
                <a:latin typeface="Arial"/>
              </a:defRPr>
            </a:pPr>
          </a:p>
          <a:p>
            <a:pPr>
              <a:spcAft>
                <a:spcPts val="840"/>
              </a:spcAft>
              <a:defRPr sz="1400">
                <a:solidFill>
                  <a:srgbClr val="B0B8C4"/>
                </a:solidFill>
                <a:latin typeface="Arial"/>
              </a:defRPr>
            </a:pPr>
            <a:r>
              <a:t>La hora importa tanto</a:t>
            </a:r>
          </a:p>
          <a:p>
            <a:pPr>
              <a:spcAft>
                <a:spcPts val="840"/>
              </a:spcAft>
              <a:defRPr sz="1400">
                <a:solidFill>
                  <a:srgbClr val="B0B8C4"/>
                </a:solidFill>
                <a:latin typeface="Arial"/>
              </a:defRPr>
            </a:pPr>
            <a:r>
              <a:t>como la zona.</a:t>
            </a:r>
          </a:p>
        </p:txBody>
      </p:sp>
      <p:sp>
        <p:nvSpPr>
          <p:cNvPr id="12" name="Rounded Rectangle 11"/>
          <p:cNvSpPr/>
          <p:nvPr/>
        </p:nvSpPr>
        <p:spPr>
          <a:xfrm>
            <a:off x="8138160" y="2103120"/>
            <a:ext cx="3474720" cy="3200400"/>
          </a:xfrm>
          <a:prstGeom prst="roundRect">
            <a:avLst/>
          </a:prstGeom>
          <a:solidFill>
            <a:srgbClr val="152D4A"/>
          </a:solidFill>
          <a:ln w="1905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0" y="2286000"/>
            <a:ext cx="2926080" cy="457200"/>
          </a:xfrm>
          <a:prstGeom prst="rect">
            <a:avLst/>
          </a:prstGeom>
          <a:noFill/>
        </p:spPr>
        <p:txBody>
          <a:bodyPr wrap="square">
            <a:spAutoFit/>
          </a:bodyPr>
          <a:lstStyle/>
          <a:p>
            <a:pPr algn="l">
              <a:defRPr sz="1600" b="1">
                <a:solidFill>
                  <a:srgbClr val="2ECC71"/>
                </a:solidFill>
                <a:latin typeface="Arial"/>
              </a:defRPr>
            </a:pPr>
            <a:r>
              <a:t>PATRÓN DE VELA</a:t>
            </a:r>
          </a:p>
        </p:txBody>
      </p:sp>
      <p:sp>
        <p:nvSpPr>
          <p:cNvPr id="14" name="TextBox 13"/>
          <p:cNvSpPr txBox="1"/>
          <p:nvPr/>
        </p:nvSpPr>
        <p:spPr>
          <a:xfrm>
            <a:off x="8412480" y="2697480"/>
            <a:ext cx="2926080" cy="2423160"/>
          </a:xfrm>
          <a:prstGeom prst="rect">
            <a:avLst/>
          </a:prstGeom>
          <a:noFill/>
        </p:spPr>
        <p:txBody>
          <a:bodyPr wrap="square">
            <a:spAutoFit/>
          </a:bodyPr>
          <a:lstStyle/>
          <a:p>
            <a:pPr>
              <a:spcAft>
                <a:spcPts val="840"/>
              </a:spcAft>
              <a:defRPr sz="1400">
                <a:solidFill>
                  <a:srgbClr val="B0B8C4"/>
                </a:solidFill>
                <a:latin typeface="Arial"/>
              </a:defRPr>
            </a:pPr>
            <a:r>
              <a:t>Envolvente, martillo,</a:t>
            </a:r>
          </a:p>
          <a:p>
            <a:pPr>
              <a:spcAft>
                <a:spcPts val="840"/>
              </a:spcAft>
              <a:defRPr sz="1400">
                <a:solidFill>
                  <a:srgbClr val="B0B8C4"/>
                </a:solidFill>
                <a:latin typeface="Arial"/>
              </a:defRPr>
            </a:pPr>
            <a:r>
              <a:t>rechazo, doji...</a:t>
            </a:r>
          </a:p>
          <a:p>
            <a:pPr>
              <a:spcAft>
                <a:spcPts val="840"/>
              </a:spcAft>
              <a:defRPr sz="1400">
                <a:solidFill>
                  <a:srgbClr val="B0B8C4"/>
                </a:solidFill>
                <a:latin typeface="Arial"/>
              </a:defRPr>
            </a:pPr>
          </a:p>
          <a:p>
            <a:pPr>
              <a:spcAft>
                <a:spcPts val="840"/>
              </a:spcAft>
              <a:defRPr sz="1400">
                <a:solidFill>
                  <a:srgbClr val="B0B8C4"/>
                </a:solidFill>
                <a:latin typeface="Arial"/>
              </a:defRPr>
            </a:pPr>
            <a:r>
              <a:t>Solo valen en zona +</a:t>
            </a:r>
          </a:p>
          <a:p>
            <a:pPr>
              <a:spcAft>
                <a:spcPts val="840"/>
              </a:spcAft>
              <a:defRPr sz="1400">
                <a:solidFill>
                  <a:srgbClr val="B0B8C4"/>
                </a:solidFill>
                <a:latin typeface="Arial"/>
              </a:defRPr>
            </a:pPr>
            <a:r>
              <a:t>hora correcta.</a:t>
            </a:r>
          </a:p>
        </p:txBody>
      </p:sp>
      <p:sp>
        <p:nvSpPr>
          <p:cNvPr id="15" name="TextBox 14"/>
          <p:cNvSpPr txBox="1"/>
          <p:nvPr/>
        </p:nvSpPr>
        <p:spPr>
          <a:xfrm>
            <a:off x="731520" y="5669280"/>
            <a:ext cx="10058400" cy="457200"/>
          </a:xfrm>
          <a:prstGeom prst="rect">
            <a:avLst/>
          </a:prstGeom>
          <a:noFill/>
        </p:spPr>
        <p:txBody>
          <a:bodyPr wrap="square">
            <a:spAutoFit/>
          </a:bodyPr>
          <a:lstStyle/>
          <a:p>
            <a:pPr algn="ctr">
              <a:defRPr sz="1600" b="1">
                <a:solidFill>
                  <a:srgbClr val="D4A537"/>
                </a:solidFill>
                <a:latin typeface="Arial"/>
              </a:defRPr>
            </a:pPr>
            <a:r>
              <a:t>ZONA + HORA + PATRÓN = Confluencia de confirmación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A2E"/>
        </a:solidFill>
        <a:effectLst/>
      </p:bgPr>
    </p:bg>
    <p:spTree>
      <p:nvGrpSpPr>
        <p:cNvPr id="1" name=""/>
        <p:cNvGrpSpPr/>
        <p:nvPr/>
      </p:nvGrpSpPr>
      <p:grpSpPr/>
      <p:sp>
        <p:nvSpPr>
          <p:cNvPr id="2" name="TextBox 1"/>
          <p:cNvSpPr txBox="1"/>
          <p:nvPr/>
        </p:nvSpPr>
        <p:spPr>
          <a:xfrm>
            <a:off x="457200" y="6400800"/>
            <a:ext cx="1371600" cy="365760"/>
          </a:xfrm>
          <a:prstGeom prst="rect">
            <a:avLst/>
          </a:prstGeom>
          <a:noFill/>
        </p:spPr>
        <p:txBody>
          <a:bodyPr wrap="square">
            <a:spAutoFit/>
          </a:bodyPr>
          <a:lstStyle/>
          <a:p>
            <a:pPr algn="l">
              <a:defRPr sz="1000" b="0">
                <a:solidFill>
                  <a:srgbClr val="6B7B8D"/>
                </a:solidFill>
                <a:latin typeface="Arial"/>
              </a:defRPr>
            </a:pPr>
            <a:r>
              <a:t>09 / 17</a:t>
            </a:r>
          </a:p>
        </p:txBody>
      </p:sp>
      <p:sp>
        <p:nvSpPr>
          <p:cNvPr id="3" name="TextBox 2"/>
          <p:cNvSpPr txBox="1"/>
          <p:nvPr/>
        </p:nvSpPr>
        <p:spPr>
          <a:xfrm>
            <a:off x="8534095" y="6400800"/>
            <a:ext cx="3200400" cy="365760"/>
          </a:xfrm>
          <a:prstGeom prst="rect">
            <a:avLst/>
          </a:prstGeom>
          <a:noFill/>
        </p:spPr>
        <p:txBody>
          <a:bodyPr wrap="square">
            <a:spAutoFit/>
          </a:bodyPr>
          <a:lstStyle/>
          <a:p>
            <a:pPr algn="r">
              <a:defRPr sz="1000" b="0">
                <a:solidFill>
                  <a:srgbClr val="6B7B8D"/>
                </a:solidFill>
                <a:latin typeface="Arial"/>
              </a:defRPr>
            </a:pPr>
            <a:r>
              <a:t>Curso de Trading · Índices Sintéticos y Forex</a:t>
            </a:r>
          </a:p>
        </p:txBody>
      </p:sp>
      <p:sp>
        <p:nvSpPr>
          <p:cNvPr id="4" name="TextBox 3"/>
          <p:cNvSpPr txBox="1"/>
          <p:nvPr/>
        </p:nvSpPr>
        <p:spPr>
          <a:xfrm>
            <a:off x="731520" y="457200"/>
            <a:ext cx="9144000" cy="548640"/>
          </a:xfrm>
          <a:prstGeom prst="rect">
            <a:avLst/>
          </a:prstGeom>
          <a:noFill/>
        </p:spPr>
        <p:txBody>
          <a:bodyPr wrap="square">
            <a:spAutoFit/>
          </a:bodyPr>
          <a:lstStyle/>
          <a:p>
            <a:pPr algn="l">
              <a:defRPr sz="3200" b="1">
                <a:solidFill>
                  <a:srgbClr val="FFFFFF"/>
                </a:solidFill>
                <a:latin typeface="Arial"/>
              </a:defRPr>
            </a:pPr>
            <a:r>
              <a:t>El Cierre de la Vela M5</a:t>
            </a:r>
          </a:p>
        </p:txBody>
      </p:sp>
      <p:sp>
        <p:nvSpPr>
          <p:cNvPr id="5" name="Rounded Rectangle 4"/>
          <p:cNvSpPr/>
          <p:nvPr/>
        </p:nvSpPr>
        <p:spPr>
          <a:xfrm>
            <a:off x="731520" y="1280160"/>
            <a:ext cx="10058400" cy="1097280"/>
          </a:xfrm>
          <a:prstGeom prst="roundRect">
            <a:avLst/>
          </a:prstGeom>
          <a:solidFill>
            <a:srgbClr val="152D4A"/>
          </a:solidFill>
          <a:ln w="12700">
            <a:solidFill>
              <a:srgbClr val="D4A5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417320"/>
            <a:ext cx="9326880" cy="914400"/>
          </a:xfrm>
          <a:prstGeom prst="rect">
            <a:avLst/>
          </a:prstGeom>
          <a:noFill/>
        </p:spPr>
        <p:txBody>
          <a:bodyPr wrap="square">
            <a:spAutoFit/>
          </a:bodyPr>
          <a:lstStyle/>
          <a:p>
            <a:pPr algn="l">
              <a:defRPr sz="1600" b="0">
                <a:solidFill>
                  <a:srgbClr val="F0C856"/>
                </a:solidFill>
                <a:latin typeface="Arial"/>
              </a:defRPr>
            </a:pPr>
            <a:r>
              <a:t>"El cierre de la vela M5 confirma la intención del mercado.</a:t>
            </a:r>
            <a:br/>
            <a:r>
              <a:t>No entramos mientras la vela se está formando. Esperamos ver cómo cierra."</a:t>
            </a:r>
          </a:p>
        </p:txBody>
      </p:sp>
      <p:sp>
        <p:nvSpPr>
          <p:cNvPr id="7" name="Rounded Rectangle 6"/>
          <p:cNvSpPr/>
          <p:nvPr/>
        </p:nvSpPr>
        <p:spPr>
          <a:xfrm>
            <a:off x="457200" y="2926080"/>
            <a:ext cx="5029200" cy="2743200"/>
          </a:xfrm>
          <a:prstGeom prst="roundRect">
            <a:avLst/>
          </a:prstGeom>
          <a:solidFill>
            <a:srgbClr val="152D4A"/>
          </a:solidFill>
          <a:ln w="1905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108960"/>
            <a:ext cx="4480560" cy="457200"/>
          </a:xfrm>
          <a:prstGeom prst="rect">
            <a:avLst/>
          </a:prstGeom>
          <a:noFill/>
        </p:spPr>
        <p:txBody>
          <a:bodyPr wrap="square">
            <a:spAutoFit/>
          </a:bodyPr>
          <a:lstStyle/>
          <a:p>
            <a:pPr algn="l">
              <a:defRPr sz="1600" b="1">
                <a:solidFill>
                  <a:srgbClr val="2ECC71"/>
                </a:solidFill>
                <a:latin typeface="Arial"/>
              </a:defRPr>
            </a:pPr>
            <a:r>
              <a:t>✓  CIERRE CON FUERZA</a:t>
            </a:r>
          </a:p>
        </p:txBody>
      </p:sp>
      <p:sp>
        <p:nvSpPr>
          <p:cNvPr id="9" name="TextBox 8"/>
          <p:cNvSpPr txBox="1"/>
          <p:nvPr/>
        </p:nvSpPr>
        <p:spPr>
          <a:xfrm>
            <a:off x="731520" y="3520440"/>
            <a:ext cx="4480560" cy="1965960"/>
          </a:xfrm>
          <a:prstGeom prst="rect">
            <a:avLst/>
          </a:prstGeom>
          <a:noFill/>
        </p:spPr>
        <p:txBody>
          <a:bodyPr wrap="square">
            <a:spAutoFit/>
          </a:bodyPr>
          <a:lstStyle/>
          <a:p>
            <a:pPr>
              <a:spcAft>
                <a:spcPts val="900"/>
              </a:spcAft>
              <a:defRPr sz="1500">
                <a:solidFill>
                  <a:srgbClr val="B0B8C4"/>
                </a:solidFill>
                <a:latin typeface="Arial"/>
              </a:defRPr>
            </a:pPr>
            <a:r>
              <a:t>Cuerpo completo y definido</a:t>
            </a:r>
          </a:p>
          <a:p>
            <a:pPr>
              <a:spcAft>
                <a:spcPts val="900"/>
              </a:spcAft>
              <a:defRPr sz="1500">
                <a:solidFill>
                  <a:srgbClr val="B0B8C4"/>
                </a:solidFill>
                <a:latin typeface="Arial"/>
              </a:defRPr>
            </a:pPr>
            <a:r>
              <a:t>Confirma movimiento</a:t>
            </a:r>
          </a:p>
          <a:p>
            <a:pPr>
              <a:spcAft>
                <a:spcPts val="900"/>
              </a:spcAft>
              <a:defRPr sz="1500">
                <a:solidFill>
                  <a:srgbClr val="B0B8C4"/>
                </a:solidFill>
                <a:latin typeface="Arial"/>
              </a:defRPr>
            </a:pPr>
          </a:p>
          <a:p>
            <a:pPr>
              <a:spcAft>
                <a:spcPts val="900"/>
              </a:spcAft>
              <a:defRPr sz="1500">
                <a:solidFill>
                  <a:srgbClr val="B0B8C4"/>
                </a:solidFill>
                <a:latin typeface="Arial"/>
              </a:defRPr>
            </a:pPr>
            <a:r>
              <a:t>→ ENTRADA VÁLIDA</a:t>
            </a:r>
          </a:p>
        </p:txBody>
      </p:sp>
      <p:sp>
        <p:nvSpPr>
          <p:cNvPr id="10" name="Rounded Rectangle 9"/>
          <p:cNvSpPr/>
          <p:nvPr/>
        </p:nvSpPr>
        <p:spPr>
          <a:xfrm>
            <a:off x="5943600" y="2926080"/>
            <a:ext cx="5029200" cy="2743200"/>
          </a:xfrm>
          <a:prstGeom prst="roundRect">
            <a:avLst/>
          </a:prstGeom>
          <a:solidFill>
            <a:srgbClr val="152D4A"/>
          </a:solidFill>
          <a:ln w="19050">
            <a:solidFill>
              <a:srgbClr val="E8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3108960"/>
            <a:ext cx="4480560" cy="457200"/>
          </a:xfrm>
          <a:prstGeom prst="rect">
            <a:avLst/>
          </a:prstGeom>
          <a:noFill/>
        </p:spPr>
        <p:txBody>
          <a:bodyPr wrap="square">
            <a:spAutoFit/>
          </a:bodyPr>
          <a:lstStyle/>
          <a:p>
            <a:pPr algn="l">
              <a:defRPr sz="1600" b="1">
                <a:solidFill>
                  <a:srgbClr val="E84C3D"/>
                </a:solidFill>
                <a:latin typeface="Arial"/>
              </a:defRPr>
            </a:pPr>
            <a:r>
              <a:t>✗  CIERRE CON RECHAZO</a:t>
            </a:r>
          </a:p>
        </p:txBody>
      </p:sp>
      <p:sp>
        <p:nvSpPr>
          <p:cNvPr id="12" name="TextBox 11"/>
          <p:cNvSpPr txBox="1"/>
          <p:nvPr/>
        </p:nvSpPr>
        <p:spPr>
          <a:xfrm>
            <a:off x="6217920" y="3520440"/>
            <a:ext cx="4480560" cy="1965960"/>
          </a:xfrm>
          <a:prstGeom prst="rect">
            <a:avLst/>
          </a:prstGeom>
          <a:noFill/>
        </p:spPr>
        <p:txBody>
          <a:bodyPr wrap="square">
            <a:spAutoFit/>
          </a:bodyPr>
          <a:lstStyle/>
          <a:p>
            <a:pPr>
              <a:spcAft>
                <a:spcPts val="900"/>
              </a:spcAft>
              <a:defRPr sz="1500">
                <a:solidFill>
                  <a:srgbClr val="B0B8C4"/>
                </a:solidFill>
                <a:latin typeface="Arial"/>
              </a:defRPr>
            </a:pPr>
            <a:r>
              <a:t>Mecha larga o cambio de color</a:t>
            </a:r>
          </a:p>
          <a:p>
            <a:pPr>
              <a:spcAft>
                <a:spcPts val="900"/>
              </a:spcAft>
              <a:defRPr sz="1500">
                <a:solidFill>
                  <a:srgbClr val="B0B8C4"/>
                </a:solidFill>
                <a:latin typeface="Arial"/>
              </a:defRPr>
            </a:pPr>
            <a:r>
              <a:t>Muestra trampa / indecisión</a:t>
            </a:r>
          </a:p>
          <a:p>
            <a:pPr>
              <a:spcAft>
                <a:spcPts val="900"/>
              </a:spcAft>
              <a:defRPr sz="1500">
                <a:solidFill>
                  <a:srgbClr val="B0B8C4"/>
                </a:solidFill>
                <a:latin typeface="Arial"/>
              </a:defRPr>
            </a:pPr>
          </a:p>
          <a:p>
            <a:pPr>
              <a:spcAft>
                <a:spcPts val="900"/>
              </a:spcAft>
              <a:defRPr sz="1500">
                <a:solidFill>
                  <a:srgbClr val="B0B8C4"/>
                </a:solidFill>
                <a:latin typeface="Arial"/>
              </a:defRPr>
            </a:pPr>
            <a:r>
              <a:t>→ NO ENTRAR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A2E"/>
        </a:solidFill>
        <a:effectLst/>
      </p:bgPr>
    </p:bg>
    <p:spTree>
      <p:nvGrpSpPr>
        <p:cNvPr id="1" name=""/>
        <p:cNvGrpSpPr/>
        <p:nvPr/>
      </p:nvGrpSpPr>
      <p:grpSpPr/>
      <p:sp>
        <p:nvSpPr>
          <p:cNvPr id="2" name="TextBox 1"/>
          <p:cNvSpPr txBox="1"/>
          <p:nvPr/>
        </p:nvSpPr>
        <p:spPr>
          <a:xfrm>
            <a:off x="914400" y="1371600"/>
            <a:ext cx="2743200" cy="2743200"/>
          </a:xfrm>
          <a:prstGeom prst="rect">
            <a:avLst/>
          </a:prstGeom>
          <a:noFill/>
        </p:spPr>
        <p:txBody>
          <a:bodyPr wrap="square">
            <a:spAutoFit/>
          </a:bodyPr>
          <a:lstStyle/>
          <a:p>
            <a:pPr algn="l">
              <a:defRPr sz="12000" b="1">
                <a:solidFill>
                  <a:srgbClr val="1E3A5F"/>
                </a:solidFill>
                <a:latin typeface="Arial"/>
              </a:defRPr>
            </a:pPr>
            <a:r>
              <a:t>04</a:t>
            </a:r>
          </a:p>
        </p:txBody>
      </p:sp>
      <p:sp>
        <p:nvSpPr>
          <p:cNvPr id="3" name="Rectangle 2"/>
          <p:cNvSpPr/>
          <p:nvPr/>
        </p:nvSpPr>
        <p:spPr>
          <a:xfrm>
            <a:off x="914400" y="3840480"/>
            <a:ext cx="2743200" cy="54864"/>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114800"/>
            <a:ext cx="7315200" cy="1097280"/>
          </a:xfrm>
          <a:prstGeom prst="rect">
            <a:avLst/>
          </a:prstGeom>
          <a:noFill/>
        </p:spPr>
        <p:txBody>
          <a:bodyPr wrap="square">
            <a:spAutoFit/>
          </a:bodyPr>
          <a:lstStyle/>
          <a:p>
            <a:pPr algn="l">
              <a:defRPr sz="3200" b="1">
                <a:solidFill>
                  <a:srgbClr val="FFFFFF"/>
                </a:solidFill>
                <a:latin typeface="Arial"/>
              </a:defRPr>
            </a:pPr>
            <a:r>
              <a:t>Temporalidades de Análisis</a:t>
            </a:r>
          </a:p>
        </p:txBody>
      </p:sp>
      <p:sp>
        <p:nvSpPr>
          <p:cNvPr id="5" name="Rectangle 4"/>
          <p:cNvSpPr/>
          <p:nvPr/>
        </p:nvSpPr>
        <p:spPr>
          <a:xfrm>
            <a:off x="7772400" y="2286000"/>
            <a:ext cx="137160" cy="54864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827264" y="2148840"/>
            <a:ext cx="27432" cy="82296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0" y="2286000"/>
            <a:ext cx="137160" cy="411480"/>
          </a:xfrm>
          <a:prstGeom prst="rect">
            <a:avLst/>
          </a:prstGeom>
          <a:solidFill>
            <a:srgbClr val="E8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84464" y="2148840"/>
            <a:ext cx="27432" cy="685800"/>
          </a:xfrm>
          <a:prstGeom prst="rect">
            <a:avLst/>
          </a:prstGeom>
          <a:solidFill>
            <a:srgbClr val="E8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86800" y="2286000"/>
            <a:ext cx="137160"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741664" y="2148840"/>
            <a:ext cx="27432" cy="9144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4000" y="2286000"/>
            <a:ext cx="137160" cy="4572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98864" y="2148840"/>
            <a:ext cx="27432" cy="7315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601200" y="2286000"/>
            <a:ext cx="137160" cy="502920"/>
          </a:xfrm>
          <a:prstGeom prst="rect">
            <a:avLst/>
          </a:prstGeom>
          <a:solidFill>
            <a:srgbClr val="E8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656064" y="2148840"/>
            <a:ext cx="27432" cy="777240"/>
          </a:xfrm>
          <a:prstGeom prst="rect">
            <a:avLst/>
          </a:prstGeom>
          <a:solidFill>
            <a:srgbClr val="E8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058400" y="2286000"/>
            <a:ext cx="137160" cy="7315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113264" y="2148840"/>
            <a:ext cx="27432" cy="100584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A2E"/>
        </a:solidFill>
        <a:effectLst/>
      </p:bgPr>
    </p:bg>
    <p:spTree>
      <p:nvGrpSpPr>
        <p:cNvPr id="1" name=""/>
        <p:cNvGrpSpPr/>
        <p:nvPr/>
      </p:nvGrpSpPr>
      <p:grpSpPr/>
      <p:sp>
        <p:nvSpPr>
          <p:cNvPr id="2" name="TextBox 1"/>
          <p:cNvSpPr txBox="1"/>
          <p:nvPr/>
        </p:nvSpPr>
        <p:spPr>
          <a:xfrm>
            <a:off x="457200" y="6400800"/>
            <a:ext cx="1371600" cy="365760"/>
          </a:xfrm>
          <a:prstGeom prst="rect">
            <a:avLst/>
          </a:prstGeom>
          <a:noFill/>
        </p:spPr>
        <p:txBody>
          <a:bodyPr wrap="square">
            <a:spAutoFit/>
          </a:bodyPr>
          <a:lstStyle/>
          <a:p>
            <a:pPr algn="l">
              <a:defRPr sz="1000" b="0">
                <a:solidFill>
                  <a:srgbClr val="6B7B8D"/>
                </a:solidFill>
                <a:latin typeface="Arial"/>
              </a:defRPr>
            </a:pPr>
            <a:r>
              <a:t>11 / 17</a:t>
            </a:r>
          </a:p>
        </p:txBody>
      </p:sp>
      <p:sp>
        <p:nvSpPr>
          <p:cNvPr id="3" name="TextBox 2"/>
          <p:cNvSpPr txBox="1"/>
          <p:nvPr/>
        </p:nvSpPr>
        <p:spPr>
          <a:xfrm>
            <a:off x="8534095" y="6400800"/>
            <a:ext cx="3200400" cy="365760"/>
          </a:xfrm>
          <a:prstGeom prst="rect">
            <a:avLst/>
          </a:prstGeom>
          <a:noFill/>
        </p:spPr>
        <p:txBody>
          <a:bodyPr wrap="square">
            <a:spAutoFit/>
          </a:bodyPr>
          <a:lstStyle/>
          <a:p>
            <a:pPr algn="r">
              <a:defRPr sz="1000" b="0">
                <a:solidFill>
                  <a:srgbClr val="6B7B8D"/>
                </a:solidFill>
                <a:latin typeface="Arial"/>
              </a:defRPr>
            </a:pPr>
            <a:r>
              <a:t>Curso de Trading · Índices Sintéticos y Forex</a:t>
            </a:r>
          </a:p>
        </p:txBody>
      </p:sp>
      <p:sp>
        <p:nvSpPr>
          <p:cNvPr id="4" name="TextBox 3"/>
          <p:cNvSpPr txBox="1"/>
          <p:nvPr/>
        </p:nvSpPr>
        <p:spPr>
          <a:xfrm>
            <a:off x="731520" y="457200"/>
            <a:ext cx="9144000" cy="548640"/>
          </a:xfrm>
          <a:prstGeom prst="rect">
            <a:avLst/>
          </a:prstGeom>
          <a:noFill/>
        </p:spPr>
        <p:txBody>
          <a:bodyPr wrap="square">
            <a:spAutoFit/>
          </a:bodyPr>
          <a:lstStyle/>
          <a:p>
            <a:pPr algn="l">
              <a:defRPr sz="3200" b="1">
                <a:solidFill>
                  <a:srgbClr val="FFFFFF"/>
                </a:solidFill>
                <a:latin typeface="Arial"/>
              </a:defRPr>
            </a:pPr>
            <a:r>
              <a:t>Mi Método: H1 → M15 → M1</a:t>
            </a:r>
          </a:p>
        </p:txBody>
      </p:sp>
      <p:sp>
        <p:nvSpPr>
          <p:cNvPr id="5" name="TextBox 4"/>
          <p:cNvSpPr txBox="1"/>
          <p:nvPr/>
        </p:nvSpPr>
        <p:spPr>
          <a:xfrm>
            <a:off x="731520" y="1097280"/>
            <a:ext cx="10058400" cy="457200"/>
          </a:xfrm>
          <a:prstGeom prst="rect">
            <a:avLst/>
          </a:prstGeom>
          <a:noFill/>
        </p:spPr>
        <p:txBody>
          <a:bodyPr wrap="square">
            <a:spAutoFit/>
          </a:bodyPr>
          <a:lstStyle/>
          <a:p>
            <a:pPr algn="l">
              <a:defRPr sz="1600" b="0">
                <a:solidFill>
                  <a:srgbClr val="B0B8C4"/>
                </a:solidFill>
                <a:latin typeface="Arial"/>
              </a:defRPr>
            </a:pPr>
            <a:r>
              <a:t>Cada temporalidad cumple una función específica en el análisis.</a:t>
            </a:r>
          </a:p>
        </p:txBody>
      </p:sp>
      <p:sp>
        <p:nvSpPr>
          <p:cNvPr id="6" name="Rounded Rectangle 5"/>
          <p:cNvSpPr/>
          <p:nvPr/>
        </p:nvSpPr>
        <p:spPr>
          <a:xfrm>
            <a:off x="274320" y="1828800"/>
            <a:ext cx="3657600" cy="4114800"/>
          </a:xfrm>
          <a:prstGeom prst="roundRect">
            <a:avLst/>
          </a:prstGeom>
          <a:solidFill>
            <a:srgbClr val="152D4A"/>
          </a:solidFill>
          <a:ln w="19050">
            <a:solidFill>
              <a:srgbClr val="D4A5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011680"/>
            <a:ext cx="3108960" cy="457200"/>
          </a:xfrm>
          <a:prstGeom prst="rect">
            <a:avLst/>
          </a:prstGeom>
          <a:noFill/>
        </p:spPr>
        <p:txBody>
          <a:bodyPr wrap="square">
            <a:spAutoFit/>
          </a:bodyPr>
          <a:lstStyle/>
          <a:p>
            <a:pPr algn="l">
              <a:defRPr sz="1600" b="1">
                <a:solidFill>
                  <a:srgbClr val="D4A537"/>
                </a:solidFill>
                <a:latin typeface="Arial"/>
              </a:defRPr>
            </a:pPr>
            <a:r>
              <a:t>H1 · ESTRUCTURA</a:t>
            </a:r>
          </a:p>
        </p:txBody>
      </p:sp>
      <p:sp>
        <p:nvSpPr>
          <p:cNvPr id="8" name="TextBox 7"/>
          <p:cNvSpPr txBox="1"/>
          <p:nvPr/>
        </p:nvSpPr>
        <p:spPr>
          <a:xfrm>
            <a:off x="548640" y="2423160"/>
            <a:ext cx="3108960" cy="3337560"/>
          </a:xfrm>
          <a:prstGeom prst="rect">
            <a:avLst/>
          </a:prstGeom>
          <a:noFill/>
        </p:spPr>
        <p:txBody>
          <a:bodyPr wrap="square">
            <a:spAutoFit/>
          </a:bodyPr>
          <a:lstStyle/>
          <a:p>
            <a:pPr>
              <a:spcAft>
                <a:spcPts val="840"/>
              </a:spcAft>
              <a:defRPr sz="1400">
                <a:solidFill>
                  <a:srgbClr val="B0B8C4"/>
                </a:solidFill>
                <a:latin typeface="Arial"/>
              </a:defRPr>
            </a:pPr>
            <a:r>
              <a:t>Defino la dirección</a:t>
            </a:r>
          </a:p>
          <a:p>
            <a:pPr>
              <a:spcAft>
                <a:spcPts val="840"/>
              </a:spcAft>
              <a:defRPr sz="1400">
                <a:solidFill>
                  <a:srgbClr val="B0B8C4"/>
                </a:solidFill>
                <a:latin typeface="Arial"/>
              </a:defRPr>
            </a:pPr>
            <a:r>
              <a:t>principal del mercado.</a:t>
            </a:r>
          </a:p>
          <a:p>
            <a:pPr>
              <a:spcAft>
                <a:spcPts val="840"/>
              </a:spcAft>
              <a:defRPr sz="1400">
                <a:solidFill>
                  <a:srgbClr val="B0B8C4"/>
                </a:solidFill>
                <a:latin typeface="Arial"/>
              </a:defRPr>
            </a:pPr>
          </a:p>
          <a:p>
            <a:pPr>
              <a:spcAft>
                <a:spcPts val="840"/>
              </a:spcAft>
              <a:defRPr sz="1400">
                <a:solidFill>
                  <a:srgbClr val="B0B8C4"/>
                </a:solidFill>
                <a:latin typeface="Arial"/>
              </a:defRPr>
            </a:pPr>
            <a:r>
              <a:t>¿Impulso o retroceso?</a:t>
            </a:r>
          </a:p>
          <a:p>
            <a:pPr>
              <a:spcAft>
                <a:spcPts val="840"/>
              </a:spcAft>
              <a:defRPr sz="1400">
                <a:solidFill>
                  <a:srgbClr val="B0B8C4"/>
                </a:solidFill>
                <a:latin typeface="Arial"/>
              </a:defRPr>
            </a:pPr>
            <a:r>
              <a:t>¿Alcista o bajista?</a:t>
            </a:r>
          </a:p>
          <a:p>
            <a:pPr>
              <a:spcAft>
                <a:spcPts val="840"/>
              </a:spcAft>
              <a:defRPr sz="1400">
                <a:solidFill>
                  <a:srgbClr val="B0B8C4"/>
                </a:solidFill>
                <a:latin typeface="Arial"/>
              </a:defRPr>
            </a:pPr>
          </a:p>
          <a:p>
            <a:pPr>
              <a:spcAft>
                <a:spcPts val="840"/>
              </a:spcAft>
              <a:defRPr sz="1400">
                <a:solidFill>
                  <a:srgbClr val="B0B8C4"/>
                </a:solidFill>
                <a:latin typeface="Arial"/>
              </a:defRPr>
            </a:pPr>
            <a:r>
              <a:t>→ TENDENCIA</a:t>
            </a:r>
          </a:p>
        </p:txBody>
      </p:sp>
      <p:sp>
        <p:nvSpPr>
          <p:cNvPr id="9" name="Rounded Rectangle 8"/>
          <p:cNvSpPr/>
          <p:nvPr/>
        </p:nvSpPr>
        <p:spPr>
          <a:xfrm>
            <a:off x="4206240" y="1828800"/>
            <a:ext cx="3657600" cy="4114800"/>
          </a:xfrm>
          <a:prstGeom prst="roundRect">
            <a:avLst/>
          </a:prstGeom>
          <a:solidFill>
            <a:srgbClr val="152D4A"/>
          </a:solidFill>
          <a:ln w="19050">
            <a:solidFill>
              <a:srgbClr val="00C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2011680"/>
            <a:ext cx="3108960" cy="457200"/>
          </a:xfrm>
          <a:prstGeom prst="rect">
            <a:avLst/>
          </a:prstGeom>
          <a:noFill/>
        </p:spPr>
        <p:txBody>
          <a:bodyPr wrap="square">
            <a:spAutoFit/>
          </a:bodyPr>
          <a:lstStyle/>
          <a:p>
            <a:pPr algn="l">
              <a:defRPr sz="1600" b="1">
                <a:solidFill>
                  <a:srgbClr val="00C9A7"/>
                </a:solidFill>
                <a:latin typeface="Arial"/>
              </a:defRPr>
            </a:pPr>
            <a:r>
              <a:t>M15 · CONTEXTO</a:t>
            </a:r>
          </a:p>
        </p:txBody>
      </p:sp>
      <p:sp>
        <p:nvSpPr>
          <p:cNvPr id="11" name="TextBox 10"/>
          <p:cNvSpPr txBox="1"/>
          <p:nvPr/>
        </p:nvSpPr>
        <p:spPr>
          <a:xfrm>
            <a:off x="4480560" y="2423160"/>
            <a:ext cx="3108960" cy="3337560"/>
          </a:xfrm>
          <a:prstGeom prst="rect">
            <a:avLst/>
          </a:prstGeom>
          <a:noFill/>
        </p:spPr>
        <p:txBody>
          <a:bodyPr wrap="square">
            <a:spAutoFit/>
          </a:bodyPr>
          <a:lstStyle/>
          <a:p>
            <a:pPr>
              <a:spcAft>
                <a:spcPts val="840"/>
              </a:spcAft>
              <a:defRPr sz="1400">
                <a:solidFill>
                  <a:srgbClr val="B0B8C4"/>
                </a:solidFill>
                <a:latin typeface="Arial"/>
              </a:defRPr>
            </a:pPr>
            <a:r>
              <a:t>¿Cómo se comporta el</a:t>
            </a:r>
          </a:p>
          <a:p>
            <a:pPr>
              <a:spcAft>
                <a:spcPts val="840"/>
              </a:spcAft>
              <a:defRPr sz="1400">
                <a:solidFill>
                  <a:srgbClr val="B0B8C4"/>
                </a:solidFill>
                <a:latin typeface="Arial"/>
              </a:defRPr>
            </a:pPr>
            <a:r>
              <a:t>precio dentro de H1?</a:t>
            </a:r>
          </a:p>
          <a:p>
            <a:pPr>
              <a:spcAft>
                <a:spcPts val="840"/>
              </a:spcAft>
              <a:defRPr sz="1400">
                <a:solidFill>
                  <a:srgbClr val="B0B8C4"/>
                </a:solidFill>
                <a:latin typeface="Arial"/>
              </a:defRPr>
            </a:pPr>
          </a:p>
          <a:p>
            <a:pPr>
              <a:spcAft>
                <a:spcPts val="840"/>
              </a:spcAft>
              <a:defRPr sz="1400">
                <a:solidFill>
                  <a:srgbClr val="B0B8C4"/>
                </a:solidFill>
                <a:latin typeface="Arial"/>
              </a:defRPr>
            </a:pPr>
            <a:r>
              <a:t>¿Está alineado con</a:t>
            </a:r>
          </a:p>
          <a:p>
            <a:pPr>
              <a:spcAft>
                <a:spcPts val="840"/>
              </a:spcAft>
              <a:defRPr sz="1400">
                <a:solidFill>
                  <a:srgbClr val="B0B8C4"/>
                </a:solidFill>
                <a:latin typeface="Arial"/>
              </a:defRPr>
            </a:pPr>
            <a:r>
              <a:t>la estructura mayor?</a:t>
            </a:r>
          </a:p>
          <a:p>
            <a:pPr>
              <a:spcAft>
                <a:spcPts val="840"/>
              </a:spcAft>
              <a:defRPr sz="1400">
                <a:solidFill>
                  <a:srgbClr val="B0B8C4"/>
                </a:solidFill>
                <a:latin typeface="Arial"/>
              </a:defRPr>
            </a:pPr>
          </a:p>
          <a:p>
            <a:pPr>
              <a:spcAft>
                <a:spcPts val="840"/>
              </a:spcAft>
              <a:defRPr sz="1400">
                <a:solidFill>
                  <a:srgbClr val="B0B8C4"/>
                </a:solidFill>
                <a:latin typeface="Arial"/>
              </a:defRPr>
            </a:pPr>
            <a:r>
              <a:t>→ AJUSTE</a:t>
            </a:r>
          </a:p>
        </p:txBody>
      </p:sp>
      <p:sp>
        <p:nvSpPr>
          <p:cNvPr id="12" name="Rounded Rectangle 11"/>
          <p:cNvSpPr/>
          <p:nvPr/>
        </p:nvSpPr>
        <p:spPr>
          <a:xfrm>
            <a:off x="8138160" y="1828800"/>
            <a:ext cx="3657600" cy="4114800"/>
          </a:xfrm>
          <a:prstGeom prst="roundRect">
            <a:avLst/>
          </a:prstGeom>
          <a:solidFill>
            <a:srgbClr val="152D4A"/>
          </a:solidFill>
          <a:ln w="1905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0" y="2011680"/>
            <a:ext cx="3108960" cy="457200"/>
          </a:xfrm>
          <a:prstGeom prst="rect">
            <a:avLst/>
          </a:prstGeom>
          <a:noFill/>
        </p:spPr>
        <p:txBody>
          <a:bodyPr wrap="square">
            <a:spAutoFit/>
          </a:bodyPr>
          <a:lstStyle/>
          <a:p>
            <a:pPr algn="l">
              <a:defRPr sz="1600" b="1">
                <a:solidFill>
                  <a:srgbClr val="2ECC71"/>
                </a:solidFill>
                <a:latin typeface="Arial"/>
              </a:defRPr>
            </a:pPr>
            <a:r>
              <a:t>M1 · PRECISIÓN</a:t>
            </a:r>
          </a:p>
        </p:txBody>
      </p:sp>
      <p:sp>
        <p:nvSpPr>
          <p:cNvPr id="14" name="TextBox 13"/>
          <p:cNvSpPr txBox="1"/>
          <p:nvPr/>
        </p:nvSpPr>
        <p:spPr>
          <a:xfrm>
            <a:off x="8412480" y="2423160"/>
            <a:ext cx="3108960" cy="3337560"/>
          </a:xfrm>
          <a:prstGeom prst="rect">
            <a:avLst/>
          </a:prstGeom>
          <a:noFill/>
        </p:spPr>
        <p:txBody>
          <a:bodyPr wrap="square">
            <a:spAutoFit/>
          </a:bodyPr>
          <a:lstStyle/>
          <a:p>
            <a:pPr>
              <a:spcAft>
                <a:spcPts val="840"/>
              </a:spcAft>
              <a:defRPr sz="1400">
                <a:solidFill>
                  <a:srgbClr val="B0B8C4"/>
                </a:solidFill>
                <a:latin typeface="Arial"/>
              </a:defRPr>
            </a:pPr>
            <a:r>
              <a:t>Marco la línea exacta</a:t>
            </a:r>
          </a:p>
          <a:p>
            <a:pPr>
              <a:spcAft>
                <a:spcPts val="840"/>
              </a:spcAft>
              <a:defRPr sz="1400">
                <a:solidFill>
                  <a:srgbClr val="B0B8C4"/>
                </a:solidFill>
                <a:latin typeface="Arial"/>
              </a:defRPr>
            </a:pPr>
            <a:r>
              <a:t>donde quiero entrar.</a:t>
            </a:r>
          </a:p>
          <a:p>
            <a:pPr>
              <a:spcAft>
                <a:spcPts val="840"/>
              </a:spcAft>
              <a:defRPr sz="1400">
                <a:solidFill>
                  <a:srgbClr val="B0B8C4"/>
                </a:solidFill>
                <a:latin typeface="Arial"/>
              </a:defRPr>
            </a:pPr>
          </a:p>
          <a:p>
            <a:pPr>
              <a:spcAft>
                <a:spcPts val="840"/>
              </a:spcAft>
              <a:defRPr sz="1400">
                <a:solidFill>
                  <a:srgbClr val="B0B8C4"/>
                </a:solidFill>
                <a:latin typeface="Arial"/>
              </a:defRPr>
            </a:pPr>
            <a:r>
              <a:t>Solo ejecuto si</a:t>
            </a:r>
          </a:p>
          <a:p>
            <a:pPr>
              <a:spcAft>
                <a:spcPts val="840"/>
              </a:spcAft>
              <a:defRPr sz="1400">
                <a:solidFill>
                  <a:srgbClr val="B0B8C4"/>
                </a:solidFill>
                <a:latin typeface="Arial"/>
              </a:defRPr>
            </a:pPr>
            <a:r>
              <a:t>TODO coincide.</a:t>
            </a:r>
          </a:p>
          <a:p>
            <a:pPr>
              <a:spcAft>
                <a:spcPts val="840"/>
              </a:spcAft>
              <a:defRPr sz="1400">
                <a:solidFill>
                  <a:srgbClr val="B0B8C4"/>
                </a:solidFill>
                <a:latin typeface="Arial"/>
              </a:defRPr>
            </a:pPr>
          </a:p>
          <a:p>
            <a:pPr>
              <a:spcAft>
                <a:spcPts val="840"/>
              </a:spcAft>
              <a:defRPr sz="1400">
                <a:solidFill>
                  <a:srgbClr val="B0B8C4"/>
                </a:solidFill>
                <a:latin typeface="Arial"/>
              </a:defRPr>
            </a:pPr>
            <a:r>
              <a:t>→ ENTRADA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A2E"/>
        </a:solidFill>
        <a:effectLst/>
      </p:bgPr>
    </p:bg>
    <p:spTree>
      <p:nvGrpSpPr>
        <p:cNvPr id="1" name=""/>
        <p:cNvGrpSpPr/>
        <p:nvPr/>
      </p:nvGrpSpPr>
      <p:grpSpPr/>
      <p:sp>
        <p:nvSpPr>
          <p:cNvPr id="2" name="TextBox 1"/>
          <p:cNvSpPr txBox="1"/>
          <p:nvPr/>
        </p:nvSpPr>
        <p:spPr>
          <a:xfrm>
            <a:off x="914400" y="1371600"/>
            <a:ext cx="2743200" cy="2743200"/>
          </a:xfrm>
          <a:prstGeom prst="rect">
            <a:avLst/>
          </a:prstGeom>
          <a:noFill/>
        </p:spPr>
        <p:txBody>
          <a:bodyPr wrap="square">
            <a:spAutoFit/>
          </a:bodyPr>
          <a:lstStyle/>
          <a:p>
            <a:pPr algn="l">
              <a:defRPr sz="12000" b="1">
                <a:solidFill>
                  <a:srgbClr val="1E3A5F"/>
                </a:solidFill>
                <a:latin typeface="Arial"/>
              </a:defRPr>
            </a:pPr>
            <a:r>
              <a:t>05</a:t>
            </a:r>
          </a:p>
        </p:txBody>
      </p:sp>
      <p:sp>
        <p:nvSpPr>
          <p:cNvPr id="3" name="Rectangle 2"/>
          <p:cNvSpPr/>
          <p:nvPr/>
        </p:nvSpPr>
        <p:spPr>
          <a:xfrm>
            <a:off x="914400" y="3840480"/>
            <a:ext cx="2743200" cy="54864"/>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114800"/>
            <a:ext cx="7315200" cy="1097280"/>
          </a:xfrm>
          <a:prstGeom prst="rect">
            <a:avLst/>
          </a:prstGeom>
          <a:noFill/>
        </p:spPr>
        <p:txBody>
          <a:bodyPr wrap="square">
            <a:spAutoFit/>
          </a:bodyPr>
          <a:lstStyle/>
          <a:p>
            <a:pPr algn="l">
              <a:defRPr sz="3200" b="1">
                <a:solidFill>
                  <a:srgbClr val="FFFFFF"/>
                </a:solidFill>
                <a:latin typeface="Arial"/>
              </a:defRPr>
            </a:pPr>
            <a:r>
              <a:t>Línea de Tendencia</a:t>
            </a:r>
          </a:p>
        </p:txBody>
      </p:sp>
      <p:sp>
        <p:nvSpPr>
          <p:cNvPr id="5" name="Rectangle 4"/>
          <p:cNvSpPr/>
          <p:nvPr/>
        </p:nvSpPr>
        <p:spPr>
          <a:xfrm>
            <a:off x="7772400" y="2286000"/>
            <a:ext cx="137160" cy="54864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827264" y="2148840"/>
            <a:ext cx="27432" cy="82296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0" y="2286000"/>
            <a:ext cx="137160" cy="411480"/>
          </a:xfrm>
          <a:prstGeom prst="rect">
            <a:avLst/>
          </a:prstGeom>
          <a:solidFill>
            <a:srgbClr val="E8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84464" y="2148840"/>
            <a:ext cx="27432" cy="685800"/>
          </a:xfrm>
          <a:prstGeom prst="rect">
            <a:avLst/>
          </a:prstGeom>
          <a:solidFill>
            <a:srgbClr val="E8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86800" y="2286000"/>
            <a:ext cx="137160"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741664" y="2148840"/>
            <a:ext cx="27432" cy="9144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4000" y="2286000"/>
            <a:ext cx="137160" cy="4572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98864" y="2148840"/>
            <a:ext cx="27432" cy="7315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601200" y="2286000"/>
            <a:ext cx="137160" cy="502920"/>
          </a:xfrm>
          <a:prstGeom prst="rect">
            <a:avLst/>
          </a:prstGeom>
          <a:solidFill>
            <a:srgbClr val="E8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656064" y="2148840"/>
            <a:ext cx="27432" cy="777240"/>
          </a:xfrm>
          <a:prstGeom prst="rect">
            <a:avLst/>
          </a:prstGeom>
          <a:solidFill>
            <a:srgbClr val="E84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058400" y="2286000"/>
            <a:ext cx="137160" cy="7315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113264" y="2148840"/>
            <a:ext cx="27432" cy="100584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A2E"/>
        </a:solidFill>
        <a:effectLst/>
      </p:bgPr>
    </p:bg>
    <p:spTree>
      <p:nvGrpSpPr>
        <p:cNvPr id="1" name=""/>
        <p:cNvGrpSpPr/>
        <p:nvPr/>
      </p:nvGrpSpPr>
      <p:grpSpPr/>
      <p:sp>
        <p:nvSpPr>
          <p:cNvPr id="2" name="TextBox 1"/>
          <p:cNvSpPr txBox="1"/>
          <p:nvPr/>
        </p:nvSpPr>
        <p:spPr>
          <a:xfrm>
            <a:off x="457200" y="6400800"/>
            <a:ext cx="1371600" cy="365760"/>
          </a:xfrm>
          <a:prstGeom prst="rect">
            <a:avLst/>
          </a:prstGeom>
          <a:noFill/>
        </p:spPr>
        <p:txBody>
          <a:bodyPr wrap="square">
            <a:spAutoFit/>
          </a:bodyPr>
          <a:lstStyle/>
          <a:p>
            <a:pPr algn="l">
              <a:defRPr sz="1000" b="0">
                <a:solidFill>
                  <a:srgbClr val="6B7B8D"/>
                </a:solidFill>
                <a:latin typeface="Arial"/>
              </a:defRPr>
            </a:pPr>
            <a:r>
              <a:t>13 / 17</a:t>
            </a:r>
          </a:p>
        </p:txBody>
      </p:sp>
      <p:sp>
        <p:nvSpPr>
          <p:cNvPr id="3" name="TextBox 2"/>
          <p:cNvSpPr txBox="1"/>
          <p:nvPr/>
        </p:nvSpPr>
        <p:spPr>
          <a:xfrm>
            <a:off x="8534095" y="6400800"/>
            <a:ext cx="3200400" cy="365760"/>
          </a:xfrm>
          <a:prstGeom prst="rect">
            <a:avLst/>
          </a:prstGeom>
          <a:noFill/>
        </p:spPr>
        <p:txBody>
          <a:bodyPr wrap="square">
            <a:spAutoFit/>
          </a:bodyPr>
          <a:lstStyle/>
          <a:p>
            <a:pPr algn="r">
              <a:defRPr sz="1000" b="0">
                <a:solidFill>
                  <a:srgbClr val="6B7B8D"/>
                </a:solidFill>
                <a:latin typeface="Arial"/>
              </a:defRPr>
            </a:pPr>
            <a:r>
              <a:t>Curso de Trading · Índices Sintéticos y Forex</a:t>
            </a:r>
          </a:p>
        </p:txBody>
      </p:sp>
      <p:sp>
        <p:nvSpPr>
          <p:cNvPr id="4" name="TextBox 3"/>
          <p:cNvSpPr txBox="1"/>
          <p:nvPr/>
        </p:nvSpPr>
        <p:spPr>
          <a:xfrm>
            <a:off x="731520" y="457200"/>
            <a:ext cx="9144000" cy="548640"/>
          </a:xfrm>
          <a:prstGeom prst="rect">
            <a:avLst/>
          </a:prstGeom>
          <a:noFill/>
        </p:spPr>
        <p:txBody>
          <a:bodyPr wrap="square">
            <a:spAutoFit/>
          </a:bodyPr>
          <a:lstStyle/>
          <a:p>
            <a:pPr algn="l">
              <a:defRPr sz="3200" b="1">
                <a:solidFill>
                  <a:srgbClr val="FFFFFF"/>
                </a:solidFill>
                <a:latin typeface="Arial"/>
              </a:defRPr>
            </a:pPr>
            <a:r>
              <a:t>La Línea de Tendencia</a:t>
            </a:r>
          </a:p>
        </p:txBody>
      </p:sp>
      <p:sp>
        <p:nvSpPr>
          <p:cNvPr id="5" name="TextBox 4"/>
          <p:cNvSpPr txBox="1"/>
          <p:nvPr/>
        </p:nvSpPr>
        <p:spPr>
          <a:xfrm>
            <a:off x="731520" y="1097280"/>
            <a:ext cx="10058400" cy="548640"/>
          </a:xfrm>
          <a:prstGeom prst="rect">
            <a:avLst/>
          </a:prstGeom>
          <a:noFill/>
        </p:spPr>
        <p:txBody>
          <a:bodyPr wrap="square">
            <a:spAutoFit/>
          </a:bodyPr>
          <a:lstStyle/>
          <a:p>
            <a:pPr algn="l">
              <a:defRPr sz="1700" b="0">
                <a:solidFill>
                  <a:srgbClr val="B0B8C4"/>
                </a:solidFill>
                <a:latin typeface="Arial"/>
              </a:defRPr>
            </a:pPr>
            <a:r>
              <a:t>Marca la dirección dominante del precio. Operamos a su favor.</a:t>
            </a:r>
          </a:p>
        </p:txBody>
      </p:sp>
      <p:sp>
        <p:nvSpPr>
          <p:cNvPr id="6" name="Rounded Rectangle 5"/>
          <p:cNvSpPr/>
          <p:nvPr/>
        </p:nvSpPr>
        <p:spPr>
          <a:xfrm>
            <a:off x="457200" y="2011680"/>
            <a:ext cx="5303520" cy="3474720"/>
          </a:xfrm>
          <a:prstGeom prst="roundRect">
            <a:avLst/>
          </a:prstGeom>
          <a:solidFill>
            <a:srgbClr val="152D4A"/>
          </a:solidFill>
          <a:ln w="1905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194560"/>
            <a:ext cx="4754880" cy="457200"/>
          </a:xfrm>
          <a:prstGeom prst="rect">
            <a:avLst/>
          </a:prstGeom>
          <a:noFill/>
        </p:spPr>
        <p:txBody>
          <a:bodyPr wrap="square">
            <a:spAutoFit/>
          </a:bodyPr>
          <a:lstStyle/>
          <a:p>
            <a:pPr algn="l">
              <a:defRPr sz="1700" b="1">
                <a:solidFill>
                  <a:srgbClr val="2ECC71"/>
                </a:solidFill>
                <a:latin typeface="Arial"/>
              </a:defRPr>
            </a:pPr>
            <a:r>
              <a:t>TENDENCIA ALCISTA ↗</a:t>
            </a:r>
          </a:p>
        </p:txBody>
      </p:sp>
      <p:sp>
        <p:nvSpPr>
          <p:cNvPr id="8" name="TextBox 7"/>
          <p:cNvSpPr txBox="1"/>
          <p:nvPr/>
        </p:nvSpPr>
        <p:spPr>
          <a:xfrm>
            <a:off x="731520" y="2606040"/>
            <a:ext cx="4754880" cy="2697480"/>
          </a:xfrm>
          <a:prstGeom prst="rect">
            <a:avLst/>
          </a:prstGeom>
          <a:noFill/>
        </p:spPr>
        <p:txBody>
          <a:bodyPr wrap="square">
            <a:spAutoFit/>
          </a:bodyPr>
          <a:lstStyle/>
          <a:p>
            <a:pPr>
              <a:spcAft>
                <a:spcPts val="840"/>
              </a:spcAft>
              <a:defRPr sz="1400">
                <a:solidFill>
                  <a:srgbClr val="B0B8C4"/>
                </a:solidFill>
                <a:latin typeface="Arial"/>
              </a:defRPr>
            </a:pPr>
            <a:r>
              <a:t>Se traza uniendo mínimos</a:t>
            </a:r>
          </a:p>
          <a:p>
            <a:pPr>
              <a:spcAft>
                <a:spcPts val="840"/>
              </a:spcAft>
              <a:defRPr sz="1400">
                <a:solidFill>
                  <a:srgbClr val="B0B8C4"/>
                </a:solidFill>
                <a:latin typeface="Arial"/>
              </a:defRPr>
            </a:pPr>
            <a:r>
              <a:t>crecientes (pisos más altos).</a:t>
            </a:r>
          </a:p>
          <a:p>
            <a:pPr>
              <a:spcAft>
                <a:spcPts val="840"/>
              </a:spcAft>
              <a:defRPr sz="1400">
                <a:solidFill>
                  <a:srgbClr val="B0B8C4"/>
                </a:solidFill>
                <a:latin typeface="Arial"/>
              </a:defRPr>
            </a:pPr>
          </a:p>
          <a:p>
            <a:pPr>
              <a:spcAft>
                <a:spcPts val="840"/>
              </a:spcAft>
              <a:defRPr sz="1400">
                <a:solidFill>
                  <a:srgbClr val="B0B8C4"/>
                </a:solidFill>
                <a:latin typeface="Arial"/>
              </a:defRPr>
            </a:pPr>
            <a:r>
              <a:t>La línea va POR DEBAJO</a:t>
            </a:r>
          </a:p>
          <a:p>
            <a:pPr>
              <a:spcAft>
                <a:spcPts val="840"/>
              </a:spcAft>
              <a:defRPr sz="1400">
                <a:solidFill>
                  <a:srgbClr val="B0B8C4"/>
                </a:solidFill>
                <a:latin typeface="Arial"/>
              </a:defRPr>
            </a:pPr>
            <a:r>
              <a:t>de los puntos de apoyo.</a:t>
            </a:r>
          </a:p>
          <a:p>
            <a:pPr>
              <a:spcAft>
                <a:spcPts val="840"/>
              </a:spcAft>
              <a:defRPr sz="1400">
                <a:solidFill>
                  <a:srgbClr val="B0B8C4"/>
                </a:solidFill>
                <a:latin typeface="Arial"/>
              </a:defRPr>
            </a:pPr>
          </a:p>
          <a:p>
            <a:pPr>
              <a:spcAft>
                <a:spcPts val="840"/>
              </a:spcAft>
              <a:defRPr sz="1400">
                <a:solidFill>
                  <a:srgbClr val="B0B8C4"/>
                </a:solidFill>
                <a:latin typeface="Arial"/>
              </a:defRPr>
            </a:pPr>
            <a:r>
              <a:t>El precio sube haciendo</a:t>
            </a:r>
          </a:p>
          <a:p>
            <a:pPr>
              <a:spcAft>
                <a:spcPts val="840"/>
              </a:spcAft>
              <a:defRPr sz="1400">
                <a:solidFill>
                  <a:srgbClr val="B0B8C4"/>
                </a:solidFill>
                <a:latin typeface="Arial"/>
              </a:defRPr>
            </a:pPr>
            <a:r>
              <a:t>retrocesos cada vez más altos.</a:t>
            </a:r>
          </a:p>
        </p:txBody>
      </p:sp>
      <p:sp>
        <p:nvSpPr>
          <p:cNvPr id="9" name="Rounded Rectangle 8"/>
          <p:cNvSpPr/>
          <p:nvPr/>
        </p:nvSpPr>
        <p:spPr>
          <a:xfrm>
            <a:off x="6217920" y="2011680"/>
            <a:ext cx="5303520" cy="3474720"/>
          </a:xfrm>
          <a:prstGeom prst="roundRect">
            <a:avLst/>
          </a:prstGeom>
          <a:solidFill>
            <a:srgbClr val="152D4A"/>
          </a:solidFill>
          <a:ln w="19050">
            <a:solidFill>
              <a:srgbClr val="E8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2194560"/>
            <a:ext cx="4754880" cy="457200"/>
          </a:xfrm>
          <a:prstGeom prst="rect">
            <a:avLst/>
          </a:prstGeom>
          <a:noFill/>
        </p:spPr>
        <p:txBody>
          <a:bodyPr wrap="square">
            <a:spAutoFit/>
          </a:bodyPr>
          <a:lstStyle/>
          <a:p>
            <a:pPr algn="l">
              <a:defRPr sz="1700" b="1">
                <a:solidFill>
                  <a:srgbClr val="E84C3D"/>
                </a:solidFill>
                <a:latin typeface="Arial"/>
              </a:defRPr>
            </a:pPr>
            <a:r>
              <a:t>TENDENCIA BAJISTA ↘</a:t>
            </a:r>
          </a:p>
        </p:txBody>
      </p:sp>
      <p:sp>
        <p:nvSpPr>
          <p:cNvPr id="11" name="TextBox 10"/>
          <p:cNvSpPr txBox="1"/>
          <p:nvPr/>
        </p:nvSpPr>
        <p:spPr>
          <a:xfrm>
            <a:off x="6492240" y="2606040"/>
            <a:ext cx="4754880" cy="2697480"/>
          </a:xfrm>
          <a:prstGeom prst="rect">
            <a:avLst/>
          </a:prstGeom>
          <a:noFill/>
        </p:spPr>
        <p:txBody>
          <a:bodyPr wrap="square">
            <a:spAutoFit/>
          </a:bodyPr>
          <a:lstStyle/>
          <a:p>
            <a:pPr>
              <a:spcAft>
                <a:spcPts val="840"/>
              </a:spcAft>
              <a:defRPr sz="1400">
                <a:solidFill>
                  <a:srgbClr val="B0B8C4"/>
                </a:solidFill>
                <a:latin typeface="Arial"/>
              </a:defRPr>
            </a:pPr>
            <a:r>
              <a:t>Se traza uniendo máximos</a:t>
            </a:r>
          </a:p>
          <a:p>
            <a:pPr>
              <a:spcAft>
                <a:spcPts val="840"/>
              </a:spcAft>
              <a:defRPr sz="1400">
                <a:solidFill>
                  <a:srgbClr val="B0B8C4"/>
                </a:solidFill>
                <a:latin typeface="Arial"/>
              </a:defRPr>
            </a:pPr>
            <a:r>
              <a:t>decrecientes (techos más bajos).</a:t>
            </a:r>
          </a:p>
          <a:p>
            <a:pPr>
              <a:spcAft>
                <a:spcPts val="840"/>
              </a:spcAft>
              <a:defRPr sz="1400">
                <a:solidFill>
                  <a:srgbClr val="B0B8C4"/>
                </a:solidFill>
                <a:latin typeface="Arial"/>
              </a:defRPr>
            </a:pPr>
          </a:p>
          <a:p>
            <a:pPr>
              <a:spcAft>
                <a:spcPts val="840"/>
              </a:spcAft>
              <a:defRPr sz="1400">
                <a:solidFill>
                  <a:srgbClr val="B0B8C4"/>
                </a:solidFill>
                <a:latin typeface="Arial"/>
              </a:defRPr>
            </a:pPr>
            <a:r>
              <a:t>La línea va POR ENCIMA</a:t>
            </a:r>
          </a:p>
          <a:p>
            <a:pPr>
              <a:spcAft>
                <a:spcPts val="840"/>
              </a:spcAft>
              <a:defRPr sz="1400">
                <a:solidFill>
                  <a:srgbClr val="B0B8C4"/>
                </a:solidFill>
                <a:latin typeface="Arial"/>
              </a:defRPr>
            </a:pPr>
            <a:r>
              <a:t>de los puntos de rechazo.</a:t>
            </a:r>
          </a:p>
          <a:p>
            <a:pPr>
              <a:spcAft>
                <a:spcPts val="840"/>
              </a:spcAft>
              <a:defRPr sz="1400">
                <a:solidFill>
                  <a:srgbClr val="B0B8C4"/>
                </a:solidFill>
                <a:latin typeface="Arial"/>
              </a:defRPr>
            </a:pPr>
          </a:p>
          <a:p>
            <a:pPr>
              <a:spcAft>
                <a:spcPts val="840"/>
              </a:spcAft>
              <a:defRPr sz="1400">
                <a:solidFill>
                  <a:srgbClr val="B0B8C4"/>
                </a:solidFill>
                <a:latin typeface="Arial"/>
              </a:defRPr>
            </a:pPr>
            <a:r>
              <a:t>El precio baja haciendo</a:t>
            </a:r>
          </a:p>
          <a:p>
            <a:pPr>
              <a:spcAft>
                <a:spcPts val="840"/>
              </a:spcAft>
              <a:defRPr sz="1400">
                <a:solidFill>
                  <a:srgbClr val="B0B8C4"/>
                </a:solidFill>
                <a:latin typeface="Arial"/>
              </a:defRPr>
            </a:pPr>
            <a:r>
              <a:t>rebotes cada vez más bajos.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A2E"/>
        </a:solidFill>
        <a:effectLst/>
      </p:bgPr>
    </p:bg>
    <p:spTree>
      <p:nvGrpSpPr>
        <p:cNvPr id="1" name=""/>
        <p:cNvGrpSpPr/>
        <p:nvPr/>
      </p:nvGrpSpPr>
      <p:grpSpPr/>
      <p:sp>
        <p:nvSpPr>
          <p:cNvPr id="2" name="TextBox 1"/>
          <p:cNvSpPr txBox="1"/>
          <p:nvPr/>
        </p:nvSpPr>
        <p:spPr>
          <a:xfrm>
            <a:off x="457200" y="6400800"/>
            <a:ext cx="1371600" cy="365760"/>
          </a:xfrm>
          <a:prstGeom prst="rect">
            <a:avLst/>
          </a:prstGeom>
          <a:noFill/>
        </p:spPr>
        <p:txBody>
          <a:bodyPr wrap="square">
            <a:spAutoFit/>
          </a:bodyPr>
          <a:lstStyle/>
          <a:p>
            <a:pPr algn="l">
              <a:defRPr sz="1000" b="0">
                <a:solidFill>
                  <a:srgbClr val="6B7B8D"/>
                </a:solidFill>
                <a:latin typeface="Arial"/>
              </a:defRPr>
            </a:pPr>
            <a:r>
              <a:t>14 / 17</a:t>
            </a:r>
          </a:p>
        </p:txBody>
      </p:sp>
      <p:sp>
        <p:nvSpPr>
          <p:cNvPr id="3" name="TextBox 2"/>
          <p:cNvSpPr txBox="1"/>
          <p:nvPr/>
        </p:nvSpPr>
        <p:spPr>
          <a:xfrm>
            <a:off x="8534095" y="6400800"/>
            <a:ext cx="3200400" cy="365760"/>
          </a:xfrm>
          <a:prstGeom prst="rect">
            <a:avLst/>
          </a:prstGeom>
          <a:noFill/>
        </p:spPr>
        <p:txBody>
          <a:bodyPr wrap="square">
            <a:spAutoFit/>
          </a:bodyPr>
          <a:lstStyle/>
          <a:p>
            <a:pPr algn="r">
              <a:defRPr sz="1000" b="0">
                <a:solidFill>
                  <a:srgbClr val="6B7B8D"/>
                </a:solidFill>
                <a:latin typeface="Arial"/>
              </a:defRPr>
            </a:pPr>
            <a:r>
              <a:t>Curso de Trading · Índices Sintéticos y Forex</a:t>
            </a:r>
          </a:p>
        </p:txBody>
      </p:sp>
      <p:sp>
        <p:nvSpPr>
          <p:cNvPr id="4" name="TextBox 3"/>
          <p:cNvSpPr txBox="1"/>
          <p:nvPr/>
        </p:nvSpPr>
        <p:spPr>
          <a:xfrm>
            <a:off x="731520" y="457200"/>
            <a:ext cx="9144000" cy="548640"/>
          </a:xfrm>
          <a:prstGeom prst="rect">
            <a:avLst/>
          </a:prstGeom>
          <a:noFill/>
        </p:spPr>
        <p:txBody>
          <a:bodyPr wrap="square">
            <a:spAutoFit/>
          </a:bodyPr>
          <a:lstStyle/>
          <a:p>
            <a:pPr algn="l">
              <a:defRPr sz="3200" b="1">
                <a:solidFill>
                  <a:srgbClr val="FFFFFF"/>
                </a:solidFill>
                <a:latin typeface="Arial"/>
              </a:defRPr>
            </a:pPr>
            <a:r>
              <a:t>Rompimiento y Retesteo</a:t>
            </a:r>
          </a:p>
        </p:txBody>
      </p:sp>
      <p:sp>
        <p:nvSpPr>
          <p:cNvPr id="5" name="Rounded Rectangle 4"/>
          <p:cNvSpPr/>
          <p:nvPr/>
        </p:nvSpPr>
        <p:spPr>
          <a:xfrm>
            <a:off x="731520" y="1188720"/>
            <a:ext cx="10058400" cy="1371600"/>
          </a:xfrm>
          <a:prstGeom prst="roundRect">
            <a:avLst/>
          </a:prstGeom>
          <a:solidFill>
            <a:srgbClr val="152D4A"/>
          </a:solidFill>
          <a:ln w="12700">
            <a:solidFill>
              <a:srgbClr val="D4A5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371600"/>
            <a:ext cx="9326880" cy="1097280"/>
          </a:xfrm>
          <a:prstGeom prst="rect">
            <a:avLst/>
          </a:prstGeom>
          <a:noFill/>
        </p:spPr>
        <p:txBody>
          <a:bodyPr wrap="square">
            <a:spAutoFit/>
          </a:bodyPr>
          <a:lstStyle/>
          <a:p>
            <a:pPr algn="l">
              <a:defRPr sz="1700" b="1">
                <a:solidFill>
                  <a:srgbClr val="FFFFFF"/>
                </a:solidFill>
                <a:latin typeface="Arial"/>
              </a:defRPr>
            </a:pPr>
            <a:r>
              <a:t>Cuando el precio rompe su línea de tendencia, NO significa</a:t>
            </a:r>
            <a:br/>
            <a:r>
              <a:t>automáticamente que cambió la dirección del mercado.</a:t>
            </a:r>
          </a:p>
        </p:txBody>
      </p:sp>
      <p:sp>
        <p:nvSpPr>
          <p:cNvPr id="7" name="TextBox 6"/>
          <p:cNvSpPr txBox="1"/>
          <p:nvPr/>
        </p:nvSpPr>
        <p:spPr>
          <a:xfrm>
            <a:off x="731520" y="2926080"/>
            <a:ext cx="10058400" cy="3200400"/>
          </a:xfrm>
          <a:prstGeom prst="rect">
            <a:avLst/>
          </a:prstGeom>
          <a:noFill/>
        </p:spPr>
        <p:txBody>
          <a:bodyPr wrap="square">
            <a:spAutoFit/>
          </a:bodyPr>
          <a:lstStyle/>
          <a:p>
            <a:pPr>
              <a:spcAft>
                <a:spcPts val="1019"/>
              </a:spcAft>
              <a:defRPr sz="1700">
                <a:solidFill>
                  <a:srgbClr val="FFFFFF"/>
                </a:solidFill>
                <a:latin typeface="Arial"/>
              </a:defRPr>
            </a:pPr>
            <a:r>
              <a:t>1.  El precio ROMPE la línea de tendencia</a:t>
            </a:r>
          </a:p>
          <a:p>
            <a:pPr>
              <a:spcAft>
                <a:spcPts val="1019"/>
              </a:spcAft>
              <a:defRPr sz="1700">
                <a:solidFill>
                  <a:srgbClr val="FFFFFF"/>
                </a:solidFill>
                <a:latin typeface="Arial"/>
              </a:defRPr>
            </a:pPr>
          </a:p>
          <a:p>
            <a:pPr>
              <a:spcAft>
                <a:spcPts val="1019"/>
              </a:spcAft>
              <a:defRPr sz="1700">
                <a:solidFill>
                  <a:srgbClr val="FFFFFF"/>
                </a:solidFill>
                <a:latin typeface="Arial"/>
              </a:defRPr>
            </a:pPr>
            <a:r>
              <a:t>2.  Crea una contratendencia temporal</a:t>
            </a:r>
          </a:p>
          <a:p>
            <a:pPr>
              <a:spcAft>
                <a:spcPts val="1019"/>
              </a:spcAft>
              <a:defRPr sz="1700">
                <a:solidFill>
                  <a:srgbClr val="FFFFFF"/>
                </a:solidFill>
                <a:latin typeface="Arial"/>
              </a:defRPr>
            </a:pPr>
          </a:p>
          <a:p>
            <a:pPr>
              <a:spcAft>
                <a:spcPts val="1019"/>
              </a:spcAft>
              <a:defRPr sz="1700">
                <a:solidFill>
                  <a:srgbClr val="FFFFFF"/>
                </a:solidFill>
                <a:latin typeface="Arial"/>
              </a:defRPr>
            </a:pPr>
            <a:r>
              <a:t>3.  VUELVE A TESTEAR la línea rota (desde el otro lado)</a:t>
            </a:r>
          </a:p>
          <a:p>
            <a:pPr>
              <a:spcAft>
                <a:spcPts val="1019"/>
              </a:spcAft>
              <a:defRPr sz="1700">
                <a:solidFill>
                  <a:srgbClr val="FFFFFF"/>
                </a:solidFill>
                <a:latin typeface="Arial"/>
              </a:defRPr>
            </a:pPr>
          </a:p>
          <a:p>
            <a:pPr>
              <a:spcAft>
                <a:spcPts val="1019"/>
              </a:spcAft>
              <a:defRPr sz="1700">
                <a:solidFill>
                  <a:srgbClr val="FFFFFF"/>
                </a:solidFill>
                <a:latin typeface="Arial"/>
              </a:defRPr>
            </a:pPr>
            <a:r>
              <a:t>4.  Si RESPETA esa línea rota → confirma continuación o cambio estructural</a:t>
            </a:r>
          </a:p>
        </p:txBody>
      </p:sp>
      <p:sp>
        <p:nvSpPr>
          <p:cNvPr id="8" name="TextBox 7"/>
          <p:cNvSpPr txBox="1"/>
          <p:nvPr/>
        </p:nvSpPr>
        <p:spPr>
          <a:xfrm>
            <a:off x="731520" y="5669280"/>
            <a:ext cx="10058400" cy="457200"/>
          </a:xfrm>
          <a:prstGeom prst="rect">
            <a:avLst/>
          </a:prstGeom>
          <a:noFill/>
        </p:spPr>
        <p:txBody>
          <a:bodyPr wrap="square">
            <a:spAutoFit/>
          </a:bodyPr>
          <a:lstStyle/>
          <a:p>
            <a:pPr algn="ctr">
              <a:defRPr sz="1500" b="1">
                <a:solidFill>
                  <a:srgbClr val="00C9A7"/>
                </a:solidFill>
                <a:latin typeface="Arial"/>
              </a:defRPr>
            </a:pPr>
            <a:r>
              <a:t>El retesteo desde el lado contrario = momento clave de decisión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A2E"/>
        </a:solidFill>
        <a:effectLst/>
      </p:bgPr>
    </p:bg>
    <p:spTree>
      <p:nvGrpSpPr>
        <p:cNvPr id="1" name=""/>
        <p:cNvGrpSpPr/>
        <p:nvPr/>
      </p:nvGrpSpPr>
      <p:grpSpPr/>
      <p:sp>
        <p:nvSpPr>
          <p:cNvPr id="2" name="TextBox 1"/>
          <p:cNvSpPr txBox="1"/>
          <p:nvPr/>
        </p:nvSpPr>
        <p:spPr>
          <a:xfrm>
            <a:off x="457200" y="6400800"/>
            <a:ext cx="1371600" cy="365760"/>
          </a:xfrm>
          <a:prstGeom prst="rect">
            <a:avLst/>
          </a:prstGeom>
          <a:noFill/>
        </p:spPr>
        <p:txBody>
          <a:bodyPr wrap="square">
            <a:spAutoFit/>
          </a:bodyPr>
          <a:lstStyle/>
          <a:p>
            <a:pPr algn="l">
              <a:defRPr sz="1000" b="0">
                <a:solidFill>
                  <a:srgbClr val="6B7B8D"/>
                </a:solidFill>
                <a:latin typeface="Arial"/>
              </a:defRPr>
            </a:pPr>
            <a:r>
              <a:t>15 / 17</a:t>
            </a:r>
          </a:p>
        </p:txBody>
      </p:sp>
      <p:sp>
        <p:nvSpPr>
          <p:cNvPr id="3" name="TextBox 2"/>
          <p:cNvSpPr txBox="1"/>
          <p:nvPr/>
        </p:nvSpPr>
        <p:spPr>
          <a:xfrm>
            <a:off x="8534095" y="6400800"/>
            <a:ext cx="3200400" cy="365760"/>
          </a:xfrm>
          <a:prstGeom prst="rect">
            <a:avLst/>
          </a:prstGeom>
          <a:noFill/>
        </p:spPr>
        <p:txBody>
          <a:bodyPr wrap="square">
            <a:spAutoFit/>
          </a:bodyPr>
          <a:lstStyle/>
          <a:p>
            <a:pPr algn="r">
              <a:defRPr sz="1000" b="0">
                <a:solidFill>
                  <a:srgbClr val="6B7B8D"/>
                </a:solidFill>
                <a:latin typeface="Arial"/>
              </a:defRPr>
            </a:pPr>
            <a:r>
              <a:t>Curso de Trading · Índices Sintéticos y Forex</a:t>
            </a:r>
          </a:p>
        </p:txBody>
      </p:sp>
      <p:sp>
        <p:nvSpPr>
          <p:cNvPr id="4" name="TextBox 3"/>
          <p:cNvSpPr txBox="1"/>
          <p:nvPr/>
        </p:nvSpPr>
        <p:spPr>
          <a:xfrm>
            <a:off x="731520" y="457200"/>
            <a:ext cx="9144000" cy="548640"/>
          </a:xfrm>
          <a:prstGeom prst="rect">
            <a:avLst/>
          </a:prstGeom>
          <a:noFill/>
        </p:spPr>
        <p:txBody>
          <a:bodyPr wrap="square">
            <a:spAutoFit/>
          </a:bodyPr>
          <a:lstStyle/>
          <a:p>
            <a:pPr algn="l">
              <a:defRPr sz="3200" b="1">
                <a:solidFill>
                  <a:srgbClr val="FFFFFF"/>
                </a:solidFill>
                <a:latin typeface="Arial"/>
              </a:defRPr>
            </a:pPr>
            <a:r>
              <a:t>Resumen de la Clase</a:t>
            </a:r>
          </a:p>
        </p:txBody>
      </p:sp>
      <p:sp>
        <p:nvSpPr>
          <p:cNvPr id="5" name="TextBox 4"/>
          <p:cNvSpPr txBox="1"/>
          <p:nvPr/>
        </p:nvSpPr>
        <p:spPr>
          <a:xfrm>
            <a:off x="731520" y="1280160"/>
            <a:ext cx="731520" cy="731520"/>
          </a:xfrm>
          <a:prstGeom prst="rect">
            <a:avLst/>
          </a:prstGeom>
          <a:noFill/>
        </p:spPr>
        <p:txBody>
          <a:bodyPr wrap="square">
            <a:spAutoFit/>
          </a:bodyPr>
          <a:lstStyle/>
          <a:p>
            <a:pPr algn="l">
              <a:defRPr sz="2200" b="1">
                <a:solidFill>
                  <a:srgbClr val="D4A537"/>
                </a:solidFill>
                <a:latin typeface="Arial"/>
              </a:defRPr>
            </a:pPr>
            <a:r>
              <a:t>01</a:t>
            </a:r>
          </a:p>
        </p:txBody>
      </p:sp>
      <p:sp>
        <p:nvSpPr>
          <p:cNvPr id="6" name="TextBox 5"/>
          <p:cNvSpPr txBox="1"/>
          <p:nvPr/>
        </p:nvSpPr>
        <p:spPr>
          <a:xfrm>
            <a:off x="1645920" y="1280160"/>
            <a:ext cx="3657600" cy="457200"/>
          </a:xfrm>
          <a:prstGeom prst="rect">
            <a:avLst/>
          </a:prstGeom>
          <a:noFill/>
        </p:spPr>
        <p:txBody>
          <a:bodyPr wrap="square">
            <a:spAutoFit/>
          </a:bodyPr>
          <a:lstStyle/>
          <a:p>
            <a:pPr algn="l">
              <a:defRPr sz="1500" b="1">
                <a:solidFill>
                  <a:srgbClr val="FFFFFF"/>
                </a:solidFill>
                <a:latin typeface="Arial"/>
              </a:defRPr>
            </a:pPr>
            <a:r>
              <a:t>LECTURA DEL PRECIO</a:t>
            </a:r>
          </a:p>
        </p:txBody>
      </p:sp>
      <p:sp>
        <p:nvSpPr>
          <p:cNvPr id="7" name="TextBox 6"/>
          <p:cNvSpPr txBox="1"/>
          <p:nvPr/>
        </p:nvSpPr>
        <p:spPr>
          <a:xfrm>
            <a:off x="1645920" y="1645920"/>
            <a:ext cx="8229600" cy="365760"/>
          </a:xfrm>
          <a:prstGeom prst="rect">
            <a:avLst/>
          </a:prstGeom>
          <a:noFill/>
        </p:spPr>
        <p:txBody>
          <a:bodyPr wrap="square">
            <a:spAutoFit/>
          </a:bodyPr>
          <a:lstStyle/>
          <a:p>
            <a:pPr algn="l">
              <a:defRPr sz="1300" b="0">
                <a:solidFill>
                  <a:srgbClr val="B0B8C4"/>
                </a:solidFill>
                <a:latin typeface="Arial"/>
              </a:defRPr>
            </a:pPr>
            <a:r>
              <a:t>HH/HL = alcista · LH/LL = bajista</a:t>
            </a:r>
          </a:p>
        </p:txBody>
      </p:sp>
      <p:sp>
        <p:nvSpPr>
          <p:cNvPr id="8" name="TextBox 7"/>
          <p:cNvSpPr txBox="1"/>
          <p:nvPr/>
        </p:nvSpPr>
        <p:spPr>
          <a:xfrm>
            <a:off x="731520" y="2240280"/>
            <a:ext cx="731520" cy="731520"/>
          </a:xfrm>
          <a:prstGeom prst="rect">
            <a:avLst/>
          </a:prstGeom>
          <a:noFill/>
        </p:spPr>
        <p:txBody>
          <a:bodyPr wrap="square">
            <a:spAutoFit/>
          </a:bodyPr>
          <a:lstStyle/>
          <a:p>
            <a:pPr algn="l">
              <a:defRPr sz="2200" b="1">
                <a:solidFill>
                  <a:srgbClr val="00C9A7"/>
                </a:solidFill>
                <a:latin typeface="Arial"/>
              </a:defRPr>
            </a:pPr>
            <a:r>
              <a:t>02</a:t>
            </a:r>
          </a:p>
        </p:txBody>
      </p:sp>
      <p:sp>
        <p:nvSpPr>
          <p:cNvPr id="9" name="TextBox 8"/>
          <p:cNvSpPr txBox="1"/>
          <p:nvPr/>
        </p:nvSpPr>
        <p:spPr>
          <a:xfrm>
            <a:off x="1645920" y="2240280"/>
            <a:ext cx="3657600" cy="457200"/>
          </a:xfrm>
          <a:prstGeom prst="rect">
            <a:avLst/>
          </a:prstGeom>
          <a:noFill/>
        </p:spPr>
        <p:txBody>
          <a:bodyPr wrap="square">
            <a:spAutoFit/>
          </a:bodyPr>
          <a:lstStyle/>
          <a:p>
            <a:pPr algn="l">
              <a:defRPr sz="1500" b="1">
                <a:solidFill>
                  <a:srgbClr val="FFFFFF"/>
                </a:solidFill>
                <a:latin typeface="Arial"/>
              </a:defRPr>
            </a:pPr>
            <a:r>
              <a:t>SOPORTES Y RESISTENCIAS</a:t>
            </a:r>
          </a:p>
        </p:txBody>
      </p:sp>
      <p:sp>
        <p:nvSpPr>
          <p:cNvPr id="10" name="TextBox 9"/>
          <p:cNvSpPr txBox="1"/>
          <p:nvPr/>
        </p:nvSpPr>
        <p:spPr>
          <a:xfrm>
            <a:off x="1645920" y="2606040"/>
            <a:ext cx="8229600" cy="365760"/>
          </a:xfrm>
          <a:prstGeom prst="rect">
            <a:avLst/>
          </a:prstGeom>
          <a:noFill/>
        </p:spPr>
        <p:txBody>
          <a:bodyPr wrap="square">
            <a:spAutoFit/>
          </a:bodyPr>
          <a:lstStyle/>
          <a:p>
            <a:pPr algn="l">
              <a:defRPr sz="1300" b="0">
                <a:solidFill>
                  <a:srgbClr val="B0B8C4"/>
                </a:solidFill>
                <a:latin typeface="Arial"/>
              </a:defRPr>
            </a:pPr>
            <a:r>
              <a:t>3 testeos: descubre → valida → operativo</a:t>
            </a:r>
          </a:p>
        </p:txBody>
      </p:sp>
      <p:sp>
        <p:nvSpPr>
          <p:cNvPr id="11" name="TextBox 10"/>
          <p:cNvSpPr txBox="1"/>
          <p:nvPr/>
        </p:nvSpPr>
        <p:spPr>
          <a:xfrm>
            <a:off x="731520" y="3200400"/>
            <a:ext cx="731520" cy="731520"/>
          </a:xfrm>
          <a:prstGeom prst="rect">
            <a:avLst/>
          </a:prstGeom>
          <a:noFill/>
        </p:spPr>
        <p:txBody>
          <a:bodyPr wrap="square">
            <a:spAutoFit/>
          </a:bodyPr>
          <a:lstStyle/>
          <a:p>
            <a:pPr algn="l">
              <a:defRPr sz="2200" b="1">
                <a:solidFill>
                  <a:srgbClr val="2ECC71"/>
                </a:solidFill>
                <a:latin typeface="Arial"/>
              </a:defRPr>
            </a:pPr>
            <a:r>
              <a:t>03</a:t>
            </a:r>
          </a:p>
        </p:txBody>
      </p:sp>
      <p:sp>
        <p:nvSpPr>
          <p:cNvPr id="12" name="TextBox 11"/>
          <p:cNvSpPr txBox="1"/>
          <p:nvPr/>
        </p:nvSpPr>
        <p:spPr>
          <a:xfrm>
            <a:off x="1645920" y="3200400"/>
            <a:ext cx="3657600" cy="457200"/>
          </a:xfrm>
          <a:prstGeom prst="rect">
            <a:avLst/>
          </a:prstGeom>
          <a:noFill/>
        </p:spPr>
        <p:txBody>
          <a:bodyPr wrap="square">
            <a:spAutoFit/>
          </a:bodyPr>
          <a:lstStyle/>
          <a:p>
            <a:pPr algn="l">
              <a:defRPr sz="1500" b="1">
                <a:solidFill>
                  <a:srgbClr val="FFFFFF"/>
                </a:solidFill>
                <a:latin typeface="Arial"/>
              </a:defRPr>
            </a:pPr>
            <a:r>
              <a:t>CONFIRMACIÓN CON VELAS</a:t>
            </a:r>
          </a:p>
        </p:txBody>
      </p:sp>
      <p:sp>
        <p:nvSpPr>
          <p:cNvPr id="13" name="TextBox 12"/>
          <p:cNvSpPr txBox="1"/>
          <p:nvPr/>
        </p:nvSpPr>
        <p:spPr>
          <a:xfrm>
            <a:off x="1645920" y="3566160"/>
            <a:ext cx="8229600" cy="365760"/>
          </a:xfrm>
          <a:prstGeom prst="rect">
            <a:avLst/>
          </a:prstGeom>
          <a:noFill/>
        </p:spPr>
        <p:txBody>
          <a:bodyPr wrap="square">
            <a:spAutoFit/>
          </a:bodyPr>
          <a:lstStyle/>
          <a:p>
            <a:pPr algn="l">
              <a:defRPr sz="1300" b="0">
                <a:solidFill>
                  <a:srgbClr val="B0B8C4"/>
                </a:solidFill>
                <a:latin typeface="Arial"/>
              </a:defRPr>
            </a:pPr>
            <a:r>
              <a:t>Zona + Hora + Patrón = Confluencia</a:t>
            </a:r>
          </a:p>
        </p:txBody>
      </p:sp>
      <p:sp>
        <p:nvSpPr>
          <p:cNvPr id="14" name="TextBox 13"/>
          <p:cNvSpPr txBox="1"/>
          <p:nvPr/>
        </p:nvSpPr>
        <p:spPr>
          <a:xfrm>
            <a:off x="731520" y="4160520"/>
            <a:ext cx="731520" cy="731520"/>
          </a:xfrm>
          <a:prstGeom prst="rect">
            <a:avLst/>
          </a:prstGeom>
          <a:noFill/>
        </p:spPr>
        <p:txBody>
          <a:bodyPr wrap="square">
            <a:spAutoFit/>
          </a:bodyPr>
          <a:lstStyle/>
          <a:p>
            <a:pPr algn="l">
              <a:defRPr sz="2200" b="1">
                <a:solidFill>
                  <a:srgbClr val="D4A537"/>
                </a:solidFill>
                <a:latin typeface="Arial"/>
              </a:defRPr>
            </a:pPr>
            <a:r>
              <a:t>04</a:t>
            </a:r>
          </a:p>
        </p:txBody>
      </p:sp>
      <p:sp>
        <p:nvSpPr>
          <p:cNvPr id="15" name="TextBox 14"/>
          <p:cNvSpPr txBox="1"/>
          <p:nvPr/>
        </p:nvSpPr>
        <p:spPr>
          <a:xfrm>
            <a:off x="1645920" y="4160520"/>
            <a:ext cx="3657600" cy="457200"/>
          </a:xfrm>
          <a:prstGeom prst="rect">
            <a:avLst/>
          </a:prstGeom>
          <a:noFill/>
        </p:spPr>
        <p:txBody>
          <a:bodyPr wrap="square">
            <a:spAutoFit/>
          </a:bodyPr>
          <a:lstStyle/>
          <a:p>
            <a:pPr algn="l">
              <a:defRPr sz="1500" b="1">
                <a:solidFill>
                  <a:srgbClr val="FFFFFF"/>
                </a:solidFill>
                <a:latin typeface="Arial"/>
              </a:defRPr>
            </a:pPr>
            <a:r>
              <a:t>TEMPORALIDADES</a:t>
            </a:r>
          </a:p>
        </p:txBody>
      </p:sp>
      <p:sp>
        <p:nvSpPr>
          <p:cNvPr id="16" name="TextBox 15"/>
          <p:cNvSpPr txBox="1"/>
          <p:nvPr/>
        </p:nvSpPr>
        <p:spPr>
          <a:xfrm>
            <a:off x="1645920" y="4526280"/>
            <a:ext cx="8229600" cy="365760"/>
          </a:xfrm>
          <a:prstGeom prst="rect">
            <a:avLst/>
          </a:prstGeom>
          <a:noFill/>
        </p:spPr>
        <p:txBody>
          <a:bodyPr wrap="square">
            <a:spAutoFit/>
          </a:bodyPr>
          <a:lstStyle/>
          <a:p>
            <a:pPr algn="l">
              <a:defRPr sz="1300" b="0">
                <a:solidFill>
                  <a:srgbClr val="B0B8C4"/>
                </a:solidFill>
                <a:latin typeface="Arial"/>
              </a:defRPr>
            </a:pPr>
            <a:r>
              <a:t>H1 estructura → M15 contexto → M1 entrada</a:t>
            </a:r>
          </a:p>
        </p:txBody>
      </p:sp>
      <p:sp>
        <p:nvSpPr>
          <p:cNvPr id="17" name="TextBox 16"/>
          <p:cNvSpPr txBox="1"/>
          <p:nvPr/>
        </p:nvSpPr>
        <p:spPr>
          <a:xfrm>
            <a:off x="731520" y="5120640"/>
            <a:ext cx="731520" cy="731520"/>
          </a:xfrm>
          <a:prstGeom prst="rect">
            <a:avLst/>
          </a:prstGeom>
          <a:noFill/>
        </p:spPr>
        <p:txBody>
          <a:bodyPr wrap="square">
            <a:spAutoFit/>
          </a:bodyPr>
          <a:lstStyle/>
          <a:p>
            <a:pPr algn="l">
              <a:defRPr sz="2200" b="1">
                <a:solidFill>
                  <a:srgbClr val="00C9A7"/>
                </a:solidFill>
                <a:latin typeface="Arial"/>
              </a:defRPr>
            </a:pPr>
            <a:r>
              <a:t>05</a:t>
            </a:r>
          </a:p>
        </p:txBody>
      </p:sp>
      <p:sp>
        <p:nvSpPr>
          <p:cNvPr id="18" name="TextBox 17"/>
          <p:cNvSpPr txBox="1"/>
          <p:nvPr/>
        </p:nvSpPr>
        <p:spPr>
          <a:xfrm>
            <a:off x="1645920" y="5120640"/>
            <a:ext cx="3657600" cy="457200"/>
          </a:xfrm>
          <a:prstGeom prst="rect">
            <a:avLst/>
          </a:prstGeom>
          <a:noFill/>
        </p:spPr>
        <p:txBody>
          <a:bodyPr wrap="square">
            <a:spAutoFit/>
          </a:bodyPr>
          <a:lstStyle/>
          <a:p>
            <a:pPr algn="l">
              <a:defRPr sz="1500" b="1">
                <a:solidFill>
                  <a:srgbClr val="FFFFFF"/>
                </a:solidFill>
                <a:latin typeface="Arial"/>
              </a:defRPr>
            </a:pPr>
            <a:r>
              <a:t>LÍNEA DE TENDENCIA</a:t>
            </a:r>
          </a:p>
        </p:txBody>
      </p:sp>
      <p:sp>
        <p:nvSpPr>
          <p:cNvPr id="19" name="TextBox 18"/>
          <p:cNvSpPr txBox="1"/>
          <p:nvPr/>
        </p:nvSpPr>
        <p:spPr>
          <a:xfrm>
            <a:off x="1645920" y="5486400"/>
            <a:ext cx="8229600" cy="365760"/>
          </a:xfrm>
          <a:prstGeom prst="rect">
            <a:avLst/>
          </a:prstGeom>
          <a:noFill/>
        </p:spPr>
        <p:txBody>
          <a:bodyPr wrap="square">
            <a:spAutoFit/>
          </a:bodyPr>
          <a:lstStyle/>
          <a:p>
            <a:pPr algn="l">
              <a:defRPr sz="1300" b="0">
                <a:solidFill>
                  <a:srgbClr val="B0B8C4"/>
                </a:solidFill>
                <a:latin typeface="Arial"/>
              </a:defRPr>
            </a:pPr>
            <a:r>
              <a:t>Trazar a favor + Rompimiento y retesteo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A2E"/>
        </a:solidFill>
        <a:effectLst/>
      </p:bgPr>
    </p:bg>
    <p:spTree>
      <p:nvGrpSpPr>
        <p:cNvPr id="1" name=""/>
        <p:cNvGrpSpPr/>
        <p:nvPr/>
      </p:nvGrpSpPr>
      <p:grpSpPr/>
      <p:sp>
        <p:nvSpPr>
          <p:cNvPr id="2" name="TextBox 1"/>
          <p:cNvSpPr txBox="1"/>
          <p:nvPr/>
        </p:nvSpPr>
        <p:spPr>
          <a:xfrm>
            <a:off x="457200" y="6400800"/>
            <a:ext cx="1371600" cy="365760"/>
          </a:xfrm>
          <a:prstGeom prst="rect">
            <a:avLst/>
          </a:prstGeom>
          <a:noFill/>
        </p:spPr>
        <p:txBody>
          <a:bodyPr wrap="square">
            <a:spAutoFit/>
          </a:bodyPr>
          <a:lstStyle/>
          <a:p>
            <a:pPr algn="l">
              <a:defRPr sz="1000" b="0">
                <a:solidFill>
                  <a:srgbClr val="6B7B8D"/>
                </a:solidFill>
                <a:latin typeface="Arial"/>
              </a:defRPr>
            </a:pPr>
            <a:r>
              <a:t>16 / 17</a:t>
            </a:r>
          </a:p>
        </p:txBody>
      </p:sp>
      <p:sp>
        <p:nvSpPr>
          <p:cNvPr id="3" name="TextBox 2"/>
          <p:cNvSpPr txBox="1"/>
          <p:nvPr/>
        </p:nvSpPr>
        <p:spPr>
          <a:xfrm>
            <a:off x="8534095" y="6400800"/>
            <a:ext cx="3200400" cy="365760"/>
          </a:xfrm>
          <a:prstGeom prst="rect">
            <a:avLst/>
          </a:prstGeom>
          <a:noFill/>
        </p:spPr>
        <p:txBody>
          <a:bodyPr wrap="square">
            <a:spAutoFit/>
          </a:bodyPr>
          <a:lstStyle/>
          <a:p>
            <a:pPr algn="r">
              <a:defRPr sz="1000" b="0">
                <a:solidFill>
                  <a:srgbClr val="6B7B8D"/>
                </a:solidFill>
                <a:latin typeface="Arial"/>
              </a:defRPr>
            </a:pPr>
            <a:r>
              <a:t>Curso de Trading · Índices Sintéticos y Forex</a:t>
            </a:r>
          </a:p>
        </p:txBody>
      </p:sp>
      <p:sp>
        <p:nvSpPr>
          <p:cNvPr id="4" name="TextBox 3"/>
          <p:cNvSpPr txBox="1"/>
          <p:nvPr/>
        </p:nvSpPr>
        <p:spPr>
          <a:xfrm>
            <a:off x="731520" y="457200"/>
            <a:ext cx="9144000" cy="548640"/>
          </a:xfrm>
          <a:prstGeom prst="rect">
            <a:avLst/>
          </a:prstGeom>
          <a:noFill/>
        </p:spPr>
        <p:txBody>
          <a:bodyPr wrap="square">
            <a:spAutoFit/>
          </a:bodyPr>
          <a:lstStyle/>
          <a:p>
            <a:pPr algn="l">
              <a:defRPr sz="3200" b="1">
                <a:solidFill>
                  <a:srgbClr val="D4A537"/>
                </a:solidFill>
                <a:latin typeface="Arial"/>
              </a:defRPr>
            </a:pPr>
            <a:r>
              <a:t>Tarea</a:t>
            </a:r>
          </a:p>
        </p:txBody>
      </p:sp>
      <p:sp>
        <p:nvSpPr>
          <p:cNvPr id="5" name="TextBox 4"/>
          <p:cNvSpPr txBox="1"/>
          <p:nvPr/>
        </p:nvSpPr>
        <p:spPr>
          <a:xfrm>
            <a:off x="731520" y="1371600"/>
            <a:ext cx="10058400" cy="4572000"/>
          </a:xfrm>
          <a:prstGeom prst="rect">
            <a:avLst/>
          </a:prstGeom>
          <a:noFill/>
        </p:spPr>
        <p:txBody>
          <a:bodyPr wrap="square">
            <a:spAutoFit/>
          </a:bodyPr>
          <a:lstStyle/>
          <a:p>
            <a:pPr>
              <a:spcAft>
                <a:spcPts val="1019"/>
              </a:spcAft>
              <a:defRPr sz="1700">
                <a:solidFill>
                  <a:srgbClr val="FFFFFF"/>
                </a:solidFill>
                <a:latin typeface="Arial"/>
              </a:defRPr>
            </a:pPr>
            <a:r>
              <a:t>1.  Abrir un gráfico (V75 o EUR/USD) y marcar:</a:t>
            </a:r>
          </a:p>
          <a:p>
            <a:pPr>
              <a:spcAft>
                <a:spcPts val="1019"/>
              </a:spcAft>
              <a:defRPr sz="1700">
                <a:solidFill>
                  <a:srgbClr val="FFFFFF"/>
                </a:solidFill>
                <a:latin typeface="Arial"/>
              </a:defRPr>
            </a:pPr>
            <a:r>
              <a:t>     • Soportes y resistencias con sus testeos</a:t>
            </a:r>
          </a:p>
          <a:p>
            <a:pPr>
              <a:spcAft>
                <a:spcPts val="1019"/>
              </a:spcAft>
              <a:defRPr sz="1700">
                <a:solidFill>
                  <a:srgbClr val="FFFFFF"/>
                </a:solidFill>
                <a:latin typeface="Arial"/>
              </a:defRPr>
            </a:pPr>
            <a:r>
              <a:t>     • Estructura (HH/HL o LH/LL)</a:t>
            </a:r>
          </a:p>
          <a:p>
            <a:pPr>
              <a:spcAft>
                <a:spcPts val="1019"/>
              </a:spcAft>
              <a:defRPr sz="1700">
                <a:solidFill>
                  <a:srgbClr val="FFFFFF"/>
                </a:solidFill>
                <a:latin typeface="Arial"/>
              </a:defRPr>
            </a:pPr>
            <a:r>
              <a:t>     • Línea de tendencia principal</a:t>
            </a:r>
          </a:p>
          <a:p>
            <a:pPr>
              <a:spcAft>
                <a:spcPts val="1019"/>
              </a:spcAft>
              <a:defRPr sz="1700">
                <a:solidFill>
                  <a:srgbClr val="FFFFFF"/>
                </a:solidFill>
                <a:latin typeface="Arial"/>
              </a:defRPr>
            </a:pPr>
          </a:p>
          <a:p>
            <a:pPr>
              <a:spcAft>
                <a:spcPts val="1019"/>
              </a:spcAft>
              <a:defRPr sz="1700">
                <a:solidFill>
                  <a:srgbClr val="FFFFFF"/>
                </a:solidFill>
                <a:latin typeface="Arial"/>
              </a:defRPr>
            </a:pPr>
            <a:r>
              <a:t>2.  Buscar 2 ejemplos donde el cierre M5 confirmó</a:t>
            </a:r>
          </a:p>
          <a:p>
            <a:pPr>
              <a:spcAft>
                <a:spcPts val="1019"/>
              </a:spcAft>
              <a:defRPr sz="1700">
                <a:solidFill>
                  <a:srgbClr val="FFFFFF"/>
                </a:solidFill>
                <a:latin typeface="Arial"/>
              </a:defRPr>
            </a:pPr>
            <a:r>
              <a:t>     movimiento y 2 donde mostró rechazo (trampa).</a:t>
            </a:r>
          </a:p>
          <a:p>
            <a:pPr>
              <a:spcAft>
                <a:spcPts val="1019"/>
              </a:spcAft>
              <a:defRPr sz="1700">
                <a:solidFill>
                  <a:srgbClr val="FFFFFF"/>
                </a:solidFill>
                <a:latin typeface="Arial"/>
              </a:defRPr>
            </a:pPr>
          </a:p>
          <a:p>
            <a:pPr>
              <a:spcAft>
                <a:spcPts val="1019"/>
              </a:spcAft>
              <a:defRPr sz="1700">
                <a:solidFill>
                  <a:srgbClr val="FFFFFF"/>
                </a:solidFill>
                <a:latin typeface="Arial"/>
              </a:defRPr>
            </a:pPr>
            <a:r>
              <a:t>3.  Identificar en qué temporalidad (H1/M15/M1)</a:t>
            </a:r>
          </a:p>
          <a:p>
            <a:pPr>
              <a:spcAft>
                <a:spcPts val="1019"/>
              </a:spcAft>
              <a:defRPr sz="1700">
                <a:solidFill>
                  <a:srgbClr val="FFFFFF"/>
                </a:solidFill>
                <a:latin typeface="Arial"/>
              </a:defRPr>
            </a:pPr>
            <a:r>
              <a:t>     se ve mejor cada elemento marcado.</a:t>
            </a:r>
          </a:p>
          <a:p>
            <a:pPr>
              <a:spcAft>
                <a:spcPts val="1019"/>
              </a:spcAft>
              <a:defRPr sz="1700">
                <a:solidFill>
                  <a:srgbClr val="FFFFFF"/>
                </a:solidFill>
                <a:latin typeface="Arial"/>
              </a:defRPr>
            </a:pPr>
          </a:p>
          <a:p>
            <a:pPr>
              <a:spcAft>
                <a:spcPts val="1019"/>
              </a:spcAft>
              <a:defRPr sz="1700">
                <a:solidFill>
                  <a:srgbClr val="FFFFFF"/>
                </a:solidFill>
                <a:latin typeface="Arial"/>
              </a:defRPr>
            </a:pPr>
            <a:r>
              <a:t>4.  Repasar lo visto hoy.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
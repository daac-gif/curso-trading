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vamos a aprender a leer el mercado, entender cómo se mueve el precio y cómo nosotros podemos interpretar esa información para tomar decisiones.</a:t>
            </a:r>
          </a:p>
          <a:p>
            <a:r>
              <a:t>'Cada vela, cada número y cada línea tiene un significado. Hoy vas a aprender a leer ese lenguaje.'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pip es la mínima unidad de cambio del precio. Como los centímetros en una regla: medimos qué tanto se movió el mercado.</a:t>
            </a:r>
          </a:p>
          <a:p>
            <a:r>
              <a:t>En índices sintéticos se habla de 'puntos'. En Forex de 'pips'. La idea es la misma: la distancia que recorre el precio.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vela japonesa muestra: Apertura, Cierre, Máximo y Mínimo.</a:t>
            </a:r>
          </a:p>
          <a:p>
            <a:r>
              <a:t>Verde = alcista (cerró arriba de donde abrió).</a:t>
            </a:r>
          </a:p>
          <a:p>
            <a:r>
              <a:t>Roja = bajista (cerró abajo de donde abrió).</a:t>
            </a:r>
          </a:p>
          <a:p>
            <a:r>
              <a:t>'Cada vela representa la historia del precio en un periodo de tiempo.'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Hay velas de decisión o agotamiento:</a:t>
            </a:r>
          </a:p>
          <a:p>
            <a:r>
              <a:t>- Envolvente: cambio fuerte de tendencia.</a:t>
            </a:r>
          </a:p>
          <a:p>
            <a:r>
              <a:t>- Doji: indecisión del mercado.</a:t>
            </a:r>
          </a:p>
          <a:p>
            <a:r>
              <a:t>- Martillo: posible reversa alcista (1 vela).</a:t>
            </a:r>
          </a:p>
          <a:p>
            <a:r>
              <a:t>- Estrella fugaz: posible reversa bajista (1 vela).</a:t>
            </a:r>
          </a:p>
          <a:p>
            <a:r>
              <a:t>- Peonza: cambio de dirección fuerte.</a:t>
            </a:r>
          </a:p>
          <a:p>
            <a:r>
              <a:t>- Estrella del amanecer/anochecer: patrones de 3 velas.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Boom: sube despacio, pero de repente explota HACIA ARRIBA (spike alcista).</a:t>
            </a:r>
          </a:p>
          <a:p>
            <a:r>
              <a:t>Crash: baja despacio, pero de repente se desploma HACIA ABAJO (spike bajista).</a:t>
            </a:r>
          </a:p>
          <a:p>
            <a:r>
              <a:t>Los spikes son zonas donde el precio 'explota' de golpe.</a:t>
            </a:r>
          </a:p>
          <a:p>
            <a:r>
              <a:t>Usos: ideales para estrategias de contratendencia o scalping controlado.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Index: movimiento suave y parejo, ideal para practicar.</a:t>
            </a:r>
          </a:p>
          <a:p>
            <a:r>
              <a:t>Volatility Index (10, 25, 50, 75, 100): cuanto más alto el número, más rápido y violento se mueve.</a:t>
            </a:r>
          </a:p>
          <a:p>
            <a:r>
              <a:t>V75 y V100 son los más usados por traders experimentados.</a:t>
            </a:r>
          </a:p>
          <a:p>
            <a:r>
              <a:t>V10 o V25 sirven para principiantes por su calma.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timeframe define cuánta información hay dentro de una vela.</a:t>
            </a:r>
          </a:p>
          <a:p>
            <a:r>
              <a:t>M1 = 1 vela cada minuto. H1 = 1 vela cada hora. D1 = 1 vela por día.</a:t>
            </a:r>
          </a:p>
          <a:p>
            <a:r>
              <a:t>Cómo usarlos:</a:t>
            </a:r>
          </a:p>
          <a:p>
            <a:r>
              <a:t>- H1: estructura y tendencia</a:t>
            </a:r>
          </a:p>
          <a:p>
            <a:r>
              <a:t>- M15: buscar entradas en combinación con H1</a:t>
            </a:r>
          </a:p>
          <a:p>
            <a:r>
              <a:t>- M1: precisión para trazar líneas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en H1 ves que el mercado está subiendo, pero en M5 hay una caída, eso no significa que la tendencia cambió, solo que hay un retroceso dentro del impulso.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estructura del mercado es la base para entender hacia dónde se mueve.</a:t>
            </a:r>
          </a:p>
          <a:p>
            <a:r>
              <a:t>Tendencia alcista: HH y HL (máximos y mínimos crecientes).</a:t>
            </a:r>
          </a:p>
          <a:p>
            <a:r>
              <a:t>Tendencia bajista: LH y LL (máximos y mínimos decrecientes).</a:t>
            </a:r>
          </a:p>
          <a:p>
            <a:r>
              <a:t>'El precio se mueve en impulsos y retrocesos. No sube en línea recta, respira, retrocede, y luego continúa.'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Order: entra al precio actual, cuando quieres entrar ya.</a:t>
            </a:r>
          </a:p>
          <a:p>
            <a:r>
              <a:t>Limit Order: entra a mejor precio, cuando esperas un retroceso.</a:t>
            </a:r>
          </a:p>
          <a:p>
            <a:r>
              <a:t>Stop Loss: tu límite de pérdida. Protege la cuenta. Siempre debe estar.</a:t>
            </a:r>
          </a:p>
          <a:p>
            <a:r>
              <a:t>Take Profit: tu objetivo de ganancia.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 lote define cuánto ganas o pierdes por pip.</a:t>
            </a:r>
          </a:p>
          <a:p>
            <a:r>
              <a:t>Regla: arriesga máximo 1-2% de la cuenta por operación.</a:t>
            </a:r>
          </a:p>
          <a:p>
            <a:r>
              <a:t>Si tienes 1000 USD → riesgo máximo 10-20 USD → ajusta el lote al tamaño del stop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entendiste cómo se mueve el precio, cómo leer las velas, los timeframes y cómo proteger tu cuenta.</a:t>
            </a:r>
          </a:p>
          <a:p>
            <a:r>
              <a:t>En la próxima clase entraremos a estructura avanzada: soportes, resistencias, líneas de tendencia y confirmaciones.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Tarea:</a:t>
            </a:r>
          </a:p>
          <a:p>
            <a:r>
              <a:t>1. Abrir gráfico e identificar velas alcistas/bajistas.</a:t>
            </a:r>
          </a:p>
          <a:p>
            <a:r>
              <a:t>2. Marcar tendencia en H1.</a:t>
            </a:r>
          </a:p>
          <a:p>
            <a:r>
              <a:t>3. Identificar patrones de velas.</a:t>
            </a:r>
          </a:p>
          <a:p>
            <a:r>
              <a:t>4. Anotar dudas.</a:t>
            </a:r>
          </a:p>
          <a:p>
            <a:r>
              <a:t>Mañana: soportes, resistencias, líneas de tendencia y cierre M5.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356616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Calibri"/>
              </a:rPr>
              <a:t>MODULO 1   ·  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4F6F9"/>
                </a:solidFill>
                <a:latin typeface="Calibri"/>
              </a:rPr>
              <a:t>Lectura del 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34640"/>
            <a:ext cx="14630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Clase 2  ·  Pips, velas, timeframes y estructura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8660" y="4965192"/>
            <a:ext cx="0" cy="8229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" y="5047488"/>
            <a:ext cx="137160" cy="256032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08660" y="5303520"/>
            <a:ext cx="0" cy="64008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9828" y="5093208"/>
            <a:ext cx="0" cy="45720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41248" y="5138928"/>
            <a:ext cx="137160" cy="164592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09828" y="5303520"/>
            <a:ext cx="0" cy="91440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0996" y="4910328"/>
            <a:ext cx="0" cy="10058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42416" y="5010912"/>
            <a:ext cx="137160" cy="292608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110996" y="5303520"/>
            <a:ext cx="0" cy="5486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12164" y="5138928"/>
            <a:ext cx="0" cy="3657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43584" y="5175504"/>
            <a:ext cx="137160" cy="128016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312164" y="5303520"/>
            <a:ext cx="0" cy="8229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13332" y="4864608"/>
            <a:ext cx="0" cy="109728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444752" y="4974336"/>
            <a:ext cx="137160" cy="329184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513332" y="5303520"/>
            <a:ext cx="0" cy="45720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14500" y="5038344"/>
            <a:ext cx="0" cy="64008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645920" y="5102352"/>
            <a:ext cx="137160" cy="201168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714500" y="5303520"/>
            <a:ext cx="0" cy="7315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15668" y="5102352"/>
            <a:ext cx="0" cy="54864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847088" y="5157216"/>
            <a:ext cx="137160" cy="146304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915668" y="5303520"/>
            <a:ext cx="0" cy="100584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116836" y="4937760"/>
            <a:ext cx="0" cy="91440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048256" y="5029200"/>
            <a:ext cx="137160" cy="274320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116836" y="5303520"/>
            <a:ext cx="0" cy="5486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18004" y="5047488"/>
            <a:ext cx="0" cy="7315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249424" y="5120640"/>
            <a:ext cx="137160" cy="182880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318004" y="5303520"/>
            <a:ext cx="0" cy="64008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19172" y="4837176"/>
            <a:ext cx="0" cy="11887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450592" y="4956048"/>
            <a:ext cx="137160" cy="347472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519172" y="5303520"/>
            <a:ext cx="0" cy="45720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55664" y="4301339"/>
            <a:ext cx="0" cy="6583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400800" y="4367175"/>
            <a:ext cx="109728" cy="204825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55664" y="4572000"/>
            <a:ext cx="0" cy="5120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616598" y="4403751"/>
            <a:ext cx="0" cy="3657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561734" y="4440327"/>
            <a:ext cx="109728" cy="131673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616598" y="4572000"/>
            <a:ext cx="0" cy="7315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77532" y="4257447"/>
            <a:ext cx="0" cy="80467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722668" y="4337914"/>
            <a:ext cx="109728" cy="234086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6777532" y="4572000"/>
            <a:ext cx="0" cy="43891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938467" y="4440328"/>
            <a:ext cx="0" cy="29260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883603" y="4469588"/>
            <a:ext cx="109728" cy="102412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938467" y="4572000"/>
            <a:ext cx="0" cy="6583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099401" y="4220871"/>
            <a:ext cx="0" cy="8778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7044537" y="4308653"/>
            <a:ext cx="109728" cy="263347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7099401" y="4572000"/>
            <a:ext cx="0" cy="3657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60336" y="4359860"/>
            <a:ext cx="0" cy="5120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205472" y="4411066"/>
            <a:ext cx="109728" cy="160934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7260336" y="4572000"/>
            <a:ext cx="0" cy="58521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421270" y="4411066"/>
            <a:ext cx="0" cy="43891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366406" y="4454957"/>
            <a:ext cx="109728" cy="117043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7421270" y="4572000"/>
            <a:ext cx="0" cy="80467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82204" y="4279392"/>
            <a:ext cx="0" cy="7315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7527340" y="4352544"/>
            <a:ext cx="109728" cy="219456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7582204" y="4572000"/>
            <a:ext cx="0" cy="43891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743139" y="4367175"/>
            <a:ext cx="0" cy="58521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7688275" y="4425696"/>
            <a:ext cx="109728" cy="146304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743139" y="4572000"/>
            <a:ext cx="0" cy="5120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904073" y="4198926"/>
            <a:ext cx="0" cy="95097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849209" y="4294023"/>
            <a:ext cx="109728" cy="277977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7904073" y="4572000"/>
            <a:ext cx="0" cy="3657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CLASE 2  ·  INTRODUCCION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Aprender a leer el 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4F6F9"/>
                </a:solidFill>
                <a:latin typeface="Calibri"/>
              </a:rPr>
              <a:t>"Cada vela, cada numero y cada linea tiene un significado.</a:t>
            </a:r>
          </a:p>
          <a:p>
            <a:pPr algn="l"/>
            <a:r>
              <a:rPr sz="2400" b="0">
                <a:solidFill>
                  <a:srgbClr val="F4F6F9"/>
                </a:solidFill>
                <a:latin typeface="Calibri"/>
              </a:rPr>
              <a:t>Hoy vas a aprender a leer ese lenguaje."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9FB0"/>
                </a:solidFill>
                <a:latin typeface="Calibri"/>
              </a:rPr>
              <a:t>Los indices sinteticos son mercados creados por Deriv.</a:t>
            </a:r>
          </a:p>
          <a:p>
            <a:pPr algn="l"/>
            <a:r>
              <a:rPr sz="1600" b="0">
                <a:solidFill>
                  <a:srgbClr val="909FB0"/>
                </a:solidFill>
                <a:latin typeface="Calibri"/>
              </a:rPr>
              <a:t>Tipos principales: Boom &amp; Crash, Volatility Index, Step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2A4460"/>
                </a:solidFill>
                <a:latin typeface="Calibri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PARTE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9"/>
                </a:solidFill>
                <a:latin typeface="Calibri"/>
              </a:rPr>
              <a:t>Que es un Pip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9FB0"/>
                </a:solidFill>
                <a:latin typeface="Calibri"/>
              </a:rPr>
              <a:t>La unidad minima del precio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PARTE 01 · PIPS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Que es un Pip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Unidad minima de cambio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Como los centimetros en una regla: mide que tanto se movio el mercado.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Ejemplo en Volatility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Si sube de 12100.00 a 12101.00 = 1 punto (pip en sinteticos).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En Forex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EUR/USD de 1.08500 a 1.08510 = 1 pip (cuarto decimal).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Lo importante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Pips = distancia recorrida por el precio. En sinteticos: puntos. En Forex: pips.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2A4460"/>
                </a:solidFill>
                <a:latin typeface="Calibri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PARTE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9"/>
                </a:solidFill>
                <a:latin typeface="Calibri"/>
              </a:rPr>
              <a:t>Velas Japonesas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9FB0"/>
                </a:solidFill>
                <a:latin typeface="Calibri"/>
              </a:rPr>
              <a:t>La historia del precio en cada periodo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PARTE 02 · VELAS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Anatomia de una Vela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Apertura (Open)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Donde empezo el precio en ese periodo.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Cierre (Close)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Donde termino el precio.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Maximo (High)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El punto mas alto que toco.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Minimo (Low)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El punto mas bajo que toco.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7608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Colores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Verde = subio (alcista). Roja = bajo (bajista).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PARTE 02 · VELAS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Patrones de Velas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383280" cy="41148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Patron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91640"/>
            <a:ext cx="3383280" cy="41148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Tipo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691640"/>
            <a:ext cx="3383280" cy="41148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Significado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1945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Envolvente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Cambio fuerte de tendencia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517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Doji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Indecision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El mercado duda, posible cambio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1089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Martillo (Hammer)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Reversa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Posible reversa alcista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5661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Estrella fugaz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Reversa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Posible reversa bajista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0233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Peonza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Cambio de direccion fuerte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4805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Estrella del amanecer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3 velas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Reversa alcista (patron de 3)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49377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08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Estrella del anochecer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3 velas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Reversa bajista (patron de 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2A4460"/>
                </a:solidFill>
                <a:latin typeface="Calibri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PARTE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9"/>
                </a:solidFill>
                <a:latin typeface="Calibri"/>
              </a:rPr>
              <a:t>Boom, Crash, Step</a:t>
            </a:r>
          </a:p>
          <a:p>
            <a:pPr algn="l"/>
            <a:r>
              <a:rPr sz="3400" b="1">
                <a:solidFill>
                  <a:srgbClr val="F4F6F9"/>
                </a:solidFill>
                <a:latin typeface="Calibri"/>
              </a:rPr>
              <a:t>y Volatility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9FB0"/>
                </a:solidFill>
                <a:latin typeface="Calibri"/>
              </a:rPr>
              <a:t>Comportamiento de cada indice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PARTE 03 · INDICES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Boom &amp; Crash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Se mueven por probabilidad matematica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No por economia, sino por algoritmo con volatilidad constante.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BOOM: sube despacio, explota hacia ARRIBA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El spike es alcista. El precio baja suave entre spikes.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CRASH: baja despacio, explota hacia ABAJO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El spike es bajista. El precio sube suave entre spikes.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Ideales para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Estrategias de contratendencia o scalping controlado.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PARTE 03 · INDICES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Step Index y Volatility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Step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Movimiento constante y parejo. Menos agresivo. Ideal para practicar.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Volatility 10 y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Lentos y calmados. Buenos para principiantes.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Volatility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Intermedio. Balance entre velocidad y control.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Volatility 75 y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Rapidos y violentos. Los mas usados por traders experimentados.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2A4460"/>
                </a:solidFill>
                <a:latin typeface="Calibri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PARTE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9"/>
                </a:solidFill>
                <a:latin typeface="Calibri"/>
              </a:rPr>
              <a:t>Timeframes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9FB0"/>
                </a:solidFill>
                <a:latin typeface="Calibri"/>
              </a:rPr>
              <a:t>Cuanto tiempo hay en cada vela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PARTE 04 · TEMPORALIDADES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Timeframes y su Funcion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383280" cy="41148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Timeframe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91640"/>
            <a:ext cx="3383280" cy="41148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Cada vela =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691640"/>
            <a:ext cx="3383280" cy="41148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Uso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1945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1 minuto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Precision, trazar lineas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517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M5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5 minutos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Confirmacion de entrada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1089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M15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15 minutos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Buscar entradas con H1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5661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H1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1 hora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Estructura y tendencia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0233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H4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4 horas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Contexto macro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480560"/>
            <a:ext cx="10332720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9"/>
                </a:solidFill>
                <a:latin typeface="Calibri"/>
              </a:rPr>
              <a:t>D1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1 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9FB0"/>
                </a:solidFill>
                <a:latin typeface="Calibri"/>
              </a:rPr>
              <a:t>Vision general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PARTE 04 · TEMPORALIDADES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Analisis Multi-Timeframe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H1 → Estructura y tendencia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Aqui defines si el mercado esta en impulso o retroceso.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M15 → Entradas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Buscas como se comporta el precio dentro de esa estructura.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M1 →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Marcas la linea exacta donde quieres entrar.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Ejemplo practico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Si en H1 el mercado sube pero en M5 cae, no cambio la tendencia: es un retroceso.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2A4460"/>
                </a:solidFill>
                <a:latin typeface="Calibri"/>
              </a:rP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PARTE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9"/>
                </a:solidFill>
                <a:latin typeface="Calibri"/>
              </a:rPr>
              <a:t>Estructura del Mercado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9FB0"/>
                </a:solidFill>
                <a:latin typeface="Calibri"/>
              </a:rPr>
              <a:t>Tendencias, impulsos y retrocesos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PARTE 05 · 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Tendencia Alcista y Bajista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Tendencia alcista (bullish)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Maximos y minimos cada vez mas altos: HH (Higher High), HL (Higher Low).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Tendencia bajista (bearish)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Maximos y minimos cada vez mas bajos: LH (Lower High), LL (Lower Low).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Impulsos y retrocesos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El precio no sube en linea recta. Respira, retrocede, y luego continua.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Concepto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Entender la estructura es la BASE de todo lo que viene despues.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2A4460"/>
                </a:solidFill>
                <a:latin typeface="Calibri"/>
              </a:rPr>
              <a:t>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B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PARTE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9"/>
                </a:solidFill>
                <a:latin typeface="Calibri"/>
              </a:rPr>
              <a:t>Tipos de Ordenes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9FB0"/>
                </a:solidFill>
                <a:latin typeface="Calibri"/>
              </a:rPr>
              <a:t>Como ejecutar en el mercado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E05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E05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24C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24C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PARTE 06 · ORDENES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Tipos de Ordenes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Market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Entra al precio actual. Cuando quieres entrar YA.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Limit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Entra a mejor precio (esperas retroceso). Cuando esperas un descuento.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Stop Loss (SL)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Cierra automaticamente si el precio va en tu contra. PROTEGE tu cuenta.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Take Profit (TP)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Cierra automaticamente cuando llegas a tu objetivo de ganancia.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PARTE 06 · 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Gestion del Tamaño de Posicion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Tu lote define cuanto ganas o pierdes por pip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Lote grande = mas ganancia pero tambien mas perdida.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Regla de oro: 1-2% maximo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Arriesga maximo el 1 a 2% de tu cuenta por operacion.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Ejemplo con $1000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Riesgo maximo = $10-$20. Ajusta el lote al tamaño del stop loss.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F6F9"/>
                </a:solidFill>
                <a:latin typeface="Calibri"/>
              </a:rPr>
              <a:t>Si el SL es grande → lote mas pequeño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9FB0"/>
                </a:solidFill>
                <a:latin typeface="Calibri"/>
              </a:rPr>
              <a:t>Si el SL es corto → puedes usar lote un poco mayor.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CIERRE · 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Resumen de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✓  Que es un pip (punto en sinteticos, pip en Forex)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✓  Anatomia de una vela y patrones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✓  Boom, Crash, Step y Volatility: como se comportan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✓  Timeframes y analisis multi-temporalidad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4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✓  Estructura del mercado: HH, HL, LH, 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8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✓  Tipos de ordenes y gestion de riesgo 1-2%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7492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2356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→  Proxima clase: soportes, resistencias, lineas de tendencia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17220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080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   y confirmacion con el cierre de la vela M5.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5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CLASE 2 · TAREA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9"/>
                </a:solidFill>
                <a:latin typeface="Calibri"/>
              </a:rPr>
              <a:t>Tarea para Manana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1.  Abrir un grafico y identificar 5 velas alcistas y 5 bajistas.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2.  Marcar la tendencia en H1 (¿alcista, bajista o lateral?).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3.  Identificar al menos 2 patrones de velas en el grafico.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4.  Anotar las dudas para la proxima clase.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4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8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Recuerda: la practica es lo que convierte la teoria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74920"/>
            <a:ext cx="731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09FB0"/>
                </a:solidFill>
                <a:latin typeface="Calibri"/>
              </a:rPr>
              <a:t>en habilidad real.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5283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F37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
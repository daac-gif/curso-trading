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356616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  <a:latin typeface="Calibri"/>
              </a:rPr>
              <a:t>MODULO 1   ·   FUNDAMENTOS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>
                <a:solidFill>
                  <a:srgbClr val="F0F2F5"/>
                </a:solidFill>
                <a:latin typeface="Calibri"/>
              </a:rPr>
              <a:t>Lectura del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34640"/>
            <a:ext cx="146304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Clase 2  ·  Pips, velas, timeframes y estructura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08660" y="4965192"/>
            <a:ext cx="0" cy="8229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5047488"/>
            <a:ext cx="137160" cy="2560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708660" y="5303520"/>
            <a:ext cx="0" cy="64008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9828" y="5093208"/>
            <a:ext cx="0" cy="45720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41248" y="5138928"/>
            <a:ext cx="137160" cy="164592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09828" y="5303520"/>
            <a:ext cx="0" cy="91440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0996" y="4910328"/>
            <a:ext cx="0" cy="10058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42416" y="5010912"/>
            <a:ext cx="137160" cy="2926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110996" y="5303520"/>
            <a:ext cx="0" cy="5486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12164" y="5138928"/>
            <a:ext cx="0" cy="3657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243584" y="5175504"/>
            <a:ext cx="137160" cy="128016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312164" y="5303520"/>
            <a:ext cx="0" cy="8229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513332" y="4864608"/>
            <a:ext cx="0" cy="109728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444752" y="4974336"/>
            <a:ext cx="137160" cy="32918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513332" y="5303520"/>
            <a:ext cx="0" cy="4572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14500" y="5038344"/>
            <a:ext cx="0" cy="64008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645920" y="5102352"/>
            <a:ext cx="137160" cy="20116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714500" y="5303520"/>
            <a:ext cx="0" cy="7315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915668" y="5102352"/>
            <a:ext cx="0" cy="5486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847088" y="5157216"/>
            <a:ext cx="137160" cy="14630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1915668" y="5303520"/>
            <a:ext cx="0" cy="10058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116836" y="4937760"/>
            <a:ext cx="0" cy="9144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2048256" y="5029200"/>
            <a:ext cx="137160" cy="2743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116836" y="5303520"/>
            <a:ext cx="0" cy="5486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318004" y="5047488"/>
            <a:ext cx="0" cy="7315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2249424" y="5120640"/>
            <a:ext cx="137160" cy="182880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2318004" y="5303520"/>
            <a:ext cx="0" cy="64008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519172" y="4837176"/>
            <a:ext cx="0" cy="11887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2450592" y="4956048"/>
            <a:ext cx="137160" cy="34747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519172" y="5303520"/>
            <a:ext cx="0" cy="4572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55664" y="4301339"/>
            <a:ext cx="0" cy="6583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400800" y="4367175"/>
            <a:ext cx="109728" cy="204825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6455664" y="4572000"/>
            <a:ext cx="0" cy="5120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16598" y="4403751"/>
            <a:ext cx="0" cy="3657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6561734" y="4440327"/>
            <a:ext cx="109728" cy="131673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616598" y="4572000"/>
            <a:ext cx="0" cy="7315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777532" y="4257447"/>
            <a:ext cx="0" cy="80467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722668" y="4337914"/>
            <a:ext cx="109728" cy="23408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777532" y="4572000"/>
            <a:ext cx="0" cy="4389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938467" y="4440328"/>
            <a:ext cx="0" cy="29260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883603" y="4469588"/>
            <a:ext cx="109728" cy="102412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938467" y="4572000"/>
            <a:ext cx="0" cy="6583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099401" y="4220871"/>
            <a:ext cx="0" cy="8778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7044537" y="4308653"/>
            <a:ext cx="109728" cy="26334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7099401" y="4572000"/>
            <a:ext cx="0" cy="3657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260336" y="4359860"/>
            <a:ext cx="0" cy="5120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205472" y="4411066"/>
            <a:ext cx="10972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7260336" y="4572000"/>
            <a:ext cx="0" cy="585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421270" y="4411066"/>
            <a:ext cx="0" cy="4389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366406" y="4454957"/>
            <a:ext cx="109728" cy="117043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7421270" y="4572000"/>
            <a:ext cx="0" cy="80467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82204" y="4279392"/>
            <a:ext cx="0" cy="7315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527340" y="4352544"/>
            <a:ext cx="109728" cy="21945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7582204" y="4572000"/>
            <a:ext cx="0" cy="4389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7743139" y="4367175"/>
            <a:ext cx="0" cy="585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7688275" y="4425696"/>
            <a:ext cx="109728" cy="14630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7743139" y="4572000"/>
            <a:ext cx="0" cy="5120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7904073" y="4198926"/>
            <a:ext cx="0" cy="95097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7849209" y="4294023"/>
            <a:ext cx="109728" cy="27797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7904073" y="4572000"/>
            <a:ext cx="0" cy="3657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CLASE 2  ·  INTRODUCCION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Aprender a leer el mercado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0F2F5"/>
                </a:solidFill>
                <a:latin typeface="Calibri"/>
              </a:rPr>
              <a:t>"Cada vela, cada numero y cada linea tiene un significado.</a:t>
            </a:r>
          </a:p>
          <a:p>
            <a:pPr algn="l"/>
            <a:r>
              <a:rPr sz="2400" b="0">
                <a:solidFill>
                  <a:srgbClr val="F0F2F5"/>
                </a:solidFill>
                <a:latin typeface="Calibri"/>
              </a:rPr>
              <a:t>Hoy vas a aprender a leer ese lenguaje."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94A6"/>
                </a:solidFill>
                <a:latin typeface="Calibri"/>
              </a:rPr>
              <a:t>Los indices sinteticos son mercados creados por Deriv.</a:t>
            </a:r>
          </a:p>
          <a:p>
            <a:pPr algn="l"/>
            <a:r>
              <a:rPr sz="1600" b="0">
                <a:solidFill>
                  <a:srgbClr val="8A94A6"/>
                </a:solidFill>
                <a:latin typeface="Calibri"/>
              </a:rPr>
              <a:t>Tipos principales: Boom &amp; Crash, Volatility Index, Step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1A1E2E"/>
                </a:solidFill>
                <a:latin typeface="Calibri"/>
              </a:rPr>
              <a:t>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PARTE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Que es un Pip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Calibri"/>
              </a:rPr>
              <a:t>La unidad minima del precio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01 · PIPS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Que es un Pip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Unidad minima de cambio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Como los centimetros en una regla: mide que tanto se movio el mercado.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Ejemplo en Volatility 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Si sube de 12100.00 a 12101.00 = 1 punto (pip en sinteticos).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En Forex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EUR/USD de 1.08500 a 1.08510 = 1 pip (cuarto decimal).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Lo importante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Pips = distancia recorrida. En sinteticos: puntos. En Forex: pips.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1A1E2E"/>
                </a:solidFill>
                <a:latin typeface="Calibri"/>
              </a:rPr>
              <a:t>02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PARTE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Velas Japonesas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Calibri"/>
              </a:rPr>
              <a:t>La historia del precio en cada periodo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02 · VELAS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Anatomia de una Vela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Apertura (Open)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Donde empezo el precio en ese periodo.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Cierre (Close)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Donde termino el precio.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Maximo (High)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El punto mas alto que toco.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Minimo (Low)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El punto mas bajo que toco.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7608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1663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Colores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Verde = subio (alcista). Roja = bajo (bajista).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02 · VELAS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Patrones de Velas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411480"/>
          </a:xfrm>
          <a:prstGeom prst="rect">
            <a:avLst/>
          </a:prstGeom>
          <a:solidFill>
            <a:srgbClr val="14171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Patron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91640"/>
            <a:ext cx="3383280" cy="411480"/>
          </a:xfrm>
          <a:prstGeom prst="rect">
            <a:avLst/>
          </a:prstGeom>
          <a:solidFill>
            <a:srgbClr val="14171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Tipo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691640"/>
            <a:ext cx="3383280" cy="411480"/>
          </a:xfrm>
          <a:prstGeom prst="rect">
            <a:avLst/>
          </a:prstGeom>
          <a:solidFill>
            <a:srgbClr val="14171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Significado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1945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Envolvente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Cambio fuerte de tendencia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17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Doji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Indecision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El mercado duda, posible cambio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1089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Martillo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Reversa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Posible reversa alcista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5661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Estrella fugaz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Reversa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Posible reversa bajista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233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Peonza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Cambio de direccion fuerte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4805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Estrella del amanecer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3 velas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Reversa alcista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49377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08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Estrella del anochecer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3 velas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983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Reversa bajista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1A1E2E"/>
                </a:solidFill>
                <a:latin typeface="Calibri"/>
              </a:rPr>
              <a:t>03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PARTE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Boom, Crash, Step</a:t>
            </a:r>
          </a:p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y Volatility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Calibri"/>
              </a:rPr>
              <a:t>Comportamiento de cada indice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03 ·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Boom &amp; Crash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Se mueven por probabilidad matematica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No por economia, sino por algoritmo con volatilidad constante.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BOOM: sube despacio, explota hacia ARRIBA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El spike es alcista. El precio baja suave entre spikes.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CRASH: baja despacio, explota hacia ABAJO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El spike es bajista. El precio sube suave entre spikes.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Ideales para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Estrategias de contratendencia o scalping controlado.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03 · INDICES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Step Index y Volatility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Step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Movimiento constante y parejo. Ideal para practicar.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Volatility 10 y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Lentos y calmados. Buenos para principiantes.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Volatility 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Intermedio. Balance entre velocidad y control.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Volatility 75 y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Rapidos y violentos. Para traders experimentados.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1A1E2E"/>
                </a:solidFill>
                <a:latin typeface="Calibri"/>
              </a:rPr>
              <a:t>04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PARTE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Timeframes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Calibri"/>
              </a:rPr>
              <a:t>Cuanto tiempo hay en cada vela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04 · TEMPORALIDADES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Timeframes y su Funcion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3383280" cy="411480"/>
          </a:xfrm>
          <a:prstGeom prst="rect">
            <a:avLst/>
          </a:prstGeom>
          <a:solidFill>
            <a:srgbClr val="14171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Timeframe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91640"/>
            <a:ext cx="3383280" cy="411480"/>
          </a:xfrm>
          <a:prstGeom prst="rect">
            <a:avLst/>
          </a:prstGeom>
          <a:solidFill>
            <a:srgbClr val="14171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Cada vela =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80" y="1691640"/>
            <a:ext cx="3383280" cy="411480"/>
          </a:xfrm>
          <a:prstGeom prst="rect">
            <a:avLst/>
          </a:prstGeom>
          <a:solidFill>
            <a:srgbClr val="14171F"/>
          </a:solidFill>
          <a:ln w="63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169164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Uso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1945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M1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1 minuto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40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Precision, trazar lineas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517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M5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5 minutos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Confirmacion de entrada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1089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M15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15 minutos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1546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Buscar entradas con H1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5661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H1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1 hora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6118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Estructura y tendencia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0233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H4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4 horas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0690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Contexto macro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480560"/>
            <a:ext cx="10332720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0F2F5"/>
                </a:solidFill>
                <a:latin typeface="Calibri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1 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526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4A6"/>
                </a:solidFill>
                <a:latin typeface="Calibri"/>
              </a:rPr>
              <a:t>Vision general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04 · TEMPORALIDADES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Analisis Multi-Timeframe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H1 → Estructura y tendencia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Defines si el mercado esta en impulso o retroceso.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M15 → Entradas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Buscas como se comporta el precio dentro de esa estructura.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M1 →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Marcas la linea exacta donde quieres entrar.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Ejemplo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Si en H1 sube pero en M5 cae: no cambio la tendencia, es un retroceso.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1A1E2E"/>
                </a:solidFill>
                <a:latin typeface="Calibri"/>
              </a:rPr>
              <a:t>05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PARTE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Estructura del Mercado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Calibri"/>
              </a:rPr>
              <a:t>Tendencias, impulsos y retrocesos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05 · ESTRUCTURA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Tendencia Alcista y Bajista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Tendencia alcista (bullish)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Maximos y minimos crecientes: HH (Higher High), HL (Higher Low).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Tendencia bajista (bearish)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Maximos y minimos decrecientes: LH (Lower High), LL (Lower Low).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Impulsos y retrocesos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El precio no sube en linea recta. Respira, retrocede y continua.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Concepto 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Entender la estructura es la BASE de todo lo que viene.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0" y="18288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0" b="1">
                <a:solidFill>
                  <a:srgbClr val="1A1E2E"/>
                </a:solidFill>
                <a:latin typeface="Calibri"/>
              </a:rPr>
              <a:t>06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411480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7200" y="443484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4754880"/>
            <a:ext cx="11274552" cy="0"/>
          </a:xfrm>
          <a:prstGeom prst="line">
            <a:avLst/>
          </a:prstGeom>
          <a:ln w="6350">
            <a:solidFill>
              <a:srgbClr val="1E22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463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  <a:latin typeface="Calibri"/>
              </a:rPr>
              <a:t>PARTE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2F5"/>
                </a:solidFill>
                <a:latin typeface="Calibri"/>
              </a:rPr>
              <a:t>Tipos de Ordenes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4A6"/>
                </a:solidFill>
                <a:latin typeface="Calibri"/>
              </a:rPr>
              <a:t>Como ejecutar en el mercado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039" y="5848961"/>
            <a:ext cx="0" cy="4526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74320" y="5894223"/>
            <a:ext cx="75438" cy="140817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12039" y="6035040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2681" y="5919369"/>
            <a:ext cx="0" cy="2514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84962" y="5944515"/>
            <a:ext cx="75438" cy="90525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22681" y="6035040"/>
            <a:ext cx="0" cy="5029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3323" y="5818785"/>
            <a:ext cx="0" cy="55321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95604" y="5874106"/>
            <a:ext cx="75438" cy="16093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33323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3966" y="5944516"/>
            <a:ext cx="0" cy="20116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06247" y="5964632"/>
            <a:ext cx="75438" cy="70408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643966" y="6035040"/>
            <a:ext cx="0" cy="45262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4608" y="5793639"/>
            <a:ext cx="0" cy="60350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716889" y="5853989"/>
            <a:ext cx="75438" cy="181051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754608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65251" y="5889194"/>
            <a:ext cx="0" cy="35204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27532" y="5924398"/>
            <a:ext cx="75438" cy="11064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5251" y="6035040"/>
            <a:ext cx="0" cy="40233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75893" y="5924398"/>
            <a:ext cx="0" cy="30175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938174" y="5954573"/>
            <a:ext cx="75438" cy="80467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75893" y="6035040"/>
            <a:ext cx="0" cy="55321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6535" y="5833872"/>
            <a:ext cx="0" cy="50292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1048816" y="5884164"/>
            <a:ext cx="75438" cy="150876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1086535" y="6035040"/>
            <a:ext cx="0" cy="30175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197178" y="5894223"/>
            <a:ext cx="0" cy="40233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1159459" y="5934456"/>
            <a:ext cx="75438" cy="100584"/>
          </a:xfrm>
          <a:prstGeom prst="rect">
            <a:avLst/>
          </a:prstGeom>
          <a:solidFill>
            <a:srgbClr val="FF3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1197178" y="6035040"/>
            <a:ext cx="0" cy="35204"/>
          </a:xfrm>
          <a:prstGeom prst="line">
            <a:avLst/>
          </a:prstGeom>
          <a:ln w="19050">
            <a:solidFill>
              <a:srgbClr val="FF3B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07820" y="5778552"/>
            <a:ext cx="0" cy="65379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270101" y="5843931"/>
            <a:ext cx="75438" cy="191109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307820" y="6035040"/>
            <a:ext cx="0" cy="25146"/>
          </a:xfrm>
          <a:prstGeom prst="line">
            <a:avLst/>
          </a:prstGeom>
          <a:ln w="1905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06 · ORDENES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Tipos de Ordenes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Market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Entra al precio actual. Cuando quieres entrar YA.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Limit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Entra a mejor precio. Cuando esperas un descuento.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Stop Loss (SL)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Cierra si el precio va en tu contra. PROTEGE tu cuenta.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Take Profit (TP)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Cierra cuando llegas a tu objetivo de ganancia.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PARTE 06 · 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Gestion del Tamaño de Posicion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0136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Tu lote define cuanto ganas o pierdes por pip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Lote grande = mas ganancia pero tambien mas perdida.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Regla de oro: 1-2% maximo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Arriesga maximo el 1 a 2% de tu cuenta por operacion.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53872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429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Ejemplo con $1000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94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Riesgo maximo = $10-$20. Ajusta el lote al stop loss.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407408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0F2F5"/>
                </a:solidFill>
                <a:latin typeface="Calibri"/>
              </a:rPr>
              <a:t>SL grande → lote pequeno  |  SL corto → lote mayor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94A6"/>
                </a:solidFill>
                <a:latin typeface="Calibri"/>
              </a:rPr>
              <a:t>Siempre se ajusta el lote al tamaño del stop.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CIERRE ·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Resumen de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✓  Que es un pip (punto en sinteticos, pip en Forex)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✓  Anatomia de una vela y patrones clave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✓  Boom, Crash, Step y Volatility: como se comportan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✓  Timeframes y analisis multi-temporalidad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✓  Estructura del mercado: HH, HL, LH, 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✓  Tipos de ordenes y gestion de riesgo 1-2%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7492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2356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532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→  Proxima clase: soportes, resistencias y lineas de tendencia.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" y="0"/>
            <a:ext cx="12188952" cy="1463040"/>
          </a:xfrm>
          <a:prstGeom prst="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  <a:latin typeface="Calibri"/>
              </a:rPr>
              <a:t>CLASE 2 · TAREA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0F2F5"/>
                </a:solidFill>
                <a:latin typeface="Calibri"/>
              </a:rPr>
              <a:t>Tarea para Manana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36576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1.  Abrir un grafico e identificar 5 velas alcistas y 5 bajistas.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402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2.  Marcar la tendencia en H1.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8036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3.  Identificar al menos 2 patrones de velas.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2900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4.  Anotar dudas para la proxima clase.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7764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26280"/>
            <a:ext cx="73152" cy="7315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8A94A6"/>
                </a:solidFill>
                <a:latin typeface="Calibri"/>
              </a:rPr>
              <a:t>La practica convierte la teoria en habilidad real.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268"/>
                </a:solidFill>
                <a:latin typeface="Calibri"/>
              </a:rPr>
              <a:t>Curso de Trading  ·  Indices Sinteticos &amp; Forex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08792" y="182880"/>
            <a:ext cx="1005840" cy="365760"/>
          </a:xfrm>
          <a:prstGeom prst="rect">
            <a:avLst/>
          </a:prstGeom>
          <a:solidFill>
            <a:srgbClr val="14171F"/>
          </a:solidFill>
          <a:ln w="1270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08792" y="20116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  <a:latin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
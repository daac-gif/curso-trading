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Presentate, presenta el curso y el objetivo: aprender a operar indices sinteticos y Forex desde cero, paso a paso. Hoy es 100% teoria: las 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"Trading es una actividad en la que compramos y vendemos activos financieros con el objetivo de obtener ganancias a partir de los movimientos de precio."</a:t>
            </a:r>
          </a:p>
          <a:p/>
          <a:p>
            <a:r>
              <a:t>Idea clave: el trader aprovecha pequenas variaciones de precio, pero con apalancamiento esas variaciones se amplifican (para bien y para mal).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3 aclaraciones para un principiante:</a:t>
            </a:r>
          </a:p>
          <a:p>
            <a:r>
              <a:t>1) No se trata de adivinar, sino de analizar probabilidades.</a:t>
            </a:r>
          </a:p>
          <a:p>
            <a:r>
              <a:t>2) No es hacerse rico rapido; es un negocio con riesgo real.</a:t>
            </a:r>
          </a:p>
          <a:p>
            <a:r>
              <a:t>3) El trader serio se enfoca en gestionar el riesgo, no en 'pegarla'.</a:t>
            </a:r>
          </a:p>
          <a:p/>
          <a:p>
            <a:r>
              <a:t>Frase: "El trading se trata de saber hacia donde va el mercado, pero tambien de saber que hacer si NO va donde esperas."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un grafico (Volatility 75 o EUR/USD) y muestra como el precio sube y baja.</a:t>
            </a:r>
          </a:p>
          <a:p>
            <a:r>
              <a:t>"Cada vela representa como se mueve el precio. Si compro abajo y sube, gano; si compro y baja, pierdo. Asi de simple en concepto, pero con mucha estrategia detras."</a:t>
            </a:r>
          </a:p>
          <a:p/>
          <a:p>
            <a:r>
              <a:t>Pide al alumno que senale una vela alcista (verde) y una bajista (roja).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los dos mercados que trabajaremos. En las proximas diapositivas entramos a fondo en cada uno. La gran diferencia: los sinteticos NO dependen de noticias y operan 24/7; Forex si depende de la economia y tiene sesiones.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"Son mercados virtuales que simulan el movimiento de activos reales, pero no dependen de noticias, gobiernos o bancos centrales. Su movimiento lo genera un algoritmo matematico."</a:t>
            </a:r>
          </a:p>
          <a:p/>
          <a:p>
            <a:r>
              <a:t>Ventaja para el trader: no hay sustos por noticias inesperadas.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OJO (correccion importante): Boom = spike HACIA ARRIBA; Crash = spike HACIA ABAJO.</a:t>
            </a:r>
          </a:p>
          <a:p>
            <a:r>
              <a:t>Vol 10 y 25 son calmados (ideales para principiantes); Vol 75 y 100 son agresivos.</a:t>
            </a:r>
          </a:p>
          <a:p>
            <a:r>
              <a:t>Muestra un grafico de Volatility 75 y uno de Boom/Crash en MT5/Deriv.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CLAVE (correccion): la volatilidad es constante, pero la DIRECCION no se puede predecir. Evita decir que es 'predecible'. </a:t>
            </a:r>
          </a:p>
          <a:p/>
          <a:p>
            <a:r>
              <a:t>"En vez de seguir bancos, seguimos un modelo matematico estable. Por eso analizamos estructura y probabilidades, no certezas."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"Forex = Foreign Exchange. Es donde se compra una moneda mientras se vende otra."</a:t>
            </a:r>
          </a:p>
          <a:p>
            <a:r>
              <a:t>Ejemplo del aeropuerto: cambiar pesos por dolares es Forex a pequena escala.</a:t>
            </a:r>
          </a:p>
          <a:p>
            <a:r>
              <a:t>Siempre operas 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"Cuando compras EUR/USD, estas comprando euros y vendiendo dolares al mismo tiempo."</a:t>
            </a:r>
          </a:p>
          <a:p>
            <a:r>
              <a:t>Refuerza con el ejemplo del numero: EUR/USD = 1.0850 -&gt; 1 euro equivale a 1.0850 dolares.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"En Forex participan bancos, gobiernos y fondos: ellos tienen el volumen para mover el precio. Nosotros, como traders individuales, no movemos el mercado, pero si aprovechamos los movimientos que ellos generan."</a:t>
            </a:r>
          </a:p>
          <a:p/>
          <a:p>
            <a:r>
              <a:t>Analogia del oceano: barcos grandes (bancos) mueven las olas; nosotros somos barcos pequenos.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tabla clave del dia. Recalca: la mayor diferencia es que los sinteticos NO dependen de noticias y operan 24/7; Forex depende de la economia y tiene sesiones. El analisis tecnico que aprenderemos sirve para AMBOS.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"El broker es la puerta o el puente que nos conecta al mercado."</a:t>
            </a:r>
          </a:p>
          <a:p>
            <a:r>
              <a:t>Aclara: el broker no pierde porque tu ganes; gana por volumen de operaciones.</a:t>
            </a:r>
          </a:p>
          <a:p>
            <a:r>
              <a:t>Spread = diferencia entre precio de compra y de venta.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"MT5 sera nuestra casa durante todo el proceso: aqui analizamos, planificamos y ejecutamos. No es un broker, es la plataforma donde ejecutas lo que el broker permite."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"La mayoria de personas pierde no por falta de conocimientos, sino por emociones mal manejadas." Menciona miedo, ansiedad, euforia y revenge trading.</a:t>
            </a:r>
          </a:p>
          <a:p/>
          <a:p>
            <a:r>
              <a:t>Frase central: "El trader profesional no es el que gana una operacion grande; es el que sigue su plan sin que las emociones lo desvien."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repasando los puntos. Confirma que todo quedo claro y resuelve dudas.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la tarea clara. Recuerda especificar el TITULO del audiolibro.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B90B"/>
                </a:solidFill>
                <a:latin typeface="Calibri"/>
              </a:rPr>
              <a:t>MODULO 1  · 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2F5F8"/>
                </a:solidFill>
                <a:latin typeface="Calibri"/>
              </a:rPr>
              <a:t>Introduccion al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C784"/>
                </a:solidFill>
                <a:latin typeface="Calibri"/>
              </a:rPr>
              <a:t>Clase 1  ·  Indices Sinteticos y Forex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AA8B5"/>
                </a:solidFill>
                <a:latin typeface="Calibri"/>
              </a:rPr>
              <a:t>Curso de Trading desde cero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Que es el Trading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Comprar y vender activos financieros para obtener ganancias.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Aprovechamos los movimientos de precio (sube / baja).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Con apalancamiento, esos movimientos se amplifican.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Lo primero que debes entender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NO es adivinar: es analizar probabilidades.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NO es hacerse rico rapido: es un negocio con riesgo real.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El control esta en TU gestion, no en el mercado.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Como se gana (en concepto)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Compro abajo y el precio sube  -&gt;  gano.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Compro y el precio baja  -&gt;  pierdo.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Vendo arriba y el precio baja  -&gt;  gano.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Simple en concepto, pero con estrategia detras.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Los dos mercados que veremos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029200" cy="3566160"/>
          </a:xfrm>
          <a:prstGeom prst="rect">
            <a:avLst/>
          </a:prstGeom>
          <a:solidFill>
            <a:srgbClr val="132438"/>
          </a:solidFill>
          <a:ln w="19050">
            <a:solidFill>
              <a:srgbClr val="16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029200" cy="3566160"/>
          </a:xfrm>
          <a:prstGeom prst="rect">
            <a:avLst/>
          </a:prstGeom>
          <a:solidFill>
            <a:srgbClr val="132438"/>
          </a:solidFill>
          <a:ln w="19050">
            <a:solidFill>
              <a:srgbClr val="F0B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C784"/>
                </a:solidFill>
                <a:latin typeface="Calibri"/>
              </a:rPr>
              <a:t>Indices Sinteticos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6C784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Mercado algoritmico (Deriv).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6C784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Operan 24/7.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6C784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NO dependen de noticias.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6C784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Volatilidad constante.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0B90B"/>
                </a:solidFill>
                <a:latin typeface="Calibri"/>
              </a:rPr>
              <a:t>Forex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0B90B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Mercado real de divisas.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0B90B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Opera 24h, lunes a viernes.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0B90B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SI depende de noticias.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0B90B"/>
                </a:solidFill>
              </a:rPr>
              <a:t>▶  </a:t>
            </a:r>
            <a:r>
              <a:rPr sz="1800">
                <a:solidFill>
                  <a:srgbClr val="F2F5F8"/>
                </a:solidFill>
                <a:latin typeface="Calibri"/>
              </a:rPr>
              <a:t>Lo mueven los bancos.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Indices Sinteticos: que 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Activos virtuales que imitan el comportamiento del mercado real.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Su movimiento lo genera un algoritmo matematico.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No dependen de economia, gobiernos ni bancos centrales.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Creados por el broker Deriv.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Tipos de Indices Sinteticos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C784"/>
                </a:solidFill>
              </a:rPr>
              <a:t>▶  </a:t>
            </a:r>
            <a:r>
              <a:rPr sz="2000">
                <a:solidFill>
                  <a:srgbClr val="F2F5F8"/>
                </a:solidFill>
                <a:latin typeface="Calibri"/>
              </a:rPr>
              <a:t>Volatility Index (V10, V25, V75, V100): a mayor numero, mas rapido y violento.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6C784"/>
                </a:solidFill>
              </a:rPr>
              <a:t>▶  </a:t>
            </a:r>
            <a:r>
              <a:rPr sz="2000">
                <a:solidFill>
                  <a:srgbClr val="F2F5F8"/>
                </a:solidFill>
                <a:latin typeface="Calibri"/>
              </a:rPr>
              <a:t>Boom: el precio sube de golpe (spike HACIA ARRIBA).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6C784"/>
                </a:solidFill>
              </a:rPr>
              <a:t>▶  </a:t>
            </a:r>
            <a:r>
              <a:rPr sz="2000">
                <a:solidFill>
                  <a:srgbClr val="F2F5F8"/>
                </a:solidFill>
                <a:latin typeface="Calibri"/>
              </a:rPr>
              <a:t>Crash: el precio cae de golpe (spike HACIA ABAJO).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6C784"/>
                </a:solidFill>
              </a:rPr>
              <a:t>▶  </a:t>
            </a:r>
            <a:r>
              <a:rPr sz="2000">
                <a:solidFill>
                  <a:srgbClr val="F2F5F8"/>
                </a:solidFill>
                <a:latin typeface="Calibri"/>
              </a:rPr>
              <a:t>Step Index: movimiento suave y constante.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6C784"/>
                </a:solidFill>
              </a:rPr>
              <a:t>▶  </a:t>
            </a:r>
            <a:r>
              <a:rPr sz="2000">
                <a:solidFill>
                  <a:srgbClr val="F2F5F8"/>
                </a:solidFill>
                <a:latin typeface="Calibri"/>
              </a:rPr>
              <a:t>Jump Index: saltos a intervalos.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Que mueve a los Sinteticos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Un modelo matematico constante (no emociones ni noticias).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Lo CONSTANTE es la volatilidad, NO la direccion.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El precio sigue siendo aleatorio: analizamos probabilidades, no certezas.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No es manipulado: es un sistema estable y tecnico.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Forex: que 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El mercado global donde se intercambian divisas.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Compras una moneda y vendes otra al mismo tiempo (pares).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El mercado mas grande del mundo: +6 billones USD diarios.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Opera 24h de lunes a viernes (sesiones de Asia, Londres y NY).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Los Pares de Divisas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EUR/USD = Euro contra Dolar.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Si el grafico SUBE: el euro se fortalece frente al dolar.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Si el grafico BAJA: el dolar se fortalece frente al euro.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C784"/>
                </a:solidFill>
              </a:rPr>
              <a:t>▶  </a:t>
            </a:r>
            <a:r>
              <a:rPr sz="2200">
                <a:solidFill>
                  <a:srgbClr val="F2F5F8"/>
                </a:solidFill>
                <a:latin typeface="Calibri"/>
              </a:rPr>
              <a:t>Siempre se opera comprando una y vendiendo la otra.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Que mueve al mercado Forex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Bancos, gobiernos, fondos y empresas (los grandes actores).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Tasas de interes y decisiones de bancos centrales (FED, BCE).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Noticias de alto impacto: NFP, CPI, FOMC.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Nosotros no movemos el mercado: seguimos la huella de los grandes.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Sinteticos vs Forex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657600" cy="658368"/>
          </a:xfrm>
          <a:prstGeom prst="rect">
            <a:avLst/>
          </a:prstGeom>
          <a:solidFill>
            <a:srgbClr val="F0B90B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E1B2A"/>
                </a:solidFill>
                <a:latin typeface="Calibri"/>
              </a:rPr>
              <a:t>Caracteristica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3291840" cy="658368"/>
          </a:xfrm>
          <a:prstGeom prst="rect">
            <a:avLst/>
          </a:prstGeom>
          <a:solidFill>
            <a:srgbClr val="F0B90B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E1B2A"/>
                </a:solidFill>
                <a:latin typeface="Calibri"/>
              </a:rPr>
              <a:t>Sinteticos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3383280" cy="658368"/>
          </a:xfrm>
          <a:prstGeom prst="rect">
            <a:avLst/>
          </a:prstGeom>
          <a:solidFill>
            <a:srgbClr val="F0B90B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E1B2A"/>
                </a:solidFill>
                <a:latin typeface="Calibri"/>
              </a:rPr>
              <a:t>Forex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87168"/>
            <a:ext cx="365760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2F5F8"/>
                </a:solidFill>
                <a:latin typeface="Calibri"/>
              </a:rPr>
              <a:t>Que lo mueve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487168"/>
            <a:ext cx="329184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6C784"/>
                </a:solidFill>
                <a:latin typeface="Calibri"/>
              </a:rPr>
              <a:t>Algoritmo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487168"/>
            <a:ext cx="338328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0B90B"/>
                </a:solidFill>
                <a:latin typeface="Calibri"/>
              </a:rPr>
              <a:t>Economia / bancos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45536"/>
            <a:ext cx="3657600" cy="658368"/>
          </a:xfrm>
          <a:prstGeom prst="rect">
            <a:avLst/>
          </a:prstGeom>
          <a:solidFill>
            <a:srgbClr val="182B42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2F5F8"/>
                </a:solidFill>
                <a:latin typeface="Calibri"/>
              </a:rPr>
              <a:t>Horario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145536"/>
            <a:ext cx="3291840" cy="658368"/>
          </a:xfrm>
          <a:prstGeom prst="rect">
            <a:avLst/>
          </a:prstGeom>
          <a:solidFill>
            <a:srgbClr val="182B42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6C784"/>
                </a:solidFill>
                <a:latin typeface="Calibri"/>
              </a:rPr>
              <a:t>24/7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145536"/>
            <a:ext cx="3383280" cy="658368"/>
          </a:xfrm>
          <a:prstGeom prst="rect">
            <a:avLst/>
          </a:prstGeom>
          <a:solidFill>
            <a:srgbClr val="182B42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0B90B"/>
                </a:solidFill>
                <a:latin typeface="Calibri"/>
              </a:rPr>
              <a:t>24h L-V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03904"/>
            <a:ext cx="365760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2F5F8"/>
                </a:solidFill>
                <a:latin typeface="Calibri"/>
              </a:rPr>
              <a:t>Noticias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803904"/>
            <a:ext cx="329184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6C784"/>
                </a:solidFill>
                <a:latin typeface="Calibri"/>
              </a:rPr>
              <a:t>No afectan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803904"/>
            <a:ext cx="338328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0B90B"/>
                </a:solidFill>
                <a:latin typeface="Calibri"/>
              </a:rPr>
              <a:t>Afectan mucho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462272"/>
            <a:ext cx="3657600" cy="658368"/>
          </a:xfrm>
          <a:prstGeom prst="rect">
            <a:avLst/>
          </a:prstGeom>
          <a:solidFill>
            <a:srgbClr val="182B42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2F5F8"/>
                </a:solidFill>
                <a:latin typeface="Calibri"/>
              </a:rPr>
              <a:t>Volatilidad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462272"/>
            <a:ext cx="3291840" cy="658368"/>
          </a:xfrm>
          <a:prstGeom prst="rect">
            <a:avLst/>
          </a:prstGeom>
          <a:solidFill>
            <a:srgbClr val="182B42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6C784"/>
                </a:solidFill>
                <a:latin typeface="Calibri"/>
              </a:rPr>
              <a:t>Constante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462272"/>
            <a:ext cx="3383280" cy="658368"/>
          </a:xfrm>
          <a:prstGeom prst="rect">
            <a:avLst/>
          </a:prstGeom>
          <a:solidFill>
            <a:srgbClr val="182B42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0B90B"/>
                </a:solidFill>
                <a:latin typeface="Calibri"/>
              </a:rPr>
              <a:t>Variable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120640"/>
            <a:ext cx="365760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2F5F8"/>
                </a:solidFill>
                <a:latin typeface="Calibri"/>
              </a:rPr>
              <a:t>Plataforma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5120640"/>
            <a:ext cx="329184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6C784"/>
                </a:solidFill>
                <a:latin typeface="Calibri"/>
              </a:rPr>
              <a:t>Deriv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120640"/>
            <a:ext cx="3383280" cy="658368"/>
          </a:xfrm>
          <a:prstGeom prst="rect">
            <a:avLst/>
          </a:prstGeom>
          <a:solidFill>
            <a:srgbClr val="132438"/>
          </a:solidFill>
          <a:ln w="12700">
            <a:solidFill>
              <a:srgbClr val="0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0B90B"/>
                </a:solidFill>
                <a:latin typeface="Calibri"/>
              </a:rPr>
              <a:t>MT5 / TradingView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Que es un Broker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La empresa intermediaria que nos da acceso al mercado.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Nos permite abrir cuenta, depositar, retirar y enviar ordenes.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Gana por SPREAD y comisiones (por volumen, no por tu resultado).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Ejemplos: Deriv (sinteticos) · Exness, IC Markets (Forex).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MetaTrader 5 (MT5)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La plataforma donde analizamos y operamos.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Ves graficos, indicadores y herramientas de analisis.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Colocas Buy, Sell, Stop Loss y Take Profit.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Gestionas operaciones y revisas tu historial.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La mente del trader (introduccion)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La mayoria pierde por emociones, no por falta de conocimiento.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Miedo, ansiedad, euforia y ganas de recuperar (revenge).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Estas emociones rompen el plan y vacian la cuenta.</a:t>
            </a:r>
          </a:p>
          <a:p>
            <a:pPr>
              <a:spcAft>
                <a:spcPts val="13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Lo veremos a fondo mas adelante.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Resumen del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Que es el trading y como se gana.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Los dos mercados: sinteticos y Forex (y sus diferencias).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Que mueve cada mercado.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Que es un broker y la plataforma MT5.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16C784"/>
                </a:solidFill>
              </a:rPr>
              <a:t>▶  </a:t>
            </a:r>
            <a:r>
              <a:rPr sz="2100">
                <a:solidFill>
                  <a:srgbClr val="F2F5F8"/>
                </a:solidFill>
                <a:latin typeface="Calibri"/>
              </a:rPr>
              <a:t>Una primera mirada a la psicologia.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B90B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2F5F8"/>
                </a:solidFill>
                <a:latin typeface="Calibri"/>
              </a:rPr>
              <a:t>Tarea para la proxima clase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463040" cy="82296"/>
          </a:xfrm>
          <a:prstGeom prst="rect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Repasar todo lo visto hoy.</a:t>
            </a:r>
          </a:p>
          <a:p>
            <a:pPr>
              <a:spcAft>
                <a:spcPts val="18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Escuchar el audiolibro asignado (definir titulo).</a:t>
            </a:r>
          </a:p>
          <a:p>
            <a:pPr>
              <a:spcAft>
                <a:spcPts val="1800"/>
              </a:spcAft>
            </a:pPr>
            <a:r>
              <a:rPr sz="2400" b="1">
                <a:solidFill>
                  <a:srgbClr val="16C784"/>
                </a:solidFill>
              </a:rPr>
              <a:t>▶  </a:t>
            </a:r>
            <a:r>
              <a:rPr sz="2400">
                <a:solidFill>
                  <a:srgbClr val="F2F5F8"/>
                </a:solidFill>
                <a:latin typeface="Calibri"/>
              </a:rPr>
              <a:t>Prepararse: manana entramos a leer el grafico (teoria mas avanzada).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1">
                <a:solidFill>
                  <a:srgbClr val="16C784"/>
                </a:solidFill>
                <a:latin typeface="Calibri"/>
              </a:rPr>
              <a:t>"Manana aprenderemos a leer el lenguaje del precio."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
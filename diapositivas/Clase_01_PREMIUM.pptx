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Presenta el curso y el objetivo: aprender a operar indices sinteticos y Forex desde cero. Hoy es 100% teoria: las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el mapa de la clase para que el alumno sepa que esperar.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"Trading es comprar y vender activos para ganar con los movimientos de precio." Recalca: con apalancamiento las variaciones se amplifican.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 aclaraciones para principiante. Frase: 'El trading es saber hacia donde va el mercado, pero tambien que hacer si NO va donde esperas.'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un grafico (Volatility 75 o EUR/USD). Pide al alumno senalar una vela verde y una roja. 'Si compro abajo y sube, gano; si baja, pierdo.'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ambos mercados. La gran diferencia: sinteticos no dependen de noticias y son 24/7; Forex depende de la economia y tiene sesiones.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 movimiento lo genera un algoritmo, no factores economicos. Ventaja: no hay movimientos por noticias inesperadas.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CORRECCION CLAVE: Boom = spike HACIA ARRIBA; Crash = spike HACIA ABAJO. Vol 10/25 calmados (principiantes); Vol 75/100 agresivos.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CLAVE: la volatilidad es constante, pero la direccion NO se predice. Evita la palabra 'predecible'. Seguimos un modelo matematico 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Forex = Foreign Exchange. Ejemplo del aeropuerto: cambiar pesos por dolares es Forex a pequena escala. Siempre operas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comprar EUR/USD compras euros y vendes dolares al mismo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del oceano: barcos grandes (bancos) mueven las olas; nosotros somos barcos pequenos que aprovechamos esas 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clave del dia. El analisis tecnico que veremos sirve para AMBOS mercados.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'El broker es la puerta o el puente al mercado.' No pierde porque tu ganes; gana por volumen. Spread = diferencia entre precio de compra y de 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MT5 no es un broker, es la plataforma donde ejecutas lo que el broker permite.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veremos a fondo mas adelante. Frase: 'El trader profesional no es el que gana una operacion grande; es el que sigue su plan sin que las emociones lo desvien.'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 los puntos, confirma que quedo claro y resuelve dudas.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la tarea clara. Especifica el TITULO del audiolibro.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1519" y="5230182"/>
            <a:ext cx="14000" cy="49966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8370" y="5394960"/>
            <a:ext cx="260299" cy="17010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71279" y="5271754"/>
            <a:ext cx="14000" cy="44088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8130" y="5419324"/>
            <a:ext cx="260299" cy="14574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91039" y="5172751"/>
            <a:ext cx="14000" cy="45849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7890" y="5384677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10799" y="5141644"/>
            <a:ext cx="14000" cy="91286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650" y="5384677"/>
            <a:ext cx="260299" cy="426799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0559" y="5584637"/>
            <a:ext cx="14000" cy="87109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7410" y="5811476"/>
            <a:ext cx="260299" cy="41741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0319" y="6077311"/>
            <a:ext cx="14000" cy="30316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27170" y="6228892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0079" y="5915761"/>
            <a:ext cx="14000" cy="62626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6930" y="6228892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9839" y="6048228"/>
            <a:ext cx="14000" cy="36132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6690" y="6228892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9599" y="5766188"/>
            <a:ext cx="14000" cy="80235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86450" y="6105842"/>
            <a:ext cx="260299" cy="12305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9359" y="5812664"/>
            <a:ext cx="14000" cy="51190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6210" y="6031391"/>
            <a:ext cx="260299" cy="7445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9119" y="5429620"/>
            <a:ext cx="14000" cy="743667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970" y="5571516"/>
            <a:ext cx="260299" cy="45987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8879" y="5030146"/>
            <a:ext cx="14000" cy="7366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5730" y="5225376"/>
            <a:ext cx="260299" cy="34614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8639" y="5067853"/>
            <a:ext cx="14000" cy="65855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65490" y="5225376"/>
            <a:ext cx="260299" cy="34351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08399" y="5258109"/>
            <a:ext cx="14000" cy="80648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85250" y="5568886"/>
            <a:ext cx="260299" cy="184931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8159" y="5494508"/>
            <a:ext cx="14000" cy="826911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5010" y="5753817"/>
            <a:ext cx="260299" cy="308293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7919" y="5714576"/>
            <a:ext cx="14000" cy="56093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4770" y="5927974"/>
            <a:ext cx="260299" cy="13413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67679" y="5736419"/>
            <a:ext cx="14000" cy="33700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44530" y="5881872"/>
            <a:ext cx="260299" cy="4610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87439" y="5705000"/>
            <a:ext cx="14000" cy="70076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64290" y="5881872"/>
            <a:ext cx="260299" cy="34702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457200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MODULO 1   ·   FUNDAMENTOS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82880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4F6F9"/>
                </a:solidFill>
                <a:latin typeface="Calibri"/>
              </a:rPr>
              <a:t>Introduccion</a:t>
            </a:r>
          </a:p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4F6F9"/>
                </a:solidFill>
                <a:latin typeface="Calibri"/>
              </a:rPr>
              <a:t>al Trading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3611880"/>
            <a:ext cx="2011680" cy="444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7673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909FB0"/>
                </a:solidFill>
                <a:latin typeface="Calibri"/>
              </a:rPr>
              <a:t>Clase 1   ·   Indices Sinteticos y Forex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Lo que veras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789920" cy="78638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058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Que es el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029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Concepto, mentalidad y como se gana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2"/>
            <a:ext cx="10789920" cy="78638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10058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24912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Los dos mercados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5029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Indices sinteticos y Forex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21024"/>
            <a:ext cx="10789920" cy="78638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21024"/>
            <a:ext cx="10058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21024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Que mueve cada mercado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21024"/>
            <a:ext cx="5029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Algoritmo vs. economia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17136"/>
            <a:ext cx="10789920" cy="78638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17136"/>
            <a:ext cx="10058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Herramientas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17136"/>
            <a:ext cx="5029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El broker y la plataforma MT5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13248"/>
            <a:ext cx="10789920" cy="78638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13248"/>
            <a:ext cx="10058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13248"/>
            <a:ext cx="45720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La mente del trader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13248"/>
            <a:ext cx="50292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Primer vistazo a la psicologia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52599" y="2612933"/>
            <a:ext cx="14000" cy="127648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118" y="3073351"/>
            <a:ext cx="238963" cy="35564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1559" y="2542153"/>
            <a:ext cx="14000" cy="142879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9078" y="3073351"/>
            <a:ext cx="238963" cy="366399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0519" y="3036604"/>
            <a:ext cx="14000" cy="89858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8038" y="3439750"/>
            <a:ext cx="238963" cy="9229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9479" y="2369669"/>
            <a:ext cx="14000" cy="1744397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6998" y="2951691"/>
            <a:ext cx="238963" cy="58035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8439" y="2425484"/>
            <a:ext cx="14000" cy="155691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15958" y="2951691"/>
            <a:ext cx="238963" cy="50450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7399" y="2745573"/>
            <a:ext cx="14000" cy="137156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84918" y="3406517"/>
            <a:ext cx="238963" cy="4967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66359" y="2556333"/>
            <a:ext cx="14000" cy="124802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53878" y="2954178"/>
            <a:ext cx="238963" cy="45233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5319" y="1685806"/>
            <a:ext cx="14000" cy="159010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22838" y="2007539"/>
            <a:ext cx="238963" cy="94663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04279" y="1399464"/>
            <a:ext cx="14000" cy="137756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91798" y="2007539"/>
            <a:ext cx="238963" cy="16141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1168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0" b="1" i="0">
                <a:solidFill>
                  <a:srgbClr val="2A4460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PARTE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4F6F9"/>
                </a:solidFill>
                <a:latin typeface="Calibri"/>
              </a:rPr>
              <a:t>Que es el Trading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09FB0"/>
                </a:solidFill>
                <a:latin typeface="Calibri"/>
              </a:rPr>
              <a:t>El concepto y la mentalidad correcta desde el dia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01 · 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Que es el Trading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 i="0">
                <a:solidFill>
                  <a:srgbClr val="F4F6F9"/>
                </a:solidFill>
                <a:latin typeface="Calibri"/>
              </a:rPr>
              <a:t>Comprar y vender activos financieros para obtener ganancia a partir de los </a:t>
            </a:r>
            <a:r>
              <a:rPr sz="2200" b="1" i="0">
                <a:solidFill>
                  <a:srgbClr val="D4AF37"/>
                </a:solidFill>
                <a:latin typeface="Calibri"/>
              </a:rPr>
              <a:t>movimientos de precio.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Sube y baja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El precio se mueve constantemente; ahi esta la oportunidad.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Apalancamiento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Amplifica los movimientos: para bien y para 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4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4F6F9"/>
                </a:solidFill>
                <a:latin typeface="Calibri"/>
              </a:rPr>
              <a:t>Probabilidades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No se adivina; se analizan escenarios probables.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01 · MENTALIDAD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Lo primero que debes entender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63500" cy="114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40233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 es adivinar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80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Es analizar probabilidades, no leer el futuro.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63500" cy="114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80"/>
            <a:ext cx="40233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 es hacerse rico rapido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383280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Es un negocio con riesgo real y curva de aprendizaje.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754880"/>
            <a:ext cx="63500" cy="1143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754880"/>
            <a:ext cx="40233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El control esta en 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754880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No controlas el mercado, pero si tu gestion del riesgo.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01 · EN LA PRACTICA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Como se gana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74920" cy="420624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7501" y="3553536"/>
            <a:ext cx="14000" cy="128884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38964" y="3931920"/>
            <a:ext cx="171075" cy="53207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4824" y="4023323"/>
            <a:ext cx="14000" cy="158583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6287" y="4463992"/>
            <a:ext cx="171075" cy="70449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32148" y="4356398"/>
            <a:ext cx="14000" cy="121968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53611" y="4763991"/>
            <a:ext cx="171075" cy="404497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9472" y="3872431"/>
            <a:ext cx="14000" cy="120906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0935" y="4189932"/>
            <a:ext cx="171075" cy="57405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6795" y="3476339"/>
            <a:ext cx="14000" cy="112860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68258" y="3891349"/>
            <a:ext cx="171075" cy="29858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4119" y="3402199"/>
            <a:ext cx="14000" cy="85615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582" y="3769200"/>
            <a:ext cx="171075" cy="12214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1443" y="2712698"/>
            <a:ext cx="14000" cy="159323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2906" y="3249431"/>
            <a:ext cx="171075" cy="51976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68766" y="2810174"/>
            <a:ext cx="14000" cy="91811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0229" y="3249431"/>
            <a:ext cx="171075" cy="4000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76090" y="2836799"/>
            <a:ext cx="14000" cy="157614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97553" y="3289031"/>
            <a:ext cx="171075" cy="67168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83414" y="3182216"/>
            <a:ext cx="14000" cy="133205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04877" y="3735772"/>
            <a:ext cx="171075" cy="22494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90737" y="2936216"/>
            <a:ext cx="14000" cy="110692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12200" y="3243588"/>
            <a:ext cx="171075" cy="49218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5778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909FB0"/>
                </a:solidFill>
                <a:latin typeface="Calibri"/>
              </a:rPr>
              <a:t>Cada vela cuenta la historia del precio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•  Compro abajo y sube  →  </a:t>
            </a:r>
            <a:r>
              <a:rPr sz="1800" b="1" i="0">
                <a:solidFill>
                  <a:srgbClr val="24C284"/>
                </a:solidFill>
                <a:latin typeface="Calibri"/>
              </a:rPr>
              <a:t>ganas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971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•  Compro y baja  →  </a:t>
            </a:r>
            <a:r>
              <a:rPr sz="1800" b="1" i="0">
                <a:solidFill>
                  <a:srgbClr val="E0555E"/>
                </a:solidFill>
                <a:latin typeface="Calibri"/>
              </a:rPr>
              <a:t>pierdes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7490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•  Vendo arriba y baja  →  </a:t>
            </a:r>
            <a:r>
              <a:rPr sz="1800" b="1" i="0">
                <a:solidFill>
                  <a:srgbClr val="24C284"/>
                </a:solidFill>
                <a:latin typeface="Calibri"/>
              </a:rPr>
              <a:t>ganas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75488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Simple en concepto,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con mucha estrategia detras.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52599" y="2860573"/>
            <a:ext cx="14000" cy="136201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118" y="3429000"/>
            <a:ext cx="238963" cy="22515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1559" y="3178458"/>
            <a:ext cx="14000" cy="1892637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9078" y="3654156"/>
            <a:ext cx="238963" cy="941241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0519" y="4274098"/>
            <a:ext cx="14000" cy="1178813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8038" y="4595397"/>
            <a:ext cx="238963" cy="53621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9479" y="4518568"/>
            <a:ext cx="14000" cy="122608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6998" y="5131612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8439" y="4751834"/>
            <a:ext cx="14000" cy="75955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15958" y="5131612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7399" y="4472333"/>
            <a:ext cx="14000" cy="131855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84918" y="5131612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66359" y="4661518"/>
            <a:ext cx="14000" cy="94018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53878" y="5131612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5319" y="4369505"/>
            <a:ext cx="14000" cy="142674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22838" y="5034144"/>
            <a:ext cx="238963" cy="9746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04279" y="3748754"/>
            <a:ext cx="14000" cy="1941337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91798" y="4404701"/>
            <a:ext cx="238963" cy="62944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1168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0" b="1" i="0">
                <a:solidFill>
                  <a:srgbClr val="2A4460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PARTE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4F6F9"/>
                </a:solidFill>
                <a:latin typeface="Calibri"/>
              </a:rPr>
              <a:t>Los Mercados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09FB0"/>
                </a:solidFill>
                <a:latin typeface="Calibri"/>
              </a:rPr>
              <a:t>Indices sinteticos y Forex: en que se parecen y en que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Los dos mercados que veremos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85232" cy="41148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9050">
            <a:solidFill>
              <a:srgbClr val="24C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4C284"/>
                </a:solidFill>
                <a:latin typeface="Calibri"/>
              </a:rPr>
              <a:t>Indices Sinteticos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4C284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Mercado algoritmico (Deriv)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4C284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Operan 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06824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4C284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NO dependen de noticias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005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4C284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Volatilidad constante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828800"/>
            <a:ext cx="5285232" cy="41148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031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D4AF37"/>
                </a:solidFill>
                <a:latin typeface="Calibri"/>
              </a:rPr>
              <a:t>Forex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880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Mercado real de divisas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9359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Opera 24h, lunes a viernes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306824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SI depende de noticias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502005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4AF3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4F6F9"/>
                </a:solidFill>
                <a:latin typeface="Calibri"/>
              </a:rPr>
              <a:t>Lo mueven los grandes bancos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SINTETICOS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Indices Sinteticos: que 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F4F6F9"/>
                </a:solidFill>
                <a:latin typeface="Calibri"/>
              </a:rPr>
              <a:t>Activos virtuales que imitan el comportamiento del mercado real, pero su movimiento lo genera un </a:t>
            </a:r>
            <a:r>
              <a:rPr sz="2100" b="1" i="0">
                <a:solidFill>
                  <a:srgbClr val="D4AF37"/>
                </a:solidFill>
                <a:latin typeface="Calibri"/>
              </a:rPr>
              <a:t>algoritmo matematico</a:t>
            </a:r>
            <a:r>
              <a:rPr sz="2100" b="0" i="0">
                <a:solidFill>
                  <a:srgbClr val="F4F6F9"/>
                </a:solidFill>
                <a:latin typeface="Calibri"/>
              </a:rPr>
              <a:t> — no la economia.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3419856" cy="219456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950208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4F6F9"/>
                </a:solidFill>
                <a:latin typeface="Calibri"/>
              </a:rPr>
              <a:t>Creados por Deriv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909FB0"/>
                </a:solidFill>
                <a:latin typeface="Calibri"/>
              </a:rPr>
              <a:t>Un broker especializado en este mercado.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657600"/>
            <a:ext cx="3419856" cy="219456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3950208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4F6F9"/>
                </a:solidFill>
                <a:latin typeface="Calibri"/>
              </a:rPr>
              <a:t>Sin sorpresas de noticias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70916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909FB0"/>
                </a:solidFill>
                <a:latin typeface="Calibri"/>
              </a:rPr>
              <a:t>Ningun banco ni gobierno mueve el precio.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3657600"/>
            <a:ext cx="3419856" cy="219456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4" y="3950208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41148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4F6F9"/>
                </a:solidFill>
                <a:latin typeface="Calibri"/>
              </a:rPr>
              <a:t>Tecnicos y estables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470916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909FB0"/>
                </a:solidFill>
                <a:latin typeface="Calibri"/>
              </a:rPr>
              <a:t>Ideales para practicar lectura de grafico.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SINTETICOS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Tipos de Indices Sinteticos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63500" cy="18745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D4AF37"/>
                </a:solidFill>
                <a:latin typeface="Calibri"/>
              </a:rPr>
              <a:t>Volatility (V10-V100)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A mayor numero, mas rapido y violento el movimiento.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2880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63500" cy="187451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574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4C284"/>
                </a:solidFill>
                <a:latin typeface="Calibri"/>
              </a:rPr>
              <a:t>Boom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9748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El precio explota HACIA ARRIBA (spike alcista).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77639"/>
            <a:ext cx="63500" cy="1874519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39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0555E"/>
                </a:solidFill>
                <a:latin typeface="Calibri"/>
              </a:rPr>
              <a:t>Crash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1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El precio se desploma HACIA ABAJO (spike bajista).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7763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977639"/>
            <a:ext cx="63500" cy="18745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206239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D4AF37"/>
                </a:solidFill>
                <a:latin typeface="Calibri"/>
              </a:rPr>
              <a:t>Step / Jump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84631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Step: suave y constante. Jump: saltos a intervalos.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SINTETICOS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Que mueve a los Sinteticos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0789920" cy="18288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4F6F9"/>
                </a:solidFill>
                <a:latin typeface="Calibri"/>
              </a:rPr>
              <a:t>Lo CONSTANTE es la volatilidad,  </a:t>
            </a:r>
            <a:r>
              <a:rPr sz="2400" b="1" i="0">
                <a:solidFill>
                  <a:srgbClr val="D4AF37"/>
                </a:solidFill>
                <a:latin typeface="Calibri"/>
              </a:rPr>
              <a:t>NO la direccion.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909FB0"/>
                </a:solidFill>
                <a:latin typeface="Calibri"/>
              </a:rPr>
              <a:t>El precio sigue siendo aleatorio: por eso analizamos </a:t>
            </a:r>
            <a:r>
              <a:rPr sz="1800" b="1" i="0">
                <a:solidFill>
                  <a:srgbClr val="F4F6F9"/>
                </a:solidFill>
                <a:latin typeface="Calibri"/>
              </a:rPr>
              <a:t>estructura y probabilidades</a:t>
            </a:r>
            <a:r>
              <a:rPr sz="1800" b="0" i="0">
                <a:solidFill>
                  <a:srgbClr val="909FB0"/>
                </a:solidFill>
                <a:latin typeface="Calibri"/>
              </a:rPr>
              <a:t>, no certezas. No es manipulado: es un sistema matematico estable y tecnico.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FOREX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Forex: el mercado de divisas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F4F6F9"/>
                </a:solidFill>
                <a:latin typeface="Calibri"/>
              </a:rPr>
              <a:t>El mercado global donde se intercambian monedas: compras una y </a:t>
            </a:r>
            <a:r>
              <a:rPr sz="2100" b="1" i="0">
                <a:solidFill>
                  <a:srgbClr val="D4AF37"/>
                </a:solidFill>
                <a:latin typeface="Calibri"/>
              </a:rPr>
              <a:t>vendes otra al mismo tiempo.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3419856" cy="210312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3419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+6 billones 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60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movidos cada 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474720"/>
            <a:ext cx="3419856" cy="210312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3840480"/>
            <a:ext cx="3419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24 horas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4709160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de lunes a viernes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3474720"/>
            <a:ext cx="3419856" cy="210312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3840480"/>
            <a:ext cx="3419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D4AF37"/>
                </a:solidFill>
                <a:latin typeface="Calibri"/>
              </a:rPr>
              <a:t>3 sesiones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709160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Asia, Londres y Nueva York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FOREX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Los Pares de Divisas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1B324B"/>
          </a:solidFill>
          <a:ln w="1524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10058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F6F9"/>
                </a:solidFill>
                <a:latin typeface="Calibri"/>
              </a:rPr>
              <a:t>EUR/USD = 1.0850</a:t>
            </a:r>
            <a:r>
              <a:rPr sz="1800" b="0" i="0">
                <a:solidFill>
                  <a:srgbClr val="909FB0"/>
                </a:solidFill>
                <a:latin typeface="Calibri"/>
              </a:rPr>
              <a:t>    →  1 euro equivale a 1.0850 dolares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Si el grafico SUBE  →  </a:t>
            </a:r>
            <a:r>
              <a:rPr sz="1800" b="1" i="0">
                <a:solidFill>
                  <a:srgbClr val="24C284"/>
                </a:solidFill>
                <a:latin typeface="Calibri"/>
              </a:rPr>
              <a:t>el euro se fortalece frente al dolar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4F6F9"/>
                </a:solidFill>
                <a:latin typeface="Calibri"/>
              </a:rPr>
              <a:t>Si el grafico BAJA  →  </a:t>
            </a:r>
            <a:r>
              <a:rPr sz="1800" b="1" i="0">
                <a:solidFill>
                  <a:srgbClr val="E0555E"/>
                </a:solidFill>
                <a:latin typeface="Calibri"/>
              </a:rPr>
              <a:t>el dolar se fortalece frente al euro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FOREX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Que mueve al mercado Forex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789920" cy="96926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63500" cy="9692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20624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Los grandes actores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74519"/>
            <a:ext cx="585216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Bancos, gobiernos, fondos y empresas mueven el volumen.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71799"/>
            <a:ext cx="10789920" cy="96926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71799"/>
            <a:ext cx="63500" cy="9692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71799"/>
            <a:ext cx="420624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Tasas e instituciones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971799"/>
            <a:ext cx="585216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Decisiones de bancos centrales (FED, BCE) marcan tendencia.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79"/>
            <a:ext cx="10789920" cy="96926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69079"/>
            <a:ext cx="63500" cy="9692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69079"/>
            <a:ext cx="420624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Noticias de alto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79"/>
            <a:ext cx="585216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NFP, CPI y reuniones FOMC generan volatilidad.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66359"/>
            <a:ext cx="10789920" cy="969264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166359"/>
            <a:ext cx="63500" cy="9692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166359"/>
            <a:ext cx="420624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Nosotros seguimos la huella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166359"/>
            <a:ext cx="5852160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4F6F9"/>
                </a:solidFill>
                <a:latin typeface="Calibri"/>
              </a:rPr>
              <a:t>No movemos el precio: aprovechamos lo que ellos generan.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02 · SINTESIS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Sinteticos vs. Forex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83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C284"/>
                </a:solidFill>
                <a:latin typeface="Calibri"/>
              </a:rPr>
              <a:t>SINTETICOS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D4AF37"/>
                </a:solidFill>
                <a:latin typeface="Calibri"/>
              </a:rPr>
              <a:t>FOREX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09FB0"/>
                </a:solidFill>
                <a:latin typeface="Calibri"/>
              </a:rPr>
              <a:t>Que lo mueve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24028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24028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Algoritmo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24028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24028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Economia / bancos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09FB0"/>
                </a:solidFill>
                <a:latin typeface="Calibri"/>
              </a:rPr>
              <a:t>Horario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06324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06324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24 /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06324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06324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24h  L-V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09FB0"/>
                </a:solidFill>
                <a:latin typeface="Calibri"/>
              </a:rPr>
              <a:t>Noticias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88620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88620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No afectan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88620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88620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Afectan mucho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09FB0"/>
                </a:solidFill>
                <a:latin typeface="Calibri"/>
              </a:rPr>
              <a:t>Volatilidad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470916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70916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Constante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470916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470916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Variable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09FB0"/>
                </a:solidFill>
                <a:latin typeface="Calibri"/>
              </a:rPr>
              <a:t>Plataforma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553212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553212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Deriv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532120"/>
            <a:ext cx="3566160" cy="676656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532120"/>
            <a:ext cx="3566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4F6F9"/>
                </a:solidFill>
                <a:latin typeface="Calibri"/>
              </a:rPr>
              <a:t>MT5 / TradingView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52599" y="2974091"/>
            <a:ext cx="14000" cy="134664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118" y="3429000"/>
            <a:ext cx="238963" cy="43683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1559" y="3200829"/>
            <a:ext cx="14000" cy="160842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9078" y="3865830"/>
            <a:ext cx="238963" cy="27842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0519" y="2905409"/>
            <a:ext cx="14000" cy="157530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8038" y="3241863"/>
            <a:ext cx="238963" cy="902393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9479" y="2869100"/>
            <a:ext cx="14000" cy="138384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6998" y="3241863"/>
            <a:ext cx="238963" cy="638319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8439" y="3394058"/>
            <a:ext cx="14000" cy="149796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15958" y="3880182"/>
            <a:ext cx="238963" cy="52571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7399" y="3843636"/>
            <a:ext cx="14000" cy="94881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84918" y="4230194"/>
            <a:ext cx="238963" cy="17570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66359" y="3773649"/>
            <a:ext cx="14000" cy="181450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53878" y="4230194"/>
            <a:ext cx="238963" cy="90141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5319" y="4609026"/>
            <a:ext cx="14000" cy="104517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22838" y="5131612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04279" y="3660141"/>
            <a:ext cx="14000" cy="204968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91798" y="4238354"/>
            <a:ext cx="238963" cy="89325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1168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0" b="1" i="0">
                <a:solidFill>
                  <a:srgbClr val="2A446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PARTE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4F6F9"/>
                </a:solidFill>
                <a:latin typeface="Calibri"/>
              </a:rPr>
              <a:t>Las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09FB0"/>
                </a:solidFill>
                <a:latin typeface="Calibri"/>
              </a:rPr>
              <a:t>Como nos conectamos al mercado y donde operamos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03 ·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Que es un Broker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 i="0">
                <a:solidFill>
                  <a:srgbClr val="F4F6F9"/>
                </a:solidFill>
                <a:latin typeface="Calibri"/>
              </a:rPr>
              <a:t>La empresa intermediaria que nos da </a:t>
            </a:r>
            <a:r>
              <a:rPr sz="2100" b="1" i="0">
                <a:solidFill>
                  <a:srgbClr val="D4AF37"/>
                </a:solidFill>
                <a:latin typeface="Calibri"/>
              </a:rPr>
              <a:t>acceso al mercado</a:t>
            </a:r>
            <a:r>
              <a:rPr sz="2100" b="0" i="0">
                <a:solidFill>
                  <a:srgbClr val="F4F6F9"/>
                </a:solidFill>
                <a:latin typeface="Calibri"/>
              </a:rPr>
              <a:t> — la puerta de entrada.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6F9"/>
                </a:solidFill>
                <a:latin typeface="Calibri"/>
              </a:rPr>
              <a:t>Tu acceso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Abrir cuenta, depositar, retirar y enviar ordenes.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5152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6F9"/>
                </a:solidFill>
                <a:latin typeface="Calibri"/>
              </a:rPr>
              <a:t>Como gana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Por spread y comisiones; por volumen, no por tu resultado.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3383280"/>
            <a:ext cx="3419856" cy="22860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4" y="3703320"/>
            <a:ext cx="50292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4F6F9"/>
                </a:solidFill>
                <a:latin typeface="Calibri"/>
              </a:rPr>
              <a:t>Ejemplos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4434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09FB0"/>
                </a:solidFill>
                <a:latin typeface="Calibri"/>
              </a:rPr>
              <a:t>Deriv (sinteticos) · Exness, IC Markets (Forex).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03 ·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MetaTrader 5 (MT5)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789920" cy="1188720"/>
          </a:xfrm>
          <a:prstGeom prst="roundRect">
            <a:avLst>
              <a:gd name="adj" fmla="val 6000"/>
            </a:avLst>
          </a:prstGeom>
          <a:solidFill>
            <a:srgbClr val="1B324B"/>
          </a:solidFill>
          <a:ln w="1524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10058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4F6F9"/>
                </a:solidFill>
                <a:latin typeface="Calibri"/>
              </a:rPr>
              <a:t>Nuestra </a:t>
            </a:r>
            <a:r>
              <a:rPr sz="2200" b="1" i="0">
                <a:solidFill>
                  <a:srgbClr val="D4AF37"/>
                </a:solidFill>
                <a:latin typeface="Calibri"/>
              </a:rPr>
              <a:t>casa de trabajo</a:t>
            </a:r>
            <a:r>
              <a:rPr sz="2200" b="0" i="0">
                <a:solidFill>
                  <a:srgbClr val="F4F6F9"/>
                </a:solidFill>
                <a:latin typeface="Calibri"/>
              </a:rPr>
              <a:t>: aqui analizamos, planificamos y ejecutamos.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285232" cy="9144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749040"/>
            <a:ext cx="50800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Ver graficos e indicadores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474720"/>
            <a:ext cx="5285232" cy="9144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3749040"/>
            <a:ext cx="50800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7472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Trazar lineas y zonas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5285232" cy="9144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846320"/>
            <a:ext cx="50800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Colocar Buy, Sell, SL y 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572000"/>
            <a:ext cx="5285232" cy="91440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4846320"/>
            <a:ext cx="50800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457200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4F6F9"/>
                </a:solidFill>
                <a:latin typeface="Calibri"/>
              </a:rPr>
              <a:t>Gestionar e historial de operaciones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52599" y="2852910"/>
            <a:ext cx="14000" cy="112163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118" y="3398459"/>
            <a:ext cx="238963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1559" y="2758065"/>
            <a:ext cx="14000" cy="93341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9078" y="3051090"/>
            <a:ext cx="238963" cy="34736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0519" y="1645129"/>
            <a:ext cx="14000" cy="202426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8038" y="2263432"/>
            <a:ext cx="238963" cy="78765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9479" y="1010451"/>
            <a:ext cx="14000" cy="187930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6998" y="1636776"/>
            <a:ext cx="238963" cy="62665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8439" y="1189178"/>
            <a:ext cx="14000" cy="110736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15958" y="1636776"/>
            <a:ext cx="238963" cy="212169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7399" y="1295915"/>
            <a:ext cx="14000" cy="188766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84918" y="1848945"/>
            <a:ext cx="238963" cy="78160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66359" y="2331541"/>
            <a:ext cx="14000" cy="1461023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53878" y="2630550"/>
            <a:ext cx="238963" cy="86300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5319" y="3152001"/>
            <a:ext cx="14000" cy="125726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22838" y="3493555"/>
            <a:ext cx="238963" cy="57415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04279" y="3775323"/>
            <a:ext cx="14000" cy="90010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91798" y="4067713"/>
            <a:ext cx="238963" cy="31532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01168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0" b="1" i="0">
                <a:solidFill>
                  <a:srgbClr val="2A446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PARTE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4F6F9"/>
                </a:solidFill>
                <a:latin typeface="Calibri"/>
              </a:rPr>
              <a:t>La Mente del Trader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09FB0"/>
                </a:solidFill>
                <a:latin typeface="Calibri"/>
              </a:rPr>
              <a:t>Donde se gana o se pierde de verdad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PARTE 04 · MENTALIDAD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La mente del trader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>
                <a:solidFill>
                  <a:srgbClr val="F4F6F9"/>
                </a:solidFill>
                <a:latin typeface="Calibri"/>
              </a:rPr>
              <a:t>La mayoria pierde por </a:t>
            </a:r>
            <a:r>
              <a:rPr sz="2000" b="1" i="0">
                <a:solidFill>
                  <a:srgbClr val="D4AF37"/>
                </a:solidFill>
                <a:latin typeface="Calibri"/>
              </a:rPr>
              <a:t>emociones mal manejadas</a:t>
            </a:r>
            <a:r>
              <a:rPr sz="2000" b="0" i="0">
                <a:solidFill>
                  <a:srgbClr val="F4F6F9"/>
                </a:solidFill>
                <a:latin typeface="Calibri"/>
              </a:rPr>
              <a:t>, no por falta de conocimiento.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5240">
            <a:solidFill>
              <a:srgbClr val="E05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E0555E"/>
                </a:solidFill>
                <a:latin typeface="Calibri"/>
              </a:rPr>
              <a:t>Miedo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Cierra ganancias muy pronto.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5240">
            <a:solidFill>
              <a:srgbClr val="E05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35204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E0555E"/>
                </a:solidFill>
                <a:latin typeface="Calibri"/>
              </a:rPr>
              <a:t>Ansiedad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42976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Operar de mas (overtrading).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5240">
            <a:solidFill>
              <a:srgbClr val="E05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35204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E0555E"/>
                </a:solidFill>
                <a:latin typeface="Calibri"/>
              </a:rPr>
              <a:t>Euforia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2976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Arriesgar de mas tras ganar.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320040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5240">
            <a:solidFill>
              <a:srgbClr val="E05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5204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E0555E"/>
                </a:solidFill>
                <a:latin typeface="Calibri"/>
              </a:rPr>
              <a:t>Revenge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429768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F4F6F9"/>
                </a:solidFill>
                <a:latin typeface="Calibri"/>
              </a:rPr>
              <a:t>Querer recuperar a lo loco.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4AF37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F4F6F9"/>
                </a:solidFill>
                <a:latin typeface="Calibri"/>
              </a:rPr>
              <a:t>Resumen del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1371600" cy="40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457200" cy="330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731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9418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F6F9"/>
                </a:solidFill>
                <a:latin typeface="Calibri"/>
              </a:rPr>
              <a:t>Que es el trading y como se gana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61488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731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61488"/>
            <a:ext cx="9418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F6F9"/>
                </a:solidFill>
                <a:latin typeface="Calibri"/>
              </a:rPr>
              <a:t>Los dos mercados: sinteticos y Forex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02736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02736"/>
            <a:ext cx="731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02736"/>
            <a:ext cx="9418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F6F9"/>
                </a:solidFill>
                <a:latin typeface="Calibri"/>
              </a:rPr>
              <a:t>Que mueve cada mercado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43984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43984"/>
            <a:ext cx="731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43984"/>
            <a:ext cx="9418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F6F9"/>
                </a:solidFill>
                <a:latin typeface="Calibri"/>
              </a:rPr>
              <a:t>El broker y la plataforma MT5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85232"/>
            <a:ext cx="10789920" cy="749808"/>
          </a:xfrm>
          <a:prstGeom prst="roundRect">
            <a:avLst>
              <a:gd name="adj" fmla="val 6000"/>
            </a:avLst>
          </a:prstGeom>
          <a:solidFill>
            <a:srgbClr val="15283D"/>
          </a:solidFill>
          <a:ln w="12700">
            <a:solidFill>
              <a:srgbClr val="2A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2"/>
            <a:ext cx="731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285232"/>
            <a:ext cx="9418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F6F9"/>
                </a:solidFill>
                <a:latin typeface="Calibri"/>
              </a:rPr>
              <a:t>Primera mirada a la psicologia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439"/>
              </a:gs>
              <a:gs pos="100000">
                <a:srgbClr val="09121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1519" y="5387860"/>
            <a:ext cx="14000" cy="71077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8370" y="5532120"/>
            <a:ext cx="260299" cy="42225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71279" y="5769339"/>
            <a:ext cx="14000" cy="67750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8130" y="5954375"/>
            <a:ext cx="260299" cy="307436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91039" y="5978704"/>
            <a:ext cx="14000" cy="566214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7890" y="6261811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10799" y="6021694"/>
            <a:ext cx="14000" cy="38385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650" y="6165433"/>
            <a:ext cx="260299" cy="9637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0559" y="5983512"/>
            <a:ext cx="14000" cy="46022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7410" y="6165433"/>
            <a:ext cx="260299" cy="96378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0319" y="6123008"/>
            <a:ext cx="14000" cy="277606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27170" y="6261811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0079" y="5661079"/>
            <a:ext cx="14000" cy="90664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6930" y="5966992"/>
            <a:ext cx="260299" cy="294819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9839" y="5758870"/>
            <a:ext cx="14000" cy="44498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6690" y="5966992"/>
            <a:ext cx="260299" cy="40000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9599" y="5860892"/>
            <a:ext cx="14000" cy="53575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86450" y="5995728"/>
            <a:ext cx="260299" cy="266083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9359" y="6095757"/>
            <a:ext cx="14000" cy="332108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6210" y="6261811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9119" y="5837745"/>
            <a:ext cx="14000" cy="57028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970" y="5983959"/>
            <a:ext cx="260299" cy="277852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8879" y="5686133"/>
            <a:ext cx="14000" cy="873504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5730" y="5983959"/>
            <a:ext cx="260299" cy="27785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8639" y="6094571"/>
            <a:ext cx="14000" cy="31060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65490" y="6237936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08399" y="6081052"/>
            <a:ext cx="14000" cy="277291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85250" y="6201459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8159" y="5874599"/>
            <a:ext cx="14000" cy="62997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5010" y="6177709"/>
            <a:ext cx="260299" cy="40000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7919" y="5621834"/>
            <a:ext cx="14000" cy="80477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4770" y="5870734"/>
            <a:ext cx="260299" cy="306975"/>
          </a:xfrm>
          <a:prstGeom prst="rect">
            <a:avLst/>
          </a:prstGeom>
          <a:solidFill>
            <a:srgbClr val="24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67679" y="5685105"/>
            <a:ext cx="14000" cy="573093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44530" y="5870734"/>
            <a:ext cx="260299" cy="201835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87439" y="5809124"/>
            <a:ext cx="14000" cy="71613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64290" y="6072569"/>
            <a:ext cx="260299" cy="189242"/>
          </a:xfrm>
          <a:prstGeom prst="rect">
            <a:avLst/>
          </a:prstGeom>
          <a:solidFill>
            <a:srgbClr val="E05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09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4AF37"/>
                </a:solidFill>
                <a:latin typeface="Calibri"/>
              </a:rPr>
              <a:t>CLASE 1 · CIERRE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2801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4F6F9"/>
                </a:solidFill>
                <a:latin typeface="Calibri"/>
              </a:rPr>
              <a:t>Tarea para la proxima clase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2148840"/>
            <a:ext cx="182880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2560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1.  </a:t>
            </a:r>
            <a:r>
              <a:rPr sz="2000" b="0" i="0">
                <a:solidFill>
                  <a:srgbClr val="F4F6F9"/>
                </a:solidFill>
                <a:latin typeface="Calibri"/>
              </a:rPr>
              <a:t>Repasar todo lo visto hoy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2.  </a:t>
            </a:r>
            <a:r>
              <a:rPr sz="2000" b="0" i="0">
                <a:solidFill>
                  <a:srgbClr val="F4F6F9"/>
                </a:solidFill>
                <a:latin typeface="Calibri"/>
              </a:rPr>
              <a:t>Escuchar el audiolibro asignado (definir titulo)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3.  </a:t>
            </a:r>
            <a:r>
              <a:rPr sz="2000" b="0" i="0">
                <a:solidFill>
                  <a:srgbClr val="F4F6F9"/>
                </a:solidFill>
                <a:latin typeface="Calibri"/>
              </a:rPr>
              <a:t>Prepararse: manana entramos a leer el grafico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1">
                <a:solidFill>
                  <a:srgbClr val="EAD48B"/>
                </a:solidFill>
                <a:latin typeface="Calibri"/>
              </a:rPr>
              <a:t>"Manana aprenderemos a leer el lenguaje del precio."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
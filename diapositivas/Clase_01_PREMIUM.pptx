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Bienvenida. Presenta el curso y el objetivo. Hoy es 100% teoria: las 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Mapa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apalancamiento las variaciones se amplifican.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3 aclaraciones para principiante.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Pide al alumno senalar una vela verde y una roja.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 diferencia: sinteticos no dependen de noticias, 24/7; Forex depende de economia.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Movimiento por algoritmo, no economia.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CORRECCION: Boom = spike ARRIBA; Crash = spike ABAJO.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Evita la palabra 'predecible'. Volatilidad constante, direccion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del aeropuerto. Siempre operas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comprar EUR/USD compras euros y vendes dolares.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del oceano: barcos grandes mueven las olas.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analisis tecnico sirve para AMBOS mercados.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broker es la puerta al mercado. Gana por volumen.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MT5 no es un broker: es la plataforma donde ejecutas.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Frase: el profesional sigue su plan sin que las emociones lo desvien.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 los puntos y resuelve dudas.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Especifica el TITULO del audiolibro.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16052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869180"/>
            <a:ext cx="103327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5303520"/>
            <a:ext cx="103327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5737860"/>
            <a:ext cx="103327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747564"/>
            <a:ext cx="103327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5859475"/>
            <a:ext cx="103327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66717" y="5587216"/>
            <a:ext cx="12000" cy="34033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4224" y="5724787"/>
            <a:ext cx="216987" cy="6519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83353" y="5598663"/>
            <a:ext cx="12000" cy="35100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80860" y="5724787"/>
            <a:ext cx="216987" cy="98756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99989" y="5636692"/>
            <a:ext cx="12000" cy="32778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97496" y="5777621"/>
            <a:ext cx="216987" cy="4592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16625" y="5487653"/>
            <a:ext cx="12000" cy="42171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14132" y="5619403"/>
            <a:ext cx="216987" cy="15821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3261" y="5449956"/>
            <a:ext cx="12000" cy="33537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30768" y="5615888"/>
            <a:ext cx="216987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9897" y="5319819"/>
            <a:ext cx="12000" cy="40246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47404" y="5426211"/>
            <a:ext cx="216987" cy="18967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66533" y="5067376"/>
            <a:ext cx="12000" cy="52679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4040" y="5235335"/>
            <a:ext cx="216987" cy="19087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83169" y="5160748"/>
            <a:ext cx="12000" cy="16774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0676" y="5235335"/>
            <a:ext cx="216987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99805" y="5067080"/>
            <a:ext cx="12000" cy="49254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97312" y="5253903"/>
            <a:ext cx="216987" cy="118903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16441" y="5228450"/>
            <a:ext cx="12000" cy="29354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3948" y="5372806"/>
            <a:ext cx="216987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33077" y="5138668"/>
            <a:ext cx="12000" cy="31029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0584" y="5209986"/>
            <a:ext cx="216987" cy="16765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49713" y="5094466"/>
            <a:ext cx="12000" cy="19225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47220" y="5171202"/>
            <a:ext cx="216987" cy="3878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66349" y="4915994"/>
            <a:ext cx="12000" cy="35412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63856" y="5014912"/>
            <a:ext cx="216987" cy="15629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985" y="4677067"/>
            <a:ext cx="12000" cy="46376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80492" y="4802982"/>
            <a:ext cx="216987" cy="21193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99621" y="4561726"/>
            <a:ext cx="12000" cy="41320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97128" y="4733672"/>
            <a:ext cx="216987" cy="6931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16257" y="4544308"/>
            <a:ext cx="12000" cy="33672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13764" y="4691671"/>
            <a:ext cx="216987" cy="4200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32893" y="4493265"/>
            <a:ext cx="12000" cy="34846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30400" y="4643323"/>
            <a:ext cx="216987" cy="4834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49529" y="4540000"/>
            <a:ext cx="12000" cy="20664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47036" y="4643323"/>
            <a:ext cx="216987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6165" y="4452738"/>
            <a:ext cx="12000" cy="505445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63672" y="4643323"/>
            <a:ext cx="216987" cy="124275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82801" y="4612024"/>
            <a:ext cx="12000" cy="380718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80308" y="4767598"/>
            <a:ext cx="216987" cy="6957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172717" y="4837168"/>
            <a:ext cx="9816084" cy="952812"/>
          </a:xfrm>
          <a:custGeom>
            <a:avLst/>
            <a:gdLst/>
            <a:ahLst/>
            <a:cxnLst/>
            <a:rect l="l" t="t" r="r" b="b"/>
            <a:pathLst>
              <a:path w="9816084" h="952812">
                <a:moveTo>
                  <a:pt x="0" y="952812"/>
                </a:moveTo>
                <a:lnTo>
                  <a:pt x="5166360" y="540475"/>
                </a:lnTo>
                <a:lnTo>
                  <a:pt x="9816084" y="0"/>
                </a:lnTo>
              </a:path>
            </a:pathLst>
          </a:custGeom>
          <a:noFill/>
          <a:ln w="25400">
            <a:solidFill>
              <a:srgbClr val="EAD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0"/>
            <a:ext cx="12191695" cy="4023360"/>
          </a:xfrm>
          <a:prstGeom prst="rect">
            <a:avLst/>
          </a:prstGeom>
          <a:solidFill>
            <a:srgbClr val="09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1234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4AF37"/>
                </a:solidFill>
                <a:latin typeface="Calibri"/>
              </a:rPr>
              <a:t>MODULO 1   ·   FUNDAMENTOS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2960" y="16916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 i="0">
                <a:solidFill>
                  <a:srgbClr val="F4F6F9"/>
                </a:solidFill>
                <a:latin typeface="Calibri"/>
              </a:rPr>
              <a:t>Introduccion</a:t>
            </a:r>
          </a:p>
          <a:p>
            <a:pPr algn="l">
              <a:spcAft>
                <a:spcPts val="0"/>
              </a:spcAft>
            </a:pPr>
            <a:r>
              <a:rPr sz="5800" b="1" i="0">
                <a:solidFill>
                  <a:srgbClr val="F4F6F9"/>
                </a:solidFill>
                <a:latin typeface="Calibri"/>
              </a:rPr>
              <a:t>al Trading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" y="3474720"/>
            <a:ext cx="2011680" cy="4445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909FB0"/>
                </a:solidFill>
                <a:latin typeface="Calibri"/>
              </a:rPr>
              <a:t>Clase 1   ·   Indices Sinteticos y Forex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Lo que veras hoy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880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6565392"/>
            <a:ext cx="991708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02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828800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408" y="1965960"/>
            <a:ext cx="512064" cy="512064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093623" y="2081175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128016" h="128016">
                <a:moveTo>
                  <a:pt x="64008" y="0"/>
                </a:moveTo>
                <a:lnTo>
                  <a:pt x="128016" y="128016"/>
                </a:lnTo>
                <a:lnTo>
                  <a:pt x="0" y="128016"/>
                </a:lnTo>
                <a:close/>
              </a:path>
            </a:pathLst>
          </a:cu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47241" y="2234793"/>
            <a:ext cx="128016" cy="128016"/>
          </a:xfrm>
          <a:custGeom>
            <a:avLst/>
            <a:gdLst/>
            <a:ahLst/>
            <a:cxnLst/>
            <a:rect l="l" t="t" r="r" b="b"/>
            <a:pathLst>
              <a:path w="128016" h="128016">
                <a:moveTo>
                  <a:pt x="0" y="0"/>
                </a:moveTo>
                <a:lnTo>
                  <a:pt x="128016" y="0"/>
                </a:lnTo>
                <a:lnTo>
                  <a:pt x="64008" y="128016"/>
                </a:lnTo>
                <a:close/>
              </a:path>
            </a:pathLst>
          </a:cu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1828800"/>
            <a:ext cx="42062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Que es el trading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28800"/>
            <a:ext cx="51206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Concepto, mentalidad y como se gana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24912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8408" y="2862072"/>
            <a:ext cx="512064" cy="512064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93623" y="2977287"/>
            <a:ext cx="281635" cy="281635"/>
          </a:xfrm>
          <a:prstGeom prst="ellipse">
            <a:avLst/>
          </a:prstGeom>
          <a:noFill/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29320" y="2977287"/>
            <a:ext cx="10241" cy="28163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93623" y="3112984"/>
            <a:ext cx="281635" cy="10241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2724912"/>
            <a:ext cx="42062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Los dos mercados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24912"/>
            <a:ext cx="51206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Indices sinteticos y Forex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621024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78408" y="3758184"/>
            <a:ext cx="512064" cy="512064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6424" y="4039820"/>
            <a:ext cx="56327" cy="10241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08836" y="3963010"/>
            <a:ext cx="56327" cy="17922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11248" y="3886200"/>
            <a:ext cx="56327" cy="25603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83080" y="3621024"/>
            <a:ext cx="42062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Que mueve cada mercado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621024"/>
            <a:ext cx="51206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Algoritmo vs. economia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517136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8408" y="4654296"/>
            <a:ext cx="512064" cy="512064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06424" y="4884725"/>
            <a:ext cx="256032" cy="15361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093623" y="4769511"/>
            <a:ext cx="281635" cy="128016"/>
          </a:xfrm>
          <a:custGeom>
            <a:avLst/>
            <a:gdLst/>
            <a:ahLst/>
            <a:cxnLst/>
            <a:rect l="l" t="t" r="r" b="b"/>
            <a:pathLst>
              <a:path w="281635" h="128016">
                <a:moveTo>
                  <a:pt x="140817" y="0"/>
                </a:moveTo>
                <a:lnTo>
                  <a:pt x="281635" y="128016"/>
                </a:lnTo>
                <a:lnTo>
                  <a:pt x="0" y="128016"/>
                </a:lnTo>
                <a:close/>
              </a:path>
            </a:pathLst>
          </a:cu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62752" y="4923129"/>
            <a:ext cx="30723" cy="115214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75405" y="4923129"/>
            <a:ext cx="30723" cy="115214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83080" y="4517136"/>
            <a:ext cx="42062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Herramientas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517136"/>
            <a:ext cx="51206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El broker y la plataforma MT5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413248"/>
            <a:ext cx="10835640" cy="78638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78408" y="5550408"/>
            <a:ext cx="512064" cy="512064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26907" y="5665623"/>
            <a:ext cx="215066" cy="215066"/>
          </a:xfrm>
          <a:prstGeom prst="ellipse">
            <a:avLst/>
          </a:prstGeom>
          <a:noFill/>
          <a:ln w="2032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88355" y="5878128"/>
            <a:ext cx="92171" cy="56327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5413248"/>
            <a:ext cx="42062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La mente del trader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5413248"/>
            <a:ext cx="5120640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Primer vistazo a la psicologia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75120" y="18288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49440" y="276606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0" y="342900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409194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2580436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4277563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26319" y="3850574"/>
            <a:ext cx="12000" cy="46961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55510" y="3999275"/>
            <a:ext cx="153619" cy="17221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2079" y="3694038"/>
            <a:ext cx="12000" cy="42434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21270" y="3813143"/>
            <a:ext cx="153619" cy="18613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7839" y="3632750"/>
            <a:ext cx="12000" cy="427763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87030" y="3813143"/>
            <a:ext cx="153619" cy="66977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3599" y="3702304"/>
            <a:ext cx="12000" cy="46519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2790" y="3880120"/>
            <a:ext cx="153619" cy="10956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89359" y="3726332"/>
            <a:ext cx="12000" cy="69537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18550" y="3989682"/>
            <a:ext cx="153619" cy="16867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5119" y="3674222"/>
            <a:ext cx="12000" cy="62913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4310" y="3819220"/>
            <a:ext cx="153619" cy="33913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0879" y="3625910"/>
            <a:ext cx="12000" cy="52995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50070" y="3819220"/>
            <a:ext cx="153619" cy="14333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6639" y="3782718"/>
            <a:ext cx="12000" cy="54019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15830" y="3962559"/>
            <a:ext cx="153619" cy="18051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2399" y="3619469"/>
            <a:ext cx="12000" cy="74651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81590" y="3842380"/>
            <a:ext cx="153619" cy="30068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418159" y="3686233"/>
            <a:ext cx="12000" cy="385753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47350" y="3842380"/>
            <a:ext cx="153619" cy="7345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3919" y="3454825"/>
            <a:ext cx="12000" cy="62882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13110" y="3622631"/>
            <a:ext cx="153619" cy="29320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49679" y="3375851"/>
            <a:ext cx="12000" cy="665435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78870" y="3622631"/>
            <a:ext cx="153619" cy="171875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7132319" y="3794506"/>
            <a:ext cx="4023360" cy="376986"/>
          </a:xfrm>
          <a:custGeom>
            <a:avLst/>
            <a:gdLst/>
            <a:ahLst/>
            <a:cxnLst/>
            <a:rect l="l" t="t" r="r" b="b"/>
            <a:pathLst>
              <a:path w="4023360" h="376986">
                <a:moveTo>
                  <a:pt x="0" y="376986"/>
                </a:moveTo>
                <a:lnTo>
                  <a:pt x="2194560" y="168053"/>
                </a:lnTo>
                <a:lnTo>
                  <a:pt x="4023360" y="0"/>
                </a:lnTo>
              </a:path>
            </a:pathLst>
          </a:custGeom>
          <a:noFill/>
          <a:ln w="25400">
            <a:solidFill>
              <a:srgbClr val="EAD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9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1920240"/>
            <a:ext cx="5943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0" b="1" i="0">
                <a:solidFill>
                  <a:srgbClr val="2A4460"/>
                </a:solidFill>
                <a:latin typeface="Calibri"/>
              </a:rPr>
              <a:t>01</a:t>
            </a:r>
          </a:p>
        </p:txBody>
      </p:sp>
      <p:sp>
        <p:nvSpPr>
          <p:cNvPr id="37" name="Oval 36"/>
          <p:cNvSpPr/>
          <p:nvPr/>
        </p:nvSpPr>
        <p:spPr>
          <a:xfrm>
            <a:off x="731520" y="3246120"/>
            <a:ext cx="822960" cy="822960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916686" y="3431286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102870" y="0"/>
                </a:moveTo>
                <a:lnTo>
                  <a:pt x="205740" y="205740"/>
                </a:lnTo>
                <a:lnTo>
                  <a:pt x="0" y="205740"/>
                </a:lnTo>
                <a:close/>
              </a:path>
            </a:pathLst>
          </a:cu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163574" y="3678174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102870" y="205740"/>
                </a:lnTo>
                <a:close/>
              </a:path>
            </a:pathLst>
          </a:cu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83080" y="33101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4AF37"/>
                </a:solidFill>
                <a:latin typeface="Calibri"/>
              </a:rPr>
              <a:t>PARTE 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361188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4F6F9"/>
                </a:solidFill>
                <a:latin typeface="Calibri"/>
              </a:rPr>
              <a:t>Que es el Trading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709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909FB0"/>
                </a:solidFill>
                <a:latin typeface="Calibri"/>
              </a:rPr>
              <a:t>El concepto y la mentalidad correcta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565392"/>
            <a:ext cx="1487562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03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779069" y="870509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64592" h="164592">
                <a:moveTo>
                  <a:pt x="82296" y="0"/>
                </a:moveTo>
                <a:lnTo>
                  <a:pt x="164592" y="164592"/>
                </a:lnTo>
                <a:lnTo>
                  <a:pt x="0" y="164592"/>
                </a:lnTo>
                <a:close/>
              </a:path>
            </a:pathLst>
          </a:cu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6579" y="1068019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64592" h="164592">
                <a:moveTo>
                  <a:pt x="0" y="0"/>
                </a:moveTo>
                <a:lnTo>
                  <a:pt x="164592" y="0"/>
                </a:lnTo>
                <a:lnTo>
                  <a:pt x="82296" y="164592"/>
                </a:lnTo>
                <a:close/>
              </a:path>
            </a:pathLst>
          </a:cu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01 · CONCEPTO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Que es el Trading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983416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04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74519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0" i="0">
                <a:solidFill>
                  <a:srgbClr val="F4F6F9"/>
                </a:solidFill>
                <a:latin typeface="Calibri"/>
              </a:rPr>
              <a:t>Comprar y vender activos para ganar con los </a:t>
            </a:r>
            <a:r>
              <a:rPr sz="2200" b="1" i="0">
                <a:solidFill>
                  <a:srgbClr val="D4AF37"/>
                </a:solidFill>
                <a:latin typeface="Calibri"/>
              </a:rPr>
              <a:t>movimientos de precio.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832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20" y="3703320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404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Sube y baja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El precio se mueve constante; ahi esta la oportunidad.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33832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54296" y="3703320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4296" y="38404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Apalancamiento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4296" y="4434840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Amplifica los movimientos: para bien y para mal.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4152" y="33832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48472" y="3703320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8472" y="38404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Probabilidades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4434840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No se adivina; se analizan escenarios probables.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1863" y="870509"/>
            <a:ext cx="276514" cy="276514"/>
          </a:xfrm>
          <a:prstGeom prst="ellipse">
            <a:avLst/>
          </a:prstGeom>
          <a:noFill/>
          <a:ln w="2032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00867" y="1143731"/>
            <a:ext cx="118506" cy="724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01 · MENTALIDAD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Lo primero que debes entender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2479270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05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011680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011680"/>
            <a:ext cx="63500" cy="1143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011680"/>
            <a:ext cx="40233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es adivinar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011680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4F6F9"/>
                </a:solidFill>
                <a:latin typeface="Calibri"/>
              </a:rPr>
              <a:t>Es analizar probabilidades, no leer el futuro.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383280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383280"/>
            <a:ext cx="63500" cy="1143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383280"/>
            <a:ext cx="40233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es hacerse rico rapido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383280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4F6F9"/>
                </a:solidFill>
                <a:latin typeface="Calibri"/>
              </a:rPr>
              <a:t>Es un negocio con riesgo real.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754880"/>
            <a:ext cx="10835640" cy="1143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754880"/>
            <a:ext cx="63500" cy="1143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754880"/>
            <a:ext cx="402336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El control esta en 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754880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F4F6F9"/>
                </a:solidFill>
                <a:latin typeface="Calibri"/>
              </a:rPr>
              <a:t>No controlas el mercado, si tu gestion del riesgo.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779069" y="870509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64592" h="164592">
                <a:moveTo>
                  <a:pt x="82296" y="0"/>
                </a:moveTo>
                <a:lnTo>
                  <a:pt x="164592" y="164592"/>
                </a:lnTo>
                <a:lnTo>
                  <a:pt x="0" y="164592"/>
                </a:lnTo>
                <a:close/>
              </a:path>
            </a:pathLst>
          </a:cu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6579" y="1068019"/>
            <a:ext cx="164592" cy="164592"/>
          </a:xfrm>
          <a:custGeom>
            <a:avLst/>
            <a:gdLst/>
            <a:ahLst/>
            <a:cxnLst/>
            <a:rect l="l" t="t" r="r" b="b"/>
            <a:pathLst>
              <a:path w="164592" h="164592">
                <a:moveTo>
                  <a:pt x="0" y="0"/>
                </a:moveTo>
                <a:lnTo>
                  <a:pt x="164592" y="0"/>
                </a:lnTo>
                <a:lnTo>
                  <a:pt x="82296" y="164592"/>
                </a:lnTo>
                <a:close/>
              </a:path>
            </a:pathLst>
          </a:cu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01 · EN LA PRACTICA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Como se gana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2975125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06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5074920" cy="420624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75120" y="3017520"/>
            <a:ext cx="452628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931920"/>
            <a:ext cx="452628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0" y="4846320"/>
            <a:ext cx="452628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2761488"/>
            <a:ext cx="452628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5102352"/>
            <a:ext cx="452628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30772" y="4364801"/>
            <a:ext cx="12000" cy="80063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68878" y="4574188"/>
            <a:ext cx="135788" cy="38186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54078" y="4018295"/>
            <a:ext cx="12000" cy="71753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92184" y="4179933"/>
            <a:ext cx="135788" cy="39425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77384" y="3988138"/>
            <a:ext cx="12000" cy="49845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15490" y="4179933"/>
            <a:ext cx="135788" cy="11486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00690" y="3974901"/>
            <a:ext cx="12000" cy="58075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38796" y="4235760"/>
            <a:ext cx="135788" cy="5903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3995" y="3573384"/>
            <a:ext cx="12000" cy="99606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62101" y="3907076"/>
            <a:ext cx="135788" cy="32868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47301" y="3223594"/>
            <a:ext cx="12000" cy="99459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85407" y="3534709"/>
            <a:ext cx="135788" cy="37236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70607" y="2897734"/>
            <a:ext cx="12000" cy="89100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708713" y="3151764"/>
            <a:ext cx="135788" cy="38294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93912" y="2623926"/>
            <a:ext cx="12000" cy="74321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32018" y="2839306"/>
            <a:ext cx="135788" cy="31245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7218" y="2487303"/>
            <a:ext cx="12000" cy="946088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55324" y="2839306"/>
            <a:ext cx="135788" cy="24208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40524" y="2462846"/>
            <a:ext cx="12000" cy="99139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78630" y="2835703"/>
            <a:ext cx="135788" cy="24568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3829" y="2294782"/>
            <a:ext cx="12000" cy="78817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01935" y="2542032"/>
            <a:ext cx="135788" cy="29367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87135" y="2231398"/>
            <a:ext cx="12000" cy="778088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25241" y="2542032"/>
            <a:ext cx="135788" cy="15682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710441" y="2142436"/>
            <a:ext cx="12000" cy="95601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648547" y="2542032"/>
            <a:ext cx="135788" cy="15682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33747" y="2329601"/>
            <a:ext cx="12000" cy="42486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971853" y="2542032"/>
            <a:ext cx="135788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6836772" y="2542032"/>
            <a:ext cx="4202975" cy="2414016"/>
          </a:xfrm>
          <a:custGeom>
            <a:avLst/>
            <a:gdLst/>
            <a:ahLst/>
            <a:cxnLst/>
            <a:rect l="l" t="t" r="r" b="b"/>
            <a:pathLst>
              <a:path w="4202975" h="2414016">
                <a:moveTo>
                  <a:pt x="0" y="2414016"/>
                </a:moveTo>
                <a:lnTo>
                  <a:pt x="2263140" y="609732"/>
                </a:lnTo>
                <a:lnTo>
                  <a:pt x="4202975" y="0"/>
                </a:lnTo>
              </a:path>
            </a:pathLst>
          </a:custGeom>
          <a:noFill/>
          <a:ln w="25400">
            <a:solidFill>
              <a:srgbClr val="EAD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4F6F9"/>
                </a:solidFill>
                <a:latin typeface="Calibri"/>
              </a:rPr>
              <a:t>•  Compro abajo y sube  →  </a:t>
            </a:r>
            <a:r>
              <a:rPr sz="1800" b="1" i="0">
                <a:solidFill>
                  <a:srgbClr val="24C284"/>
                </a:solidFill>
                <a:latin typeface="Calibri"/>
              </a:rPr>
              <a:t>ganas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9718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4F6F9"/>
                </a:solidFill>
                <a:latin typeface="Calibri"/>
              </a:rPr>
              <a:t>•  Compro y baja  →  </a:t>
            </a:r>
            <a:r>
              <a:rPr sz="1800" b="1" i="0">
                <a:solidFill>
                  <a:srgbClr val="E0555E"/>
                </a:solidFill>
                <a:latin typeface="Calibri"/>
              </a:rPr>
              <a:t>pierdes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37490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4F6F9"/>
                </a:solidFill>
                <a:latin typeface="Calibri"/>
              </a:rPr>
              <a:t>•  Vendo arriba y baja  →  </a:t>
            </a:r>
            <a:r>
              <a:rPr sz="1800" b="1" i="0">
                <a:solidFill>
                  <a:srgbClr val="24C284"/>
                </a:solidFill>
                <a:latin typeface="Calibri"/>
              </a:rPr>
              <a:t>ganas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4754880"/>
            <a:ext cx="5212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4F6F9"/>
                </a:solidFill>
                <a:latin typeface="Calibri"/>
              </a:rPr>
              <a:t>Simple en concepto,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D4AF37"/>
                </a:solidFill>
                <a:latin typeface="Calibri"/>
              </a:rPr>
              <a:t>con mucha estrategia detras.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75120" y="18288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49440" y="276606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0" y="342900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409194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2580436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4277563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26319" y="4004360"/>
            <a:ext cx="12000" cy="404637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55510" y="4171492"/>
            <a:ext cx="153619" cy="70373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2079" y="3939902"/>
            <a:ext cx="12000" cy="42165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21270" y="4059596"/>
            <a:ext cx="153619" cy="18226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7839" y="3553725"/>
            <a:ext cx="12000" cy="72011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87030" y="3767964"/>
            <a:ext cx="153619" cy="29163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3599" y="3339739"/>
            <a:ext cx="12000" cy="64590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2790" y="3557421"/>
            <a:ext cx="153619" cy="21054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89359" y="3224934"/>
            <a:ext cx="12000" cy="52268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18550" y="3415130"/>
            <a:ext cx="153619" cy="14229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5119" y="3219270"/>
            <a:ext cx="12000" cy="56097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4310" y="3415130"/>
            <a:ext cx="153619" cy="16925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0879" y="3282766"/>
            <a:ext cx="12000" cy="56853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50070" y="3549683"/>
            <a:ext cx="153619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6639" y="3172540"/>
            <a:ext cx="12000" cy="51182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15830" y="3307221"/>
            <a:ext cx="153619" cy="24246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2399" y="3049348"/>
            <a:ext cx="12000" cy="658105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81590" y="3307221"/>
            <a:ext cx="153619" cy="14235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418159" y="3101176"/>
            <a:ext cx="12000" cy="48970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47350" y="3242477"/>
            <a:ext cx="153619" cy="20710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3919" y="2961846"/>
            <a:ext cx="12000" cy="61399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13110" y="3242477"/>
            <a:ext cx="153619" cy="5273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49679" y="2777607"/>
            <a:ext cx="12000" cy="80003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78870" y="3060044"/>
            <a:ext cx="153619" cy="23516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7132319" y="3295207"/>
            <a:ext cx="4023360" cy="946658"/>
          </a:xfrm>
          <a:custGeom>
            <a:avLst/>
            <a:gdLst/>
            <a:ahLst/>
            <a:cxnLst/>
            <a:rect l="l" t="t" r="r" b="b"/>
            <a:pathLst>
              <a:path w="4023360" h="946658">
                <a:moveTo>
                  <a:pt x="0" y="946658"/>
                </a:moveTo>
                <a:lnTo>
                  <a:pt x="2194560" y="289177"/>
                </a:lnTo>
                <a:lnTo>
                  <a:pt x="4023360" y="0"/>
                </a:lnTo>
              </a:path>
            </a:pathLst>
          </a:custGeom>
          <a:noFill/>
          <a:ln w="25400">
            <a:solidFill>
              <a:srgbClr val="EAD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9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1920240"/>
            <a:ext cx="5943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0" b="1" i="0">
                <a:solidFill>
                  <a:srgbClr val="2A4460"/>
                </a:solidFill>
                <a:latin typeface="Calibri"/>
              </a:rPr>
              <a:t>02</a:t>
            </a:r>
          </a:p>
        </p:txBody>
      </p:sp>
      <p:sp>
        <p:nvSpPr>
          <p:cNvPr id="37" name="Oval 36"/>
          <p:cNvSpPr/>
          <p:nvPr/>
        </p:nvSpPr>
        <p:spPr>
          <a:xfrm>
            <a:off x="731520" y="3246120"/>
            <a:ext cx="822960" cy="822960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16686" y="3431286"/>
            <a:ext cx="452628" cy="452628"/>
          </a:xfrm>
          <a:prstGeom prst="ellipse">
            <a:avLst/>
          </a:prstGeom>
          <a:noFill/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34771" y="3431286"/>
            <a:ext cx="16459" cy="45262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6686" y="3649371"/>
            <a:ext cx="452628" cy="1645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83080" y="33101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4AF37"/>
                </a:solidFill>
                <a:latin typeface="Calibri"/>
              </a:rPr>
              <a:t>PARTE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361188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4F6F9"/>
                </a:solidFill>
                <a:latin typeface="Calibri"/>
              </a:rPr>
              <a:t>Los Mercados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4709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909FB0"/>
                </a:solidFill>
                <a:latin typeface="Calibri"/>
              </a:rPr>
              <a:t>Sinteticos y Forex: parecidos y diferencias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6565392"/>
            <a:ext cx="3470979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07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9069" y="870509"/>
            <a:ext cx="362102" cy="362102"/>
          </a:xfrm>
          <a:prstGeom prst="ellipse">
            <a:avLst/>
          </a:prstGeom>
          <a:noFill/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3537" y="870509"/>
            <a:ext cx="13167" cy="36210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9069" y="1044977"/>
            <a:ext cx="362102" cy="13167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PANORAMA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Los dos mercados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3966833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08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82880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9050">
            <a:solidFill>
              <a:srgbClr val="24C284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1B324B"/>
          </a:solidFill>
          <a:ln w="1905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2404872"/>
            <a:ext cx="60350" cy="10972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" y="2322576"/>
            <a:ext cx="60350" cy="19202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9576" y="2240280"/>
            <a:ext cx="60350" cy="27432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210312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24C284"/>
                </a:solidFill>
                <a:latin typeface="Calibri"/>
              </a:rPr>
              <a:t>Indices Sinteticos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9718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4C284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Mercado algoritmico (Deriv)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648456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4C284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Operan 24/7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325112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4C284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NO dependen de noticias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01768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4C284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Volatilidad constante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82880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9050">
            <a:solidFill>
              <a:srgbClr val="D4AF37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36792" y="2103120"/>
            <a:ext cx="548640" cy="548640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60236" y="2226564"/>
            <a:ext cx="301752" cy="301752"/>
          </a:xfrm>
          <a:prstGeom prst="ellipse">
            <a:avLst/>
          </a:prstGeom>
          <a:noFill/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5626" y="2226564"/>
            <a:ext cx="10972" cy="30175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0236" y="2371954"/>
            <a:ext cx="301752" cy="1097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68312" y="210312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D4AF37"/>
                </a:solidFill>
                <a:latin typeface="Calibri"/>
              </a:rPr>
              <a:t>Forex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29718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4AF3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Mercado real de divisas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3648456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4AF3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Opera 24h, lunes a viernes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9672" y="4325112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4AF3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SI depende de noticias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5001768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4AF37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F4F6F9"/>
                </a:solidFill>
                <a:latin typeface="Calibri"/>
              </a:rPr>
              <a:t>Lo mueven los grandes bancos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8" y="1084479"/>
            <a:ext cx="72420" cy="131673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7201" y="985724"/>
            <a:ext cx="72420" cy="23042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8874" y="886968"/>
            <a:ext cx="72420" cy="32918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SINTETICOS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Indices Sinteticos: que 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4462687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09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40"/>
            <a:ext cx="10789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i="0">
                <a:solidFill>
                  <a:srgbClr val="F4F6F9"/>
                </a:solidFill>
                <a:latin typeface="Calibri"/>
              </a:rPr>
              <a:t>Activos virtuales que imitan al mercado real, pero su movimiento lo genera un </a:t>
            </a:r>
            <a:r>
              <a:rPr sz="2000" b="1" i="0">
                <a:solidFill>
                  <a:srgbClr val="D4AF37"/>
                </a:solidFill>
                <a:latin typeface="Calibri"/>
              </a:rPr>
              <a:t>algoritmo matematico</a:t>
            </a:r>
            <a:r>
              <a:rPr sz="2000" b="0" i="0">
                <a:solidFill>
                  <a:srgbClr val="F4F6F9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57600"/>
            <a:ext cx="3429000" cy="219456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3950208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148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4F6F9"/>
                </a:solidFill>
                <a:latin typeface="Calibri"/>
              </a:rPr>
              <a:t>Creados por Deriv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70916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Broker especializado en este mercado.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9976" y="3657600"/>
            <a:ext cx="3429000" cy="219456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54296" y="3950208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4296" y="41148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4F6F9"/>
                </a:solidFill>
                <a:latin typeface="Calibri"/>
              </a:rPr>
              <a:t>Sin sorpresas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4296" y="470916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Ningun banco ni gobierno mueve el precio.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3657600"/>
            <a:ext cx="3429000" cy="219456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48472" y="3950208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411480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4F6F9"/>
                </a:solidFill>
                <a:latin typeface="Calibri"/>
              </a:rPr>
              <a:t>Tecnicos y estables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2" y="4709160"/>
            <a:ext cx="2926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909FB0"/>
                </a:solidFill>
                <a:latin typeface="Calibri"/>
              </a:rPr>
              <a:t>Ideales para practicar lectura de grafico.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8" y="1084479"/>
            <a:ext cx="72420" cy="131673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7201" y="985724"/>
            <a:ext cx="72420" cy="23042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8874" y="886968"/>
            <a:ext cx="72420" cy="32918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SINTETICOS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Tipos de Indices Sinteticos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4958541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10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828800"/>
            <a:ext cx="5303520" cy="1874519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828800"/>
            <a:ext cx="63500" cy="187451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0574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D4AF37"/>
                </a:solidFill>
                <a:latin typeface="Calibri"/>
              </a:rPr>
              <a:t>Volatility (V10-V100)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A mayor numero, mas rapido y violento.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828800"/>
            <a:ext cx="5303520" cy="1874519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1828800"/>
            <a:ext cx="63500" cy="187451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205740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4C284"/>
                </a:solidFill>
                <a:latin typeface="Calibri"/>
              </a:rPr>
              <a:t>Boom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697480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El precio explota HACIA ARRIBA (spike alcista).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977639"/>
            <a:ext cx="5303520" cy="1874519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977639"/>
            <a:ext cx="63500" cy="187451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206239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0555E"/>
                </a:solidFill>
                <a:latin typeface="Calibri"/>
              </a:rPr>
              <a:t>Crash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46319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El precio se desploma HACIA ABAJO (spike bajista).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3977639"/>
            <a:ext cx="5303520" cy="1874519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977639"/>
            <a:ext cx="63500" cy="187451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4206239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D4AF37"/>
                </a:solidFill>
                <a:latin typeface="Calibri"/>
              </a:rPr>
              <a:t>Step / Jump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846319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Step: suave y constante. Jump: saltos.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8" y="1084479"/>
            <a:ext cx="72420" cy="131673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27201" y="985724"/>
            <a:ext cx="72420" cy="23042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8874" y="886968"/>
            <a:ext cx="72420" cy="32918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SINTETICOS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Que mueve a los Sinteticos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5454396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11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920240"/>
            <a:ext cx="10835640" cy="18288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9050">
            <a:solidFill>
              <a:srgbClr val="D4AF37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192024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4F6F9"/>
                </a:solidFill>
                <a:latin typeface="Calibri"/>
              </a:rPr>
              <a:t>Lo CONSTANTE es la volatilidad,  </a:t>
            </a:r>
            <a:r>
              <a:rPr sz="2400" b="1" i="0">
                <a:solidFill>
                  <a:srgbClr val="D4AF37"/>
                </a:solidFill>
                <a:latin typeface="Calibri"/>
              </a:rPr>
              <a:t>NO la direccion.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 i="0">
                <a:solidFill>
                  <a:srgbClr val="909FB0"/>
                </a:solidFill>
                <a:latin typeface="Calibri"/>
              </a:rPr>
              <a:t>El precio sigue siendo aleatorio: analizamos </a:t>
            </a:r>
            <a:r>
              <a:rPr sz="1800" b="1" i="0">
                <a:solidFill>
                  <a:srgbClr val="F4F6F9"/>
                </a:solidFill>
                <a:latin typeface="Calibri"/>
              </a:rPr>
              <a:t>estructura y probabilidades</a:t>
            </a:r>
            <a:r>
              <a:rPr sz="1800" b="0" i="0">
                <a:solidFill>
                  <a:srgbClr val="909FB0"/>
                </a:solidFill>
                <a:latin typeface="Calibri"/>
              </a:rPr>
              <a:t>, no certezas. Es un sistema matematico estable y tecnico.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9069" y="870509"/>
            <a:ext cx="362102" cy="362102"/>
          </a:xfrm>
          <a:prstGeom prst="ellipse">
            <a:avLst/>
          </a:prstGeom>
          <a:noFill/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3537" y="870509"/>
            <a:ext cx="13167" cy="36210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9069" y="1044977"/>
            <a:ext cx="362102" cy="13167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FOREX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Forex: el mercado de divisas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5950250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12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0240"/>
            <a:ext cx="107899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i="0">
                <a:solidFill>
                  <a:srgbClr val="F4F6F9"/>
                </a:solidFill>
                <a:latin typeface="Calibri"/>
              </a:rPr>
              <a:t>El mercado global donde se intercambian monedas: compras una y </a:t>
            </a:r>
            <a:r>
              <a:rPr sz="2000" b="1" i="0">
                <a:solidFill>
                  <a:srgbClr val="D4AF37"/>
                </a:solidFill>
                <a:latin typeface="Calibri"/>
              </a:rPr>
              <a:t>vendes otra al mismo tiempo.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74720"/>
            <a:ext cx="3429000" cy="210312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84048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D4AF37"/>
                </a:solidFill>
                <a:latin typeface="Calibri"/>
              </a:rPr>
              <a:t>+6 billones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0916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USD movidos al 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3474720"/>
            <a:ext cx="3429000" cy="210312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384048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D4AF37"/>
                </a:solidFill>
                <a:latin typeface="Calibri"/>
              </a:rPr>
              <a:t>24 horas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9976" y="470916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de lunes a viernes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3474720"/>
            <a:ext cx="3429000" cy="210312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4152" y="3840480"/>
            <a:ext cx="3429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D4AF37"/>
                </a:solidFill>
                <a:latin typeface="Calibri"/>
              </a:rPr>
              <a:t>3 sesiones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4709160"/>
            <a:ext cx="3429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Asia, Londres, 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9069" y="870509"/>
            <a:ext cx="362102" cy="362102"/>
          </a:xfrm>
          <a:prstGeom prst="ellipse">
            <a:avLst/>
          </a:prstGeom>
          <a:noFill/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3537" y="870509"/>
            <a:ext cx="13167" cy="36210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9069" y="1044977"/>
            <a:ext cx="362102" cy="13167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FOREX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Los Pares de Divisas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6446104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13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874519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1B324B"/>
          </a:solidFill>
          <a:ln w="15240">
            <a:solidFill>
              <a:srgbClr val="D4AF37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1874519"/>
            <a:ext cx="100584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4F6F9"/>
                </a:solidFill>
                <a:latin typeface="Calibri"/>
              </a:rPr>
              <a:t>EUR/USD = 1.0850</a:t>
            </a:r>
            <a:r>
              <a:rPr sz="1800" b="0" i="0">
                <a:solidFill>
                  <a:srgbClr val="909FB0"/>
                </a:solidFill>
                <a:latin typeface="Calibri"/>
              </a:rPr>
              <a:t>    →  1 euro = 1.0850 dolares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576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4F6F9"/>
                </a:solidFill>
                <a:latin typeface="Calibri"/>
              </a:rPr>
              <a:t>Si SUBE  →  </a:t>
            </a:r>
            <a:r>
              <a:rPr sz="1800" b="1" i="0">
                <a:solidFill>
                  <a:srgbClr val="24C284"/>
                </a:solidFill>
                <a:latin typeface="Calibri"/>
              </a:rPr>
              <a:t>el euro se fortalece frente al dolar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F4F6F9"/>
                </a:solidFill>
                <a:latin typeface="Calibri"/>
              </a:rPr>
              <a:t>Si BAJA  →  </a:t>
            </a:r>
            <a:r>
              <a:rPr sz="1800" b="1" i="0">
                <a:solidFill>
                  <a:srgbClr val="E0555E"/>
                </a:solidFill>
                <a:latin typeface="Calibri"/>
              </a:rPr>
              <a:t>el dolar se fortalece frente al euro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8" y="1018642"/>
            <a:ext cx="329184" cy="19751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79069" y="870509"/>
            <a:ext cx="362102" cy="164592"/>
          </a:xfrm>
          <a:custGeom>
            <a:avLst/>
            <a:gdLst/>
            <a:ahLst/>
            <a:cxnLst/>
            <a:rect l="l" t="t" r="r" b="b"/>
            <a:pathLst>
              <a:path w="362102" h="164592">
                <a:moveTo>
                  <a:pt x="181051" y="0"/>
                </a:moveTo>
                <a:lnTo>
                  <a:pt x="362102" y="164592"/>
                </a:lnTo>
                <a:lnTo>
                  <a:pt x="0" y="164592"/>
                </a:lnTo>
                <a:close/>
              </a:path>
            </a:pathLst>
          </a:cu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7949" y="1068019"/>
            <a:ext cx="39502" cy="148132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2789" y="1068019"/>
            <a:ext cx="39502" cy="148132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FOREX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Que mueve al mercado Forex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6565392"/>
            <a:ext cx="6941958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14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1874519"/>
            <a:ext cx="10835640" cy="96926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874519"/>
            <a:ext cx="63500" cy="9692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1874519"/>
            <a:ext cx="420624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4AF37"/>
                </a:solidFill>
                <a:latin typeface="Calibri"/>
              </a:rPr>
              <a:t>Los grandes actores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1874519"/>
            <a:ext cx="585216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Bancos, gobiernos, fondos y empresas mueven el volumen.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971799"/>
            <a:ext cx="10835640" cy="96926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71799"/>
            <a:ext cx="63500" cy="9692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2971799"/>
            <a:ext cx="420624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4AF37"/>
                </a:solidFill>
                <a:latin typeface="Calibri"/>
              </a:rPr>
              <a:t>Tasas e instituciones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971799"/>
            <a:ext cx="585216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Bancos centrales (FED, BCE) marcan tendencia.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069079"/>
            <a:ext cx="10835640" cy="96926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069079"/>
            <a:ext cx="63500" cy="9692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79"/>
            <a:ext cx="420624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4AF37"/>
                </a:solidFill>
                <a:latin typeface="Calibri"/>
              </a:rPr>
              <a:t>Noticias de alto impacto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069079"/>
            <a:ext cx="585216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NFP, CPI y reuniones FOMC generan volatilidad.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166359"/>
            <a:ext cx="10835640" cy="969264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5166359"/>
            <a:ext cx="63500" cy="9692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166359"/>
            <a:ext cx="420624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D4AF37"/>
                </a:solidFill>
                <a:latin typeface="Calibri"/>
              </a:rPr>
              <a:t>Seguimos la huella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5166359"/>
            <a:ext cx="5852160" cy="9692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F4F6F9"/>
                </a:solidFill>
                <a:latin typeface="Calibri"/>
              </a:rPr>
              <a:t>No movemos el precio: aprovechamos su movimiento.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9069" y="870509"/>
            <a:ext cx="362102" cy="362102"/>
          </a:xfrm>
          <a:prstGeom prst="ellipse">
            <a:avLst/>
          </a:prstGeom>
          <a:noFill/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3537" y="870509"/>
            <a:ext cx="13167" cy="362102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9069" y="1044977"/>
            <a:ext cx="362102" cy="13167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02 · SINTESIS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Sinteticos vs. Forex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7437812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15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17830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C284"/>
                </a:solidFill>
                <a:latin typeface="Calibri"/>
              </a:rPr>
              <a:t>SINTETICOS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7830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D4AF37"/>
                </a:solidFill>
                <a:latin typeface="Calibri"/>
              </a:rPr>
              <a:t>FOREX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240280"/>
            <a:ext cx="32918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09FB0"/>
                </a:solidFill>
                <a:latin typeface="Calibri"/>
              </a:rPr>
              <a:t>Que lo mueve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224028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224028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Algoritmo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24028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224028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Economia / bancos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063240"/>
            <a:ext cx="32918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09FB0"/>
                </a:solidFill>
                <a:latin typeface="Calibri"/>
              </a:rPr>
              <a:t>Horario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06324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306324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24 /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306324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306324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24h  L-V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86200"/>
            <a:ext cx="32918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09FB0"/>
                </a:solidFill>
                <a:latin typeface="Calibri"/>
              </a:rPr>
              <a:t>Noticias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0520" y="388620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60520" y="388620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No afectan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88620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0" y="388620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Afectan mucho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09160"/>
            <a:ext cx="32918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09FB0"/>
                </a:solidFill>
                <a:latin typeface="Calibri"/>
              </a:rPr>
              <a:t>Volatilidad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60520" y="470916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0520" y="470916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Constante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470916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0" y="470916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Variable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32120"/>
            <a:ext cx="32918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09FB0"/>
                </a:solidFill>
                <a:latin typeface="Calibri"/>
              </a:rPr>
              <a:t>Plataforma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60520" y="553212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553212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Deriv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63840" y="5532120"/>
            <a:ext cx="3566160" cy="676656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5532120"/>
            <a:ext cx="35661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4F6F9"/>
                </a:solidFill>
                <a:latin typeface="Calibri"/>
              </a:rPr>
              <a:t>MT5 / TradingView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75120" y="18288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49440" y="276606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0" y="342900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409194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2580436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4277563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26319" y="3953392"/>
            <a:ext cx="12000" cy="564646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55510" y="4171492"/>
            <a:ext cx="153619" cy="128446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2079" y="4058689"/>
            <a:ext cx="12000" cy="36659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21270" y="4184034"/>
            <a:ext cx="153619" cy="11590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7839" y="3580365"/>
            <a:ext cx="12000" cy="88843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87030" y="3865131"/>
            <a:ext cx="153619" cy="31890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3599" y="3415289"/>
            <a:ext cx="12000" cy="68669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2790" y="3652145"/>
            <a:ext cx="153619" cy="21298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89359" y="3190040"/>
            <a:ext cx="12000" cy="72107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18550" y="3449011"/>
            <a:ext cx="153619" cy="20313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5119" y="3265385"/>
            <a:ext cx="12000" cy="34416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4310" y="3425923"/>
            <a:ext cx="153619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0879" y="2939755"/>
            <a:ext cx="12000" cy="72595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50070" y="3179539"/>
            <a:ext cx="153619" cy="24638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6639" y="2728123"/>
            <a:ext cx="12000" cy="59988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15830" y="2876589"/>
            <a:ext cx="153619" cy="30295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2399" y="2569530"/>
            <a:ext cx="12000" cy="57135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81590" y="2833825"/>
            <a:ext cx="153619" cy="4276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418159" y="2662111"/>
            <a:ext cx="12000" cy="32979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47350" y="2820196"/>
            <a:ext cx="153619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3919" y="2676263"/>
            <a:ext cx="12000" cy="434965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13110" y="2820196"/>
            <a:ext cx="153619" cy="147099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49679" y="2480621"/>
            <a:ext cx="12000" cy="64271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78870" y="2636660"/>
            <a:ext cx="153619" cy="33063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7132319" y="2967295"/>
            <a:ext cx="4023360" cy="1332643"/>
          </a:xfrm>
          <a:custGeom>
            <a:avLst/>
            <a:gdLst/>
            <a:ahLst/>
            <a:cxnLst/>
            <a:rect l="l" t="t" r="r" b="b"/>
            <a:pathLst>
              <a:path w="4023360" h="1332643">
                <a:moveTo>
                  <a:pt x="0" y="1332643"/>
                </a:moveTo>
                <a:lnTo>
                  <a:pt x="2194560" y="458628"/>
                </a:lnTo>
                <a:lnTo>
                  <a:pt x="4023360" y="0"/>
                </a:lnTo>
              </a:path>
            </a:pathLst>
          </a:custGeom>
          <a:noFill/>
          <a:ln w="25400">
            <a:solidFill>
              <a:srgbClr val="EAD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9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1920240"/>
            <a:ext cx="5943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0" b="1" i="0">
                <a:solidFill>
                  <a:srgbClr val="2A4460"/>
                </a:solidFill>
                <a:latin typeface="Calibri"/>
              </a:rPr>
              <a:t>03</a:t>
            </a:r>
          </a:p>
        </p:txBody>
      </p:sp>
      <p:sp>
        <p:nvSpPr>
          <p:cNvPr id="37" name="Oval 36"/>
          <p:cNvSpPr/>
          <p:nvPr/>
        </p:nvSpPr>
        <p:spPr>
          <a:xfrm>
            <a:off x="731520" y="3246120"/>
            <a:ext cx="822960" cy="822960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7260" y="3616452"/>
            <a:ext cx="411480" cy="2468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916686" y="3431286"/>
            <a:ext cx="452628" cy="205740"/>
          </a:xfrm>
          <a:custGeom>
            <a:avLst/>
            <a:gdLst/>
            <a:ahLst/>
            <a:cxnLst/>
            <a:rect l="l" t="t" r="r" b="b"/>
            <a:pathLst>
              <a:path w="452628" h="205740">
                <a:moveTo>
                  <a:pt x="226314" y="0"/>
                </a:moveTo>
                <a:lnTo>
                  <a:pt x="452628" y="205740"/>
                </a:lnTo>
                <a:lnTo>
                  <a:pt x="0" y="205740"/>
                </a:lnTo>
                <a:close/>
              </a:path>
            </a:pathLst>
          </a:cu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27786" y="3678174"/>
            <a:ext cx="49377" cy="185166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208836" y="3678174"/>
            <a:ext cx="49377" cy="185166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83080" y="33101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4AF37"/>
                </a:solidFill>
                <a:latin typeface="Calibri"/>
              </a:rPr>
              <a:t>PARTE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61188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4F6F9"/>
                </a:solidFill>
                <a:latin typeface="Calibri"/>
              </a:rPr>
              <a:t>Las Herramientas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4709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909FB0"/>
                </a:solidFill>
                <a:latin typeface="Calibri"/>
              </a:rPr>
              <a:t>Como nos conectamos y donde operamos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6565392"/>
            <a:ext cx="7933666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16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8" y="1018642"/>
            <a:ext cx="329184" cy="19751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79069" y="870509"/>
            <a:ext cx="362102" cy="164592"/>
          </a:xfrm>
          <a:custGeom>
            <a:avLst/>
            <a:gdLst/>
            <a:ahLst/>
            <a:cxnLst/>
            <a:rect l="l" t="t" r="r" b="b"/>
            <a:pathLst>
              <a:path w="362102" h="164592">
                <a:moveTo>
                  <a:pt x="181051" y="0"/>
                </a:moveTo>
                <a:lnTo>
                  <a:pt x="362102" y="164592"/>
                </a:lnTo>
                <a:lnTo>
                  <a:pt x="0" y="164592"/>
                </a:lnTo>
                <a:close/>
              </a:path>
            </a:pathLst>
          </a:cu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7949" y="1068019"/>
            <a:ext cx="39502" cy="148132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2789" y="1068019"/>
            <a:ext cx="39502" cy="148132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03 ·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Que es un Broker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6565392"/>
            <a:ext cx="8429521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17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92024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 i="0">
                <a:solidFill>
                  <a:srgbClr val="F4F6F9"/>
                </a:solidFill>
                <a:latin typeface="Calibri"/>
              </a:rPr>
              <a:t>La empresa intermediaria que nos da </a:t>
            </a:r>
            <a:r>
              <a:rPr sz="2000" b="1" i="0">
                <a:solidFill>
                  <a:srgbClr val="D4AF37"/>
                </a:solidFill>
                <a:latin typeface="Calibri"/>
              </a:rPr>
              <a:t>acceso al mercado</a:t>
            </a:r>
            <a:r>
              <a:rPr sz="2000" b="0" i="0">
                <a:solidFill>
                  <a:srgbClr val="F4F6F9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832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3703320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Tu acceso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434840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Abrir cuenta, depositar, retirar y enviar ordenes.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3832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54296" y="3703320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4296" y="38404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Como gana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4296" y="4434840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Por spread y comisiones; por volumen, no por tu resultado.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33832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8472" y="3703320"/>
            <a:ext cx="50292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8472" y="38404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4F6F9"/>
                </a:solidFill>
                <a:latin typeface="Calibri"/>
              </a:rPr>
              <a:t>Ejemplos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2" y="4434840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909FB0"/>
                </a:solidFill>
                <a:latin typeface="Calibri"/>
              </a:rPr>
              <a:t>Deriv (sinteticos) · Exness, IC Markets (Forex).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8" y="1018642"/>
            <a:ext cx="329184" cy="19751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779069" y="870509"/>
            <a:ext cx="362102" cy="164592"/>
          </a:xfrm>
          <a:custGeom>
            <a:avLst/>
            <a:gdLst/>
            <a:ahLst/>
            <a:cxnLst/>
            <a:rect l="l" t="t" r="r" b="b"/>
            <a:pathLst>
              <a:path w="362102" h="164592">
                <a:moveTo>
                  <a:pt x="181051" y="0"/>
                </a:moveTo>
                <a:lnTo>
                  <a:pt x="362102" y="164592"/>
                </a:lnTo>
                <a:lnTo>
                  <a:pt x="0" y="164592"/>
                </a:lnTo>
                <a:close/>
              </a:path>
            </a:pathLst>
          </a:cu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7949" y="1068019"/>
            <a:ext cx="39502" cy="148132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2789" y="1068019"/>
            <a:ext cx="39502" cy="148132"/>
          </a:xfrm>
          <a:prstGeom prst="rect">
            <a:avLst/>
          </a:prstGeom>
          <a:solidFill>
            <a:srgbClr val="1B3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03 ·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MetaTrader 5 (MT5)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6565392"/>
            <a:ext cx="8925375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18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1874519"/>
            <a:ext cx="10835640" cy="1188720"/>
          </a:xfrm>
          <a:prstGeom prst="roundRect">
            <a:avLst>
              <a:gd name="adj" fmla="val 6000"/>
            </a:avLst>
          </a:prstGeom>
          <a:solidFill>
            <a:srgbClr val="1B324B"/>
          </a:solidFill>
          <a:ln w="15240">
            <a:solidFill>
              <a:srgbClr val="D4AF37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1874519"/>
            <a:ext cx="100584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F4F6F9"/>
                </a:solidFill>
                <a:latin typeface="Calibri"/>
              </a:rPr>
              <a:t>Nuestra </a:t>
            </a:r>
            <a:r>
              <a:rPr sz="2200" b="1" i="0">
                <a:solidFill>
                  <a:srgbClr val="D4AF37"/>
                </a:solidFill>
                <a:latin typeface="Calibri"/>
              </a:rPr>
              <a:t>casa de trabajo</a:t>
            </a:r>
            <a:r>
              <a:rPr sz="2200" b="0" i="0">
                <a:solidFill>
                  <a:srgbClr val="F4F6F9"/>
                </a:solidFill>
                <a:latin typeface="Calibri"/>
              </a:rPr>
              <a:t>: analizamos, planificamos y ejecutamos.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747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" y="3749040"/>
            <a:ext cx="50800" cy="3657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4747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4F6F9"/>
                </a:solidFill>
                <a:latin typeface="Calibri"/>
              </a:rPr>
              <a:t>Ver graficos e indicadores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34747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3749040"/>
            <a:ext cx="50800" cy="3657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2" y="34747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4F6F9"/>
                </a:solidFill>
                <a:latin typeface="Calibri"/>
              </a:rPr>
              <a:t>Trazar lineas y zonas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7200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" y="4846320"/>
            <a:ext cx="50800" cy="3657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5720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4F6F9"/>
                </a:solidFill>
                <a:latin typeface="Calibri"/>
              </a:rPr>
              <a:t>Colocar Buy, Sell, SL y TP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457200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73952" y="4846320"/>
            <a:ext cx="50800" cy="3657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2552" y="45720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4F6F9"/>
                </a:solidFill>
                <a:latin typeface="Calibri"/>
              </a:rPr>
              <a:t>Gestionar e historial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675120" y="18288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49440" y="276606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0" y="342900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0" y="4091940"/>
            <a:ext cx="43891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2580436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4277563"/>
            <a:ext cx="43891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26319" y="3951156"/>
            <a:ext cx="12000" cy="33762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55510" y="4068448"/>
            <a:ext cx="153619" cy="10304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2079" y="3647974"/>
            <a:ext cx="12000" cy="59499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21270" y="3822499"/>
            <a:ext cx="153619" cy="24594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57839" y="3656031"/>
            <a:ext cx="12000" cy="29696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87030" y="3786525"/>
            <a:ext cx="153619" cy="3597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3599" y="3367715"/>
            <a:ext cx="12000" cy="69025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2790" y="3639164"/>
            <a:ext cx="153619" cy="14736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89359" y="3411152"/>
            <a:ext cx="12000" cy="636606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18550" y="3639164"/>
            <a:ext cx="153619" cy="18058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5119" y="3605190"/>
            <a:ext cx="12000" cy="456277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84310" y="3819746"/>
            <a:ext cx="153619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0879" y="3469337"/>
            <a:ext cx="12000" cy="49015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50070" y="3581919"/>
            <a:ext cx="153619" cy="26499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6639" y="2976958"/>
            <a:ext cx="12000" cy="879987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15830" y="3251984"/>
            <a:ext cx="153619" cy="32993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2399" y="2967201"/>
            <a:ext cx="12000" cy="60190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81590" y="3251984"/>
            <a:ext cx="153619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418159" y="2732008"/>
            <a:ext cx="12000" cy="77647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47350" y="2956169"/>
            <a:ext cx="153619" cy="328151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3919" y="2630832"/>
            <a:ext cx="12000" cy="56700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13110" y="2872499"/>
            <a:ext cx="153619" cy="8367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49679" y="2410631"/>
            <a:ext cx="12000" cy="75344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78870" y="2702205"/>
            <a:ext cx="153619" cy="17029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7132319" y="2872499"/>
            <a:ext cx="4023360" cy="1298993"/>
          </a:xfrm>
          <a:custGeom>
            <a:avLst/>
            <a:gdLst/>
            <a:ahLst/>
            <a:cxnLst/>
            <a:rect l="l" t="t" r="r" b="b"/>
            <a:pathLst>
              <a:path w="4023360" h="1298993">
                <a:moveTo>
                  <a:pt x="0" y="1298993"/>
                </a:moveTo>
                <a:lnTo>
                  <a:pt x="2194560" y="974412"/>
                </a:lnTo>
                <a:lnTo>
                  <a:pt x="4023360" y="0"/>
                </a:lnTo>
              </a:path>
            </a:pathLst>
          </a:custGeom>
          <a:noFill/>
          <a:ln w="25400">
            <a:solidFill>
              <a:srgbClr val="EAD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9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1920240"/>
            <a:ext cx="5943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0" b="1" i="0">
                <a:solidFill>
                  <a:srgbClr val="2A4460"/>
                </a:solidFill>
                <a:latin typeface="Calibri"/>
              </a:rPr>
              <a:t>04</a:t>
            </a:r>
          </a:p>
        </p:txBody>
      </p:sp>
      <p:sp>
        <p:nvSpPr>
          <p:cNvPr id="37" name="Oval 36"/>
          <p:cNvSpPr/>
          <p:nvPr/>
        </p:nvSpPr>
        <p:spPr>
          <a:xfrm>
            <a:off x="731520" y="3246120"/>
            <a:ext cx="822960" cy="822960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70179" y="3431286"/>
            <a:ext cx="345643" cy="345643"/>
          </a:xfrm>
          <a:prstGeom prst="ellipse">
            <a:avLst/>
          </a:prstGeom>
          <a:noFill/>
          <a:ln w="2032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8934" y="3772814"/>
            <a:ext cx="148132" cy="90525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83080" y="33101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4AF37"/>
                </a:solidFill>
                <a:latin typeface="Calibri"/>
              </a:rPr>
              <a:t>PARTE 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361188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4F6F9"/>
                </a:solidFill>
                <a:latin typeface="Calibri"/>
              </a:rPr>
              <a:t>La Mente del Trader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70916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909FB0"/>
                </a:solidFill>
                <a:latin typeface="Calibri"/>
              </a:rPr>
              <a:t>Donde se gana o se pierde de verdad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6565392"/>
            <a:ext cx="9421229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19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1863" y="870509"/>
            <a:ext cx="276514" cy="276514"/>
          </a:xfrm>
          <a:prstGeom prst="ellipse">
            <a:avLst/>
          </a:prstGeom>
          <a:noFill/>
          <a:ln w="2032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00867" y="1143731"/>
            <a:ext cx="118506" cy="724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PARTE 04 · MENTALIDAD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La mente del trader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6565392"/>
            <a:ext cx="9917083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20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74519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 i="0">
                <a:solidFill>
                  <a:srgbClr val="F4F6F9"/>
                </a:solidFill>
                <a:latin typeface="Calibri"/>
              </a:rPr>
              <a:t>La mayoria pierde por </a:t>
            </a:r>
            <a:r>
              <a:rPr sz="2000" b="1" i="0">
                <a:solidFill>
                  <a:srgbClr val="D4AF37"/>
                </a:solidFill>
                <a:latin typeface="Calibri"/>
              </a:rPr>
              <a:t>emociones mal manejadas</a:t>
            </a:r>
            <a:r>
              <a:rPr sz="2000" b="0" i="0">
                <a:solidFill>
                  <a:srgbClr val="F4F6F9"/>
                </a:solidFill>
                <a:latin typeface="Calibri"/>
              </a:rPr>
              <a:t>, no por falta de conocimiento.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00400"/>
            <a:ext cx="2615184" cy="237744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5240">
            <a:solidFill>
              <a:srgbClr val="E0555E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20440"/>
            <a:ext cx="26151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E0555E"/>
                </a:solidFill>
                <a:latin typeface="Calibri"/>
              </a:rPr>
              <a:t>Miedo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21579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F4F6F9"/>
                </a:solidFill>
                <a:latin typeface="Calibri"/>
              </a:rPr>
              <a:t>Cierra ganancias muy pronto.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3200400"/>
            <a:ext cx="2615184" cy="237744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5240">
            <a:solidFill>
              <a:srgbClr val="E0555E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3520440"/>
            <a:ext cx="26151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E0555E"/>
                </a:solidFill>
                <a:latin typeface="Calibri"/>
              </a:rPr>
              <a:t>Ansiedad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8456" y="4297680"/>
            <a:ext cx="21579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F4F6F9"/>
                </a:solidFill>
                <a:latin typeface="Calibri"/>
              </a:rPr>
              <a:t>Operar de mas (overtrading).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3200400"/>
            <a:ext cx="2615184" cy="237744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5240">
            <a:solidFill>
              <a:srgbClr val="E0555E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3520440"/>
            <a:ext cx="26151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E0555E"/>
                </a:solidFill>
                <a:latin typeface="Calibri"/>
              </a:rPr>
              <a:t>Euforia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297680"/>
            <a:ext cx="21579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F4F6F9"/>
                </a:solidFill>
                <a:latin typeface="Calibri"/>
              </a:rPr>
              <a:t>Arriesgar de mas tras ganar.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3200400"/>
            <a:ext cx="2615184" cy="237744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5240">
            <a:solidFill>
              <a:srgbClr val="E0555E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87968" y="3520440"/>
            <a:ext cx="2615184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E0555E"/>
                </a:solidFill>
                <a:latin typeface="Calibri"/>
              </a:rPr>
              <a:t>Revenge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4297680"/>
            <a:ext cx="2157984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0" i="0">
                <a:solidFill>
                  <a:srgbClr val="F4F6F9"/>
                </a:solidFill>
                <a:latin typeface="Calibri"/>
              </a:rPr>
              <a:t>Recuperar a lo loco.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30936" y="722376"/>
            <a:ext cx="658368" cy="658368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11988" y="919887"/>
            <a:ext cx="312724" cy="256762"/>
          </a:xfrm>
          <a:custGeom>
            <a:avLst/>
            <a:gdLst/>
            <a:ahLst/>
            <a:cxnLst/>
            <a:rect l="l" t="t" r="r" b="b"/>
            <a:pathLst>
              <a:path w="312724" h="256762">
                <a:moveTo>
                  <a:pt x="0" y="138256"/>
                </a:moveTo>
                <a:lnTo>
                  <a:pt x="115214" y="256762"/>
                </a:lnTo>
                <a:lnTo>
                  <a:pt x="312724" y="0"/>
                </a:lnTo>
              </a:path>
            </a:pathLst>
          </a:custGeom>
          <a:noFill/>
          <a:ln w="381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5486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4AF37"/>
                </a:solidFill>
                <a:latin typeface="Calibri"/>
              </a:rPr>
              <a:t>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841248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6F9"/>
                </a:solidFill>
                <a:latin typeface="Calibri"/>
              </a:rPr>
              <a:t>Resumen del dia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6040" y="1481328"/>
            <a:ext cx="1280160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6565392"/>
            <a:ext cx="10908792" cy="28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6565392"/>
            <a:ext cx="10412937" cy="2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C6B7A"/>
                </a:solidFill>
                <a:latin typeface="Calibri"/>
              </a:rPr>
              <a:t>Curso de Trading  ·  Indices Sinteticos &amp; Forex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327648"/>
            <a:ext cx="960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 i="0">
                <a:solidFill>
                  <a:srgbClr val="D4AF37"/>
                </a:solidFill>
                <a:latin typeface="Calibri"/>
              </a:rPr>
              <a:t>21</a:t>
            </a:r>
            <a:r>
              <a:rPr sz="1000" b="0" i="0">
                <a:solidFill>
                  <a:srgbClr val="5C6B7A"/>
                </a:solidFill>
                <a:latin typeface="Calibri"/>
              </a:rPr>
              <a:t> / 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920240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075688"/>
            <a:ext cx="438912" cy="438912"/>
          </a:xfrm>
          <a:prstGeom prst="ellipse">
            <a:avLst/>
          </a:prstGeom>
          <a:solidFill>
            <a:srgbClr val="1B324B"/>
          </a:solidFill>
          <a:ln w="1905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1044245" y="2207362"/>
            <a:ext cx="208483" cy="171175"/>
          </a:xfrm>
          <a:custGeom>
            <a:avLst/>
            <a:gdLst/>
            <a:ahLst/>
            <a:cxnLst/>
            <a:rect l="l" t="t" r="r" b="b"/>
            <a:pathLst>
              <a:path w="208483" h="171175">
                <a:moveTo>
                  <a:pt x="0" y="92171"/>
                </a:moveTo>
                <a:lnTo>
                  <a:pt x="76810" y="171175"/>
                </a:lnTo>
                <a:lnTo>
                  <a:pt x="208483" y="0"/>
                </a:lnTo>
              </a:path>
            </a:pathLst>
          </a:custGeom>
          <a:noFill/>
          <a:ln w="3810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91640" y="1920240"/>
            <a:ext cx="9509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4F6F9"/>
                </a:solidFill>
                <a:latin typeface="Calibri"/>
              </a:rPr>
              <a:t>Que es el trading y como se gana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61488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3544" y="2916936"/>
            <a:ext cx="438912" cy="438912"/>
          </a:xfrm>
          <a:prstGeom prst="ellipse">
            <a:avLst/>
          </a:prstGeom>
          <a:solidFill>
            <a:srgbClr val="1B324B"/>
          </a:solidFill>
          <a:ln w="1905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44245" y="3048610"/>
            <a:ext cx="208483" cy="171175"/>
          </a:xfrm>
          <a:custGeom>
            <a:avLst/>
            <a:gdLst/>
            <a:ahLst/>
            <a:cxnLst/>
            <a:rect l="l" t="t" r="r" b="b"/>
            <a:pathLst>
              <a:path w="208483" h="171175">
                <a:moveTo>
                  <a:pt x="0" y="92171"/>
                </a:moveTo>
                <a:lnTo>
                  <a:pt x="76810" y="171175"/>
                </a:lnTo>
                <a:lnTo>
                  <a:pt x="208483" y="0"/>
                </a:lnTo>
              </a:path>
            </a:pathLst>
          </a:custGeom>
          <a:noFill/>
          <a:ln w="3810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2761488"/>
            <a:ext cx="9509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4F6F9"/>
                </a:solidFill>
                <a:latin typeface="Calibri"/>
              </a:rPr>
              <a:t>Los dos mercados: sinteticos y Forex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02736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3544" y="3758184"/>
            <a:ext cx="438912" cy="438912"/>
          </a:xfrm>
          <a:prstGeom prst="ellipse">
            <a:avLst/>
          </a:prstGeom>
          <a:solidFill>
            <a:srgbClr val="1B324B"/>
          </a:solidFill>
          <a:ln w="1905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044245" y="3889858"/>
            <a:ext cx="208483" cy="171175"/>
          </a:xfrm>
          <a:custGeom>
            <a:avLst/>
            <a:gdLst/>
            <a:ahLst/>
            <a:cxnLst/>
            <a:rect l="l" t="t" r="r" b="b"/>
            <a:pathLst>
              <a:path w="208483" h="171175">
                <a:moveTo>
                  <a:pt x="0" y="92171"/>
                </a:moveTo>
                <a:lnTo>
                  <a:pt x="76810" y="171175"/>
                </a:lnTo>
                <a:lnTo>
                  <a:pt x="208483" y="0"/>
                </a:lnTo>
              </a:path>
            </a:pathLst>
          </a:custGeom>
          <a:noFill/>
          <a:ln w="3810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91640" y="3602736"/>
            <a:ext cx="9509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4F6F9"/>
                </a:solidFill>
                <a:latin typeface="Calibri"/>
              </a:rPr>
              <a:t>Que mueve cada mercado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43984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4599432"/>
            <a:ext cx="438912" cy="438912"/>
          </a:xfrm>
          <a:prstGeom prst="ellipse">
            <a:avLst/>
          </a:prstGeom>
          <a:solidFill>
            <a:srgbClr val="1B324B"/>
          </a:solidFill>
          <a:ln w="1905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044245" y="4731106"/>
            <a:ext cx="208483" cy="171175"/>
          </a:xfrm>
          <a:custGeom>
            <a:avLst/>
            <a:gdLst/>
            <a:ahLst/>
            <a:cxnLst/>
            <a:rect l="l" t="t" r="r" b="b"/>
            <a:pathLst>
              <a:path w="208483" h="171175">
                <a:moveTo>
                  <a:pt x="0" y="92171"/>
                </a:moveTo>
                <a:lnTo>
                  <a:pt x="76810" y="171175"/>
                </a:lnTo>
                <a:lnTo>
                  <a:pt x="208483" y="0"/>
                </a:lnTo>
              </a:path>
            </a:pathLst>
          </a:custGeom>
          <a:noFill/>
          <a:ln w="3810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91640" y="4443984"/>
            <a:ext cx="9509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4F6F9"/>
                </a:solidFill>
                <a:latin typeface="Calibri"/>
              </a:rPr>
              <a:t>El broker y la plataforma MT5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85232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3544" y="5440680"/>
            <a:ext cx="438912" cy="438912"/>
          </a:xfrm>
          <a:prstGeom prst="ellipse">
            <a:avLst/>
          </a:prstGeom>
          <a:solidFill>
            <a:srgbClr val="1B324B"/>
          </a:solidFill>
          <a:ln w="1905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044245" y="5572354"/>
            <a:ext cx="208483" cy="171175"/>
          </a:xfrm>
          <a:custGeom>
            <a:avLst/>
            <a:gdLst/>
            <a:ahLst/>
            <a:cxnLst/>
            <a:rect l="l" t="t" r="r" b="b"/>
            <a:pathLst>
              <a:path w="208483" h="171175">
                <a:moveTo>
                  <a:pt x="0" y="92171"/>
                </a:moveTo>
                <a:lnTo>
                  <a:pt x="76810" y="171175"/>
                </a:lnTo>
                <a:lnTo>
                  <a:pt x="208483" y="0"/>
                </a:lnTo>
              </a:path>
            </a:pathLst>
          </a:custGeom>
          <a:noFill/>
          <a:ln w="38100">
            <a:solidFill>
              <a:srgbClr val="24C2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91640" y="5285232"/>
            <a:ext cx="9509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F4F6F9"/>
                </a:solidFill>
                <a:latin typeface="Calibri"/>
              </a:rPr>
              <a:t>Primera mirada a la psicologia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02439"/>
              </a:gs>
              <a:gs pos="100000">
                <a:srgbClr val="09121C"/>
              </a:gs>
            </a:gsLst>
            <a:lin scaled="0" ang="15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45720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15283D"/>
          </a:solidFill>
          <a:ln w="12700">
            <a:solidFill>
              <a:srgbClr val="2A4460"/>
            </a:solidFill>
          </a:ln>
          <a:effectLst>
            <a:outerShdw blurRad="114300" dist="50800" dir="5400000" rotWithShape="0">
              <a:srgbClr val="000000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5166360"/>
            <a:ext cx="103327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5486400"/>
            <a:ext cx="103327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5806440"/>
            <a:ext cx="10332720" cy="9000"/>
          </a:xfrm>
          <a:prstGeom prst="rect">
            <a:avLst/>
          </a:prstGeom>
          <a:solidFill>
            <a:srgbClr val="2A4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5076748"/>
            <a:ext cx="103327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5896051"/>
            <a:ext cx="10332720" cy="11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95420" y="5600112"/>
            <a:ext cx="12000" cy="34487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80872" y="5700254"/>
            <a:ext cx="241096" cy="14459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69460" y="5568380"/>
            <a:ext cx="12000" cy="28858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54912" y="5700254"/>
            <a:ext cx="241096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43500" y="5610826"/>
            <a:ext cx="12000" cy="253386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28952" y="5725090"/>
            <a:ext cx="241096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17540" y="5616748"/>
            <a:ext cx="12000" cy="305641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2992" y="5749948"/>
            <a:ext cx="241096" cy="39241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91580" y="5602806"/>
            <a:ext cx="12000" cy="29898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7032" y="5715409"/>
            <a:ext cx="241096" cy="7378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65620" y="5586143"/>
            <a:ext cx="12000" cy="325315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51072" y="5715409"/>
            <a:ext cx="241096" cy="66783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9660" y="5603090"/>
            <a:ext cx="12000" cy="30114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5112" y="5725136"/>
            <a:ext cx="241096" cy="5705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13700" y="5622600"/>
            <a:ext cx="12000" cy="262288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99152" y="5725136"/>
            <a:ext cx="241096" cy="57216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87740" y="5693034"/>
            <a:ext cx="12000" cy="174785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73192" y="5778501"/>
            <a:ext cx="241096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61780" y="5658058"/>
            <a:ext cx="12000" cy="22621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7232" y="5763825"/>
            <a:ext cx="241096" cy="3500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35820" y="5511995"/>
            <a:ext cx="12000" cy="360334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21272" y="5620499"/>
            <a:ext cx="241096" cy="14332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09860" y="5490454"/>
            <a:ext cx="12000" cy="35055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95312" y="5620499"/>
            <a:ext cx="241096" cy="9046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83900" y="5624947"/>
            <a:ext cx="12000" cy="194612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69352" y="5710961"/>
            <a:ext cx="241096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57940" y="5630279"/>
            <a:ext cx="12000" cy="230864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43392" y="5733545"/>
            <a:ext cx="241096" cy="35000"/>
          </a:xfrm>
          <a:prstGeom prst="rect">
            <a:avLst/>
          </a:prstGeom>
          <a:solidFill>
            <a:srgbClr val="E05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31980" y="5580472"/>
            <a:ext cx="12000" cy="303738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17432" y="5706805"/>
            <a:ext cx="241096" cy="5107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06020" y="5445962"/>
            <a:ext cx="12000" cy="379276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91472" y="5564395"/>
            <a:ext cx="241096" cy="14241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80060" y="5303074"/>
            <a:ext cx="12000" cy="366409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65512" y="5408162"/>
            <a:ext cx="241096" cy="156233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954100" y="5295606"/>
            <a:ext cx="12000" cy="184392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39552" y="5367442"/>
            <a:ext cx="241096" cy="40720"/>
          </a:xfrm>
          <a:prstGeom prst="rect">
            <a:avLst/>
          </a:prstGeom>
          <a:solidFill>
            <a:srgbClr val="24C2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201420" y="5408162"/>
            <a:ext cx="9758680" cy="436682"/>
          </a:xfrm>
          <a:custGeom>
            <a:avLst/>
            <a:gdLst/>
            <a:ahLst/>
            <a:cxnLst/>
            <a:rect l="l" t="t" r="r" b="b"/>
            <a:pathLst>
              <a:path w="9758680" h="436682">
                <a:moveTo>
                  <a:pt x="0" y="436682"/>
                </a:moveTo>
                <a:lnTo>
                  <a:pt x="5166360" y="370339"/>
                </a:lnTo>
                <a:lnTo>
                  <a:pt x="9758680" y="0"/>
                </a:lnTo>
              </a:path>
            </a:pathLst>
          </a:custGeom>
          <a:noFill/>
          <a:ln w="25400">
            <a:solidFill>
              <a:srgbClr val="EAD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12191695" cy="4206240"/>
          </a:xfrm>
          <a:prstGeom prst="rect">
            <a:avLst/>
          </a:prstGeom>
          <a:solidFill>
            <a:srgbClr val="09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1792" y="1033272"/>
            <a:ext cx="768096" cy="768096"/>
          </a:xfrm>
          <a:prstGeom prst="ellipse">
            <a:avLst/>
          </a:prstGeom>
          <a:solidFill>
            <a:srgbClr val="1B324B"/>
          </a:solidFill>
          <a:ln w="1905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2945" y="1225296"/>
            <a:ext cx="26883" cy="38404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909828" y="1225296"/>
            <a:ext cx="230428" cy="172821"/>
          </a:xfrm>
          <a:custGeom>
            <a:avLst/>
            <a:gdLst/>
            <a:ahLst/>
            <a:cxnLst/>
            <a:rect l="l" t="t" r="r" b="b"/>
            <a:pathLst>
              <a:path w="230428" h="172821">
                <a:moveTo>
                  <a:pt x="0" y="0"/>
                </a:moveTo>
                <a:lnTo>
                  <a:pt x="230428" y="86410"/>
                </a:lnTo>
                <a:lnTo>
                  <a:pt x="0" y="172821"/>
                </a:lnTo>
                <a:close/>
              </a:path>
            </a:pathLst>
          </a:cu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00200" y="9144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4AF37"/>
                </a:solidFill>
                <a:latin typeface="Calibri"/>
              </a:rPr>
              <a:t>CLASE 1 · CIERRE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00200" y="1234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4F6F9"/>
                </a:solidFill>
                <a:latin typeface="Calibri"/>
              </a:rPr>
              <a:t>Tarea para la proxima clase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" y="2560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1.  </a:t>
            </a:r>
            <a:r>
              <a:rPr sz="2000" b="0" i="0">
                <a:solidFill>
                  <a:srgbClr val="F4F6F9"/>
                </a:solidFill>
                <a:latin typeface="Calibri"/>
              </a:rPr>
              <a:t>Repasar todo lo visto hoy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2.  </a:t>
            </a:r>
            <a:r>
              <a:rPr sz="2000" b="0" i="0">
                <a:solidFill>
                  <a:srgbClr val="F4F6F9"/>
                </a:solidFill>
                <a:latin typeface="Calibri"/>
              </a:rPr>
              <a:t>Escuchar el audiolibro asignado (definir titulo)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3840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D4AF37"/>
                </a:solidFill>
                <a:latin typeface="Calibri"/>
              </a:rPr>
              <a:t>3.  </a:t>
            </a:r>
            <a:r>
              <a:rPr sz="2000" b="0" i="0">
                <a:solidFill>
                  <a:srgbClr val="F4F6F9"/>
                </a:solidFill>
                <a:latin typeface="Calibri"/>
              </a:rPr>
              <a:t>Prepararse: manana leemos el grafico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1">
                <a:solidFill>
                  <a:srgbClr val="EAD48B"/>
                </a:solidFill>
                <a:latin typeface="Calibri"/>
              </a:rPr>
              <a:t>"Manana aprenderemos a leer el lenguaje del precio."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